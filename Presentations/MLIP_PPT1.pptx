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heme/themeOverride1.xml" ContentType="application/vnd.openxmlformats-officedocument.themeOverr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375" r:id="rId3"/>
    <p:sldId id="298" r:id="rId4"/>
    <p:sldId id="379" r:id="rId5"/>
    <p:sldId id="359" r:id="rId6"/>
    <p:sldId id="415" r:id="rId7"/>
    <p:sldId id="389" r:id="rId8"/>
    <p:sldId id="395" r:id="rId9"/>
    <p:sldId id="387" r:id="rId10"/>
    <p:sldId id="362" r:id="rId11"/>
    <p:sldId id="386" r:id="rId12"/>
    <p:sldId id="388" r:id="rId13"/>
    <p:sldId id="394" r:id="rId14"/>
    <p:sldId id="391" r:id="rId15"/>
    <p:sldId id="392" r:id="rId16"/>
    <p:sldId id="393" r:id="rId17"/>
    <p:sldId id="378" r:id="rId18"/>
    <p:sldId id="390" r:id="rId19"/>
    <p:sldId id="405" r:id="rId20"/>
    <p:sldId id="412" r:id="rId21"/>
    <p:sldId id="364" r:id="rId22"/>
    <p:sldId id="350" r:id="rId23"/>
    <p:sldId id="345" r:id="rId24"/>
    <p:sldId id="349" r:id="rId25"/>
    <p:sldId id="344" r:id="rId26"/>
    <p:sldId id="380" r:id="rId27"/>
    <p:sldId id="346" r:id="rId28"/>
    <p:sldId id="347" r:id="rId29"/>
    <p:sldId id="417" r:id="rId30"/>
    <p:sldId id="348" r:id="rId31"/>
    <p:sldId id="366" r:id="rId32"/>
    <p:sldId id="336" r:id="rId33"/>
    <p:sldId id="376" r:id="rId34"/>
    <p:sldId id="406" r:id="rId35"/>
    <p:sldId id="353" r:id="rId36"/>
    <p:sldId id="355" r:id="rId37"/>
    <p:sldId id="356" r:id="rId38"/>
    <p:sldId id="329" r:id="rId39"/>
    <p:sldId id="352" r:id="rId40"/>
    <p:sldId id="340" r:id="rId41"/>
    <p:sldId id="341" r:id="rId42"/>
    <p:sldId id="351" r:id="rId43"/>
    <p:sldId id="335" r:id="rId44"/>
    <p:sldId id="397" r:id="rId45"/>
    <p:sldId id="398" r:id="rId46"/>
    <p:sldId id="399" r:id="rId47"/>
    <p:sldId id="400" r:id="rId48"/>
    <p:sldId id="401" r:id="rId49"/>
    <p:sldId id="402" r:id="rId50"/>
  </p:sldIdLst>
  <p:sldSz cx="12192000" cy="6858000"/>
  <p:notesSz cx="7104063"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8033"/>
    <a:srgbClr val="909090"/>
    <a:srgbClr val="A675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2F3F43-26FB-9740-6261-6164C878F2ED}" v="18" dt="2026-10-27T06:27:58.1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86DF57-5BF5-4717-8B14-F1868162BFB3}" type="doc">
      <dgm:prSet loTypeId="urn:microsoft.com/office/officeart/2005/8/layout/process1" loCatId="process" qsTypeId="urn:microsoft.com/office/officeart/2005/8/quickstyle/simple1#1" qsCatId="simple" csTypeId="urn:microsoft.com/office/officeart/2005/8/colors/accent1_2#1" csCatId="accent1" phldr="1"/>
      <dgm:spPr/>
    </dgm:pt>
    <dgm:pt modelId="{104213EF-4B9A-4897-A0D6-6023AF318325}">
      <dgm:prSet phldrT="[Text]" phldr="0"/>
      <dgm:spPr/>
      <dgm:t>
        <a:bodyPr/>
        <a:lstStyle/>
        <a:p>
          <a:pPr rtl="0"/>
          <a:r>
            <a:rPr lang="en-US">
              <a:latin typeface="Times New Roman"/>
              <a:cs typeface="Times New Roman"/>
            </a:rPr>
            <a:t>Training Dataset (AIMD)</a:t>
          </a:r>
        </a:p>
      </dgm:t>
    </dgm:pt>
    <dgm:pt modelId="{7730CB11-85DC-44C6-9C42-071C8074B014}" type="parTrans" cxnId="{2945DC41-9747-461E-81AB-BD1E8CDEE70D}">
      <dgm:prSet/>
      <dgm:spPr/>
      <dgm:t>
        <a:bodyPr/>
        <a:lstStyle/>
        <a:p>
          <a:endParaRPr lang="en-IN"/>
        </a:p>
      </dgm:t>
    </dgm:pt>
    <dgm:pt modelId="{71C99214-0AAE-481E-A38B-E9A5609950A1}" type="sibTrans" cxnId="{2945DC41-9747-461E-81AB-BD1E8CDEE70D}">
      <dgm:prSet/>
      <dgm:spPr/>
      <dgm:t>
        <a:bodyPr/>
        <a:lstStyle/>
        <a:p>
          <a:endParaRPr lang="en-US"/>
        </a:p>
      </dgm:t>
    </dgm:pt>
    <dgm:pt modelId="{26DE8B6C-78C4-4F0C-BACE-7EC7D90F19F5}">
      <dgm:prSet phldrT="[Text]" phldr="0"/>
      <dgm:spPr/>
      <dgm:t>
        <a:bodyPr/>
        <a:lstStyle/>
        <a:p>
          <a:pPr rtl="0"/>
          <a:r>
            <a:rPr lang="en-US">
              <a:latin typeface="Times New Roman"/>
              <a:cs typeface="Times New Roman"/>
            </a:rPr>
            <a:t>Physical Parameters (PBP)</a:t>
          </a:r>
        </a:p>
      </dgm:t>
    </dgm:pt>
    <dgm:pt modelId="{21F6C02B-3918-439C-AC29-4CFCAD7BB229}" type="parTrans" cxnId="{60A5BC96-76C3-4D15-BAC1-A1EF50E32004}">
      <dgm:prSet/>
      <dgm:spPr/>
      <dgm:t>
        <a:bodyPr/>
        <a:lstStyle/>
        <a:p>
          <a:endParaRPr lang="en-IN"/>
        </a:p>
      </dgm:t>
    </dgm:pt>
    <dgm:pt modelId="{F1663752-062F-4921-9EBA-43F449152020}" type="sibTrans" cxnId="{60A5BC96-76C3-4D15-BAC1-A1EF50E32004}">
      <dgm:prSet/>
      <dgm:spPr/>
      <dgm:t>
        <a:bodyPr/>
        <a:lstStyle/>
        <a:p>
          <a:endParaRPr lang="en-US"/>
        </a:p>
      </dgm:t>
    </dgm:pt>
    <dgm:pt modelId="{8E9F0243-286E-4FE5-88AB-28B1143333E3}">
      <dgm:prSet phldrT="[Text]" phldr="0"/>
      <dgm:spPr/>
      <dgm:t>
        <a:bodyPr/>
        <a:lstStyle/>
        <a:p>
          <a:pPr rtl="0"/>
          <a:r>
            <a:rPr lang="en-US">
              <a:latin typeface="Times New Roman"/>
              <a:cs typeface="Times New Roman"/>
            </a:rPr>
            <a:t>Machine Learned Interatomic Potential</a:t>
          </a:r>
        </a:p>
      </dgm:t>
    </dgm:pt>
    <dgm:pt modelId="{3A25818B-2907-48AA-9AEE-9BC542D8C978}" type="parTrans" cxnId="{AE7745AB-84EF-440F-81AF-85F20041A8C1}">
      <dgm:prSet/>
      <dgm:spPr/>
      <dgm:t>
        <a:bodyPr/>
        <a:lstStyle/>
        <a:p>
          <a:endParaRPr lang="en-IN"/>
        </a:p>
      </dgm:t>
    </dgm:pt>
    <dgm:pt modelId="{ECD62B91-E08A-4B6F-95C9-8AA290FDFEF6}" type="sibTrans" cxnId="{AE7745AB-84EF-440F-81AF-85F20041A8C1}">
      <dgm:prSet/>
      <dgm:spPr/>
      <dgm:t>
        <a:bodyPr/>
        <a:lstStyle/>
        <a:p>
          <a:endParaRPr lang="en-IN"/>
        </a:p>
      </dgm:t>
    </dgm:pt>
    <dgm:pt modelId="{13A9F2A5-3D02-4E8D-937F-F7F4A7D5D175}" type="pres">
      <dgm:prSet presAssocID="{5786DF57-5BF5-4717-8B14-F1868162BFB3}" presName="Name0" presStyleCnt="0">
        <dgm:presLayoutVars>
          <dgm:dir/>
          <dgm:resizeHandles val="exact"/>
        </dgm:presLayoutVars>
      </dgm:prSet>
      <dgm:spPr/>
    </dgm:pt>
    <dgm:pt modelId="{851D5CAA-C72D-482E-91CE-7F3C9CBAC98F}" type="pres">
      <dgm:prSet presAssocID="{104213EF-4B9A-4897-A0D6-6023AF318325}" presName="node" presStyleLbl="node1" presStyleIdx="0" presStyleCnt="3">
        <dgm:presLayoutVars>
          <dgm:bulletEnabled val="1"/>
        </dgm:presLayoutVars>
      </dgm:prSet>
      <dgm:spPr/>
    </dgm:pt>
    <dgm:pt modelId="{6BD32ED2-E11C-4CF4-BF0B-080A3625AC6E}" type="pres">
      <dgm:prSet presAssocID="{71C99214-0AAE-481E-A38B-E9A5609950A1}" presName="sibTrans" presStyleLbl="sibTrans2D1" presStyleIdx="0" presStyleCnt="2"/>
      <dgm:spPr/>
    </dgm:pt>
    <dgm:pt modelId="{47823316-A83E-44EA-973A-70BF6B3CAC43}" type="pres">
      <dgm:prSet presAssocID="{71C99214-0AAE-481E-A38B-E9A5609950A1}" presName="connectorText" presStyleLbl="sibTrans2D1" presStyleIdx="0" presStyleCnt="2"/>
      <dgm:spPr/>
    </dgm:pt>
    <dgm:pt modelId="{2252F905-CE33-47E8-8E6D-66D04D818321}" type="pres">
      <dgm:prSet presAssocID="{26DE8B6C-78C4-4F0C-BACE-7EC7D90F19F5}" presName="node" presStyleLbl="node1" presStyleIdx="1" presStyleCnt="3">
        <dgm:presLayoutVars>
          <dgm:bulletEnabled val="1"/>
        </dgm:presLayoutVars>
      </dgm:prSet>
      <dgm:spPr/>
    </dgm:pt>
    <dgm:pt modelId="{323AD9B7-01E3-455C-9BFA-F3DB03D506D3}" type="pres">
      <dgm:prSet presAssocID="{F1663752-062F-4921-9EBA-43F449152020}" presName="sibTrans" presStyleLbl="sibTrans2D1" presStyleIdx="1" presStyleCnt="2"/>
      <dgm:spPr/>
    </dgm:pt>
    <dgm:pt modelId="{806E9203-2819-46CA-B481-7C2CB9FD932B}" type="pres">
      <dgm:prSet presAssocID="{F1663752-062F-4921-9EBA-43F449152020}" presName="connectorText" presStyleLbl="sibTrans2D1" presStyleIdx="1" presStyleCnt="2"/>
      <dgm:spPr/>
    </dgm:pt>
    <dgm:pt modelId="{EA62BEBD-A399-4DB2-99AF-62400E8D5D59}" type="pres">
      <dgm:prSet presAssocID="{8E9F0243-286E-4FE5-88AB-28B1143333E3}" presName="node" presStyleLbl="node1" presStyleIdx="2" presStyleCnt="3">
        <dgm:presLayoutVars>
          <dgm:bulletEnabled val="1"/>
        </dgm:presLayoutVars>
      </dgm:prSet>
      <dgm:spPr/>
    </dgm:pt>
  </dgm:ptLst>
  <dgm:cxnLst>
    <dgm:cxn modelId="{C0CAB120-1BB7-47FC-8A2A-5D366D6685C3}" type="presOf" srcId="{8E9F0243-286E-4FE5-88AB-28B1143333E3}" destId="{EA62BEBD-A399-4DB2-99AF-62400E8D5D59}" srcOrd="0" destOrd="0" presId="urn:microsoft.com/office/officeart/2005/8/layout/process1"/>
    <dgm:cxn modelId="{64F91024-203B-440F-82F5-1EA57609193B}" type="presOf" srcId="{71C99214-0AAE-481E-A38B-E9A5609950A1}" destId="{6BD32ED2-E11C-4CF4-BF0B-080A3625AC6E}" srcOrd="0" destOrd="0" presId="urn:microsoft.com/office/officeart/2005/8/layout/process1"/>
    <dgm:cxn modelId="{0653275E-23EB-4130-A795-6697D0CCBDB4}" type="presOf" srcId="{26DE8B6C-78C4-4F0C-BACE-7EC7D90F19F5}" destId="{2252F905-CE33-47E8-8E6D-66D04D818321}" srcOrd="0" destOrd="0" presId="urn:microsoft.com/office/officeart/2005/8/layout/process1"/>
    <dgm:cxn modelId="{2945DC41-9747-461E-81AB-BD1E8CDEE70D}" srcId="{5786DF57-5BF5-4717-8B14-F1868162BFB3}" destId="{104213EF-4B9A-4897-A0D6-6023AF318325}" srcOrd="0" destOrd="0" parTransId="{7730CB11-85DC-44C6-9C42-071C8074B014}" sibTransId="{71C99214-0AAE-481E-A38B-E9A5609950A1}"/>
    <dgm:cxn modelId="{446AB664-2C8F-45B0-BE74-117ACBFEA810}" type="presOf" srcId="{F1663752-062F-4921-9EBA-43F449152020}" destId="{806E9203-2819-46CA-B481-7C2CB9FD932B}" srcOrd="1" destOrd="0" presId="urn:microsoft.com/office/officeart/2005/8/layout/process1"/>
    <dgm:cxn modelId="{77BE9F56-8073-4B66-81BB-C5127124C161}" type="presOf" srcId="{71C99214-0AAE-481E-A38B-E9A5609950A1}" destId="{47823316-A83E-44EA-973A-70BF6B3CAC43}" srcOrd="1" destOrd="0" presId="urn:microsoft.com/office/officeart/2005/8/layout/process1"/>
    <dgm:cxn modelId="{60A5BC96-76C3-4D15-BAC1-A1EF50E32004}" srcId="{5786DF57-5BF5-4717-8B14-F1868162BFB3}" destId="{26DE8B6C-78C4-4F0C-BACE-7EC7D90F19F5}" srcOrd="1" destOrd="0" parTransId="{21F6C02B-3918-439C-AC29-4CFCAD7BB229}" sibTransId="{F1663752-062F-4921-9EBA-43F449152020}"/>
    <dgm:cxn modelId="{AE7745AB-84EF-440F-81AF-85F20041A8C1}" srcId="{5786DF57-5BF5-4717-8B14-F1868162BFB3}" destId="{8E9F0243-286E-4FE5-88AB-28B1143333E3}" srcOrd="2" destOrd="0" parTransId="{3A25818B-2907-48AA-9AEE-9BC542D8C978}" sibTransId="{ECD62B91-E08A-4B6F-95C9-8AA290FDFEF6}"/>
    <dgm:cxn modelId="{1714FCE0-5EEA-413A-A519-C938AFDBCBA0}" type="presOf" srcId="{F1663752-062F-4921-9EBA-43F449152020}" destId="{323AD9B7-01E3-455C-9BFA-F3DB03D506D3}" srcOrd="0" destOrd="0" presId="urn:microsoft.com/office/officeart/2005/8/layout/process1"/>
    <dgm:cxn modelId="{217E2DFC-73AD-4DEF-9AAC-861D093E7F5A}" type="presOf" srcId="{5786DF57-5BF5-4717-8B14-F1868162BFB3}" destId="{13A9F2A5-3D02-4E8D-937F-F7F4A7D5D175}" srcOrd="0" destOrd="0" presId="urn:microsoft.com/office/officeart/2005/8/layout/process1"/>
    <dgm:cxn modelId="{015911FD-F4C7-403C-B132-AEBE4A6510B3}" type="presOf" srcId="{104213EF-4B9A-4897-A0D6-6023AF318325}" destId="{851D5CAA-C72D-482E-91CE-7F3C9CBAC98F}" srcOrd="0" destOrd="0" presId="urn:microsoft.com/office/officeart/2005/8/layout/process1"/>
    <dgm:cxn modelId="{AB2BEF6C-9530-4ECF-8B41-E6F7AC79BBB7}" type="presParOf" srcId="{13A9F2A5-3D02-4E8D-937F-F7F4A7D5D175}" destId="{851D5CAA-C72D-482E-91CE-7F3C9CBAC98F}" srcOrd="0" destOrd="0" presId="urn:microsoft.com/office/officeart/2005/8/layout/process1"/>
    <dgm:cxn modelId="{0132B36C-331F-4573-986C-4AB01C67B16E}" type="presParOf" srcId="{13A9F2A5-3D02-4E8D-937F-F7F4A7D5D175}" destId="{6BD32ED2-E11C-4CF4-BF0B-080A3625AC6E}" srcOrd="1" destOrd="0" presId="urn:microsoft.com/office/officeart/2005/8/layout/process1"/>
    <dgm:cxn modelId="{8026A969-16C5-451A-B4FF-4929D51CAA80}" type="presParOf" srcId="{6BD32ED2-E11C-4CF4-BF0B-080A3625AC6E}" destId="{47823316-A83E-44EA-973A-70BF6B3CAC43}" srcOrd="0" destOrd="0" presId="urn:microsoft.com/office/officeart/2005/8/layout/process1"/>
    <dgm:cxn modelId="{2EBC3068-A303-4118-84F2-F894835B7C68}" type="presParOf" srcId="{13A9F2A5-3D02-4E8D-937F-F7F4A7D5D175}" destId="{2252F905-CE33-47E8-8E6D-66D04D818321}" srcOrd="2" destOrd="0" presId="urn:microsoft.com/office/officeart/2005/8/layout/process1"/>
    <dgm:cxn modelId="{15987316-17B4-45A9-838D-873A269C6D3E}" type="presParOf" srcId="{13A9F2A5-3D02-4E8D-937F-F7F4A7D5D175}" destId="{323AD9B7-01E3-455C-9BFA-F3DB03D506D3}" srcOrd="3" destOrd="0" presId="urn:microsoft.com/office/officeart/2005/8/layout/process1"/>
    <dgm:cxn modelId="{1E90A2EF-E094-4E30-B174-24783B097CBD}" type="presParOf" srcId="{323AD9B7-01E3-455C-9BFA-F3DB03D506D3}" destId="{806E9203-2819-46CA-B481-7C2CB9FD932B}" srcOrd="0" destOrd="0" presId="urn:microsoft.com/office/officeart/2005/8/layout/process1"/>
    <dgm:cxn modelId="{A34B1266-1B49-439E-81A3-D047A6C2FBB4}" type="presParOf" srcId="{13A9F2A5-3D02-4E8D-937F-F7F4A7D5D175}" destId="{EA62BEBD-A399-4DB2-99AF-62400E8D5D59}" srcOrd="4"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1D5CAA-C72D-482E-91CE-7F3C9CBAC98F}">
      <dsp:nvSpPr>
        <dsp:cNvPr id="0" name=""/>
        <dsp:cNvSpPr/>
      </dsp:nvSpPr>
      <dsp:spPr>
        <a:xfrm>
          <a:off x="8539" y="1063135"/>
          <a:ext cx="2552216" cy="153132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rtl="0">
            <a:lnSpc>
              <a:spcPct val="90000"/>
            </a:lnSpc>
            <a:spcBef>
              <a:spcPct val="0"/>
            </a:spcBef>
            <a:spcAft>
              <a:spcPct val="35000"/>
            </a:spcAft>
            <a:buNone/>
          </a:pPr>
          <a:r>
            <a:rPr lang="en-US" sz="2500" kern="1200">
              <a:latin typeface="Times New Roman"/>
              <a:cs typeface="Times New Roman"/>
            </a:rPr>
            <a:t>Training Dataset (AIMD)</a:t>
          </a:r>
        </a:p>
      </dsp:txBody>
      <dsp:txXfrm>
        <a:off x="53390" y="1107986"/>
        <a:ext cx="2462514" cy="1441627"/>
      </dsp:txXfrm>
    </dsp:sp>
    <dsp:sp modelId="{6BD32ED2-E11C-4CF4-BF0B-080A3625AC6E}">
      <dsp:nvSpPr>
        <dsp:cNvPr id="0" name=""/>
        <dsp:cNvSpPr/>
      </dsp:nvSpPr>
      <dsp:spPr>
        <a:xfrm>
          <a:off x="2815976" y="1512325"/>
          <a:ext cx="541069" cy="63294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2815976" y="1638915"/>
        <a:ext cx="378748" cy="379769"/>
      </dsp:txXfrm>
    </dsp:sp>
    <dsp:sp modelId="{2252F905-CE33-47E8-8E6D-66D04D818321}">
      <dsp:nvSpPr>
        <dsp:cNvPr id="0" name=""/>
        <dsp:cNvSpPr/>
      </dsp:nvSpPr>
      <dsp:spPr>
        <a:xfrm>
          <a:off x="3581641" y="1063135"/>
          <a:ext cx="2552216" cy="153132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rtl="0">
            <a:lnSpc>
              <a:spcPct val="90000"/>
            </a:lnSpc>
            <a:spcBef>
              <a:spcPct val="0"/>
            </a:spcBef>
            <a:spcAft>
              <a:spcPct val="35000"/>
            </a:spcAft>
            <a:buNone/>
          </a:pPr>
          <a:r>
            <a:rPr lang="en-US" sz="2500" kern="1200">
              <a:latin typeface="Times New Roman"/>
              <a:cs typeface="Times New Roman"/>
            </a:rPr>
            <a:t>Physical Parameters (PBP)</a:t>
          </a:r>
        </a:p>
      </dsp:txBody>
      <dsp:txXfrm>
        <a:off x="3626492" y="1107986"/>
        <a:ext cx="2462514" cy="1441627"/>
      </dsp:txXfrm>
    </dsp:sp>
    <dsp:sp modelId="{323AD9B7-01E3-455C-9BFA-F3DB03D506D3}">
      <dsp:nvSpPr>
        <dsp:cNvPr id="0" name=""/>
        <dsp:cNvSpPr/>
      </dsp:nvSpPr>
      <dsp:spPr>
        <a:xfrm>
          <a:off x="6389079" y="1512325"/>
          <a:ext cx="541069" cy="63294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6389079" y="1638915"/>
        <a:ext cx="378748" cy="379769"/>
      </dsp:txXfrm>
    </dsp:sp>
    <dsp:sp modelId="{EA62BEBD-A399-4DB2-99AF-62400E8D5D59}">
      <dsp:nvSpPr>
        <dsp:cNvPr id="0" name=""/>
        <dsp:cNvSpPr/>
      </dsp:nvSpPr>
      <dsp:spPr>
        <a:xfrm>
          <a:off x="7154743" y="1063135"/>
          <a:ext cx="2552216" cy="153132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rtl="0">
            <a:lnSpc>
              <a:spcPct val="90000"/>
            </a:lnSpc>
            <a:spcBef>
              <a:spcPct val="0"/>
            </a:spcBef>
            <a:spcAft>
              <a:spcPct val="35000"/>
            </a:spcAft>
            <a:buNone/>
          </a:pPr>
          <a:r>
            <a:rPr lang="en-US" sz="2500" kern="1200">
              <a:latin typeface="Times New Roman"/>
              <a:cs typeface="Times New Roman"/>
            </a:rPr>
            <a:t>Machine Learned Interatomic Potential</a:t>
          </a:r>
        </a:p>
      </dsp:txBody>
      <dsp:txXfrm>
        <a:off x="7199594" y="1107986"/>
        <a:ext cx="2462514" cy="144162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714FBA35-7C0E-4958-BDC7-7977C85E830C}" type="datetimeFigureOut">
              <a:rPr lang="en-IN" smtClean="0"/>
              <a:t>27-10-2026</a:t>
            </a:fld>
            <a:endParaRPr lang="en-IN"/>
          </a:p>
        </p:txBody>
      </p:sp>
      <p:sp>
        <p:nvSpPr>
          <p:cNvPr id="4" name="Slide Image Placehol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C0C4EC02-08A1-4BB7-9482-3DE55B71A9E9}" type="slidenum">
              <a:rPr lang="en-IN" smtClean="0"/>
              <a:t>‹#›</a:t>
            </a:fld>
            <a:endParaRPr lang="en-IN"/>
          </a:p>
        </p:txBody>
      </p:sp>
    </p:spTree>
    <p:extLst>
      <p:ext uri="{BB962C8B-B14F-4D97-AF65-F5344CB8AC3E}">
        <p14:creationId xmlns:p14="http://schemas.microsoft.com/office/powerpoint/2010/main" val="223930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00D4D-C514-1044-22DD-212A313D41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967AE-A19E-EBA6-3FA2-76D0812556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EFEEDA-7B16-3E0D-DDEC-6BDBC4D2693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B788648-F4CE-C883-6530-30D54CDF0E6C}"/>
              </a:ext>
            </a:extLst>
          </p:cNvPr>
          <p:cNvSpPr>
            <a:spLocks noGrp="1"/>
          </p:cNvSpPr>
          <p:nvPr>
            <p:ph type="sldNum" sz="quarter" idx="5"/>
          </p:nvPr>
        </p:nvSpPr>
        <p:spPr/>
        <p:txBody>
          <a:bodyPr/>
          <a:lstStyle/>
          <a:p>
            <a:fld id="{C0C4EC02-08A1-4BB7-9482-3DE55B71A9E9}" type="slidenum">
              <a:rPr lang="en-IN" smtClean="0"/>
              <a:t>2</a:t>
            </a:fld>
            <a:endParaRPr lang="en-IN"/>
          </a:p>
        </p:txBody>
      </p:sp>
    </p:spTree>
    <p:extLst>
      <p:ext uri="{BB962C8B-B14F-4D97-AF65-F5344CB8AC3E}">
        <p14:creationId xmlns:p14="http://schemas.microsoft.com/office/powerpoint/2010/main" val="29816652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DC34A-BCA8-E923-E82F-110F86F60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3FFC6E-A86F-FAD9-D266-A0E974D0D0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C7133C-9E1F-164F-ADF6-1FAA7B79AC5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0BF9AE6-C910-7B31-0FFB-0252334633D8}"/>
              </a:ext>
            </a:extLst>
          </p:cNvPr>
          <p:cNvSpPr>
            <a:spLocks noGrp="1"/>
          </p:cNvSpPr>
          <p:nvPr>
            <p:ph type="sldNum" sz="quarter" idx="5"/>
          </p:nvPr>
        </p:nvSpPr>
        <p:spPr/>
        <p:txBody>
          <a:bodyPr/>
          <a:lstStyle/>
          <a:p>
            <a:fld id="{C0C4EC02-08A1-4BB7-9482-3DE55B71A9E9}" type="slidenum">
              <a:rPr lang="en-IN" smtClean="0"/>
              <a:t>3</a:t>
            </a:fld>
            <a:endParaRPr lang="en-IN"/>
          </a:p>
        </p:txBody>
      </p:sp>
    </p:spTree>
    <p:extLst>
      <p:ext uri="{BB962C8B-B14F-4D97-AF65-F5344CB8AC3E}">
        <p14:creationId xmlns:p14="http://schemas.microsoft.com/office/powerpoint/2010/main" val="12258660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F9967-394F-7964-5E20-033C681E0D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22903C-5EA3-4A6F-516D-E752ABF354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30E553-C3E1-7E0C-D9D5-0598CD01BB9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31ADC07-CB22-9CB8-4DD6-7A6D668431C2}"/>
              </a:ext>
            </a:extLst>
          </p:cNvPr>
          <p:cNvSpPr>
            <a:spLocks noGrp="1"/>
          </p:cNvSpPr>
          <p:nvPr>
            <p:ph type="sldNum" sz="quarter" idx="5"/>
          </p:nvPr>
        </p:nvSpPr>
        <p:spPr/>
        <p:txBody>
          <a:bodyPr/>
          <a:lstStyle/>
          <a:p>
            <a:fld id="{C0C4EC02-08A1-4BB7-9482-3DE55B71A9E9}" type="slidenum">
              <a:rPr lang="en-IN" smtClean="0"/>
              <a:t>4</a:t>
            </a:fld>
            <a:endParaRPr lang="en-IN"/>
          </a:p>
        </p:txBody>
      </p:sp>
    </p:spTree>
    <p:extLst>
      <p:ext uri="{BB962C8B-B14F-4D97-AF65-F5344CB8AC3E}">
        <p14:creationId xmlns:p14="http://schemas.microsoft.com/office/powerpoint/2010/main" val="2874227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8638D-F796-95EB-0FF7-C84FA7458C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0DD781-A932-34A8-35B9-ACA15E30E0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B22409-1B66-0045-D820-9DD5AEC39E1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3713411-AB44-5803-A0A5-26F4299EF3DB}"/>
              </a:ext>
            </a:extLst>
          </p:cNvPr>
          <p:cNvSpPr>
            <a:spLocks noGrp="1"/>
          </p:cNvSpPr>
          <p:nvPr>
            <p:ph type="sldNum" sz="quarter" idx="5"/>
          </p:nvPr>
        </p:nvSpPr>
        <p:spPr/>
        <p:txBody>
          <a:bodyPr/>
          <a:lstStyle/>
          <a:p>
            <a:fld id="{C0C4EC02-08A1-4BB7-9482-3DE55B71A9E9}" type="slidenum">
              <a:rPr lang="en-IN" smtClean="0"/>
              <a:t>5</a:t>
            </a:fld>
            <a:endParaRPr lang="en-IN"/>
          </a:p>
        </p:txBody>
      </p:sp>
    </p:spTree>
    <p:extLst>
      <p:ext uri="{BB962C8B-B14F-4D97-AF65-F5344CB8AC3E}">
        <p14:creationId xmlns:p14="http://schemas.microsoft.com/office/powerpoint/2010/main" val="1536851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55AF9-0265-E7BD-B52B-E3E01FCFB3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1DD5D1-51F5-B4B5-1FD4-3D0193D99C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0E05F8-037F-E07A-1344-6A308DA2EF6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4AE5374-54CE-BB92-5551-D6CD18F42F08}"/>
              </a:ext>
            </a:extLst>
          </p:cNvPr>
          <p:cNvSpPr>
            <a:spLocks noGrp="1"/>
          </p:cNvSpPr>
          <p:nvPr>
            <p:ph type="sldNum" sz="quarter" idx="5"/>
          </p:nvPr>
        </p:nvSpPr>
        <p:spPr/>
        <p:txBody>
          <a:bodyPr/>
          <a:lstStyle/>
          <a:p>
            <a:fld id="{C0C4EC02-08A1-4BB7-9482-3DE55B71A9E9}" type="slidenum">
              <a:rPr lang="en-IN" smtClean="0"/>
              <a:t>6</a:t>
            </a:fld>
            <a:endParaRPr lang="en-IN"/>
          </a:p>
        </p:txBody>
      </p:sp>
    </p:spTree>
    <p:extLst>
      <p:ext uri="{BB962C8B-B14F-4D97-AF65-F5344CB8AC3E}">
        <p14:creationId xmlns:p14="http://schemas.microsoft.com/office/powerpoint/2010/main" val="3115862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ADE63-181B-374B-3A33-72B3EB0EA4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82EBEC-38E4-8BBD-5D33-63053BA9E2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A29840-A923-15D8-1442-B47746580B9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4ACE757-0169-85CB-2308-9FB33A973548}"/>
              </a:ext>
            </a:extLst>
          </p:cNvPr>
          <p:cNvSpPr>
            <a:spLocks noGrp="1"/>
          </p:cNvSpPr>
          <p:nvPr>
            <p:ph type="sldNum" sz="quarter" idx="5"/>
          </p:nvPr>
        </p:nvSpPr>
        <p:spPr/>
        <p:txBody>
          <a:bodyPr/>
          <a:lstStyle/>
          <a:p>
            <a:fld id="{C0C4EC02-08A1-4BB7-9482-3DE55B71A9E9}" type="slidenum">
              <a:rPr lang="en-IN" smtClean="0"/>
              <a:t>7</a:t>
            </a:fld>
            <a:endParaRPr lang="en-IN"/>
          </a:p>
        </p:txBody>
      </p:sp>
    </p:spTree>
    <p:extLst>
      <p:ext uri="{BB962C8B-B14F-4D97-AF65-F5344CB8AC3E}">
        <p14:creationId xmlns:p14="http://schemas.microsoft.com/office/powerpoint/2010/main" val="21253594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A70FD-6E43-D22F-780A-2DFE761E9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5AB4D-F1FA-46E8-5633-1C0808F321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296F0C-FDC1-D177-27EA-93463F10ED0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6C55785-BE3B-34DB-31FF-2AD15542CB66}"/>
              </a:ext>
            </a:extLst>
          </p:cNvPr>
          <p:cNvSpPr>
            <a:spLocks noGrp="1"/>
          </p:cNvSpPr>
          <p:nvPr>
            <p:ph type="sldNum" sz="quarter" idx="5"/>
          </p:nvPr>
        </p:nvSpPr>
        <p:spPr/>
        <p:txBody>
          <a:bodyPr/>
          <a:lstStyle/>
          <a:p>
            <a:fld id="{C0C4EC02-08A1-4BB7-9482-3DE55B71A9E9}" type="slidenum">
              <a:rPr lang="en-IN" smtClean="0"/>
              <a:t>8</a:t>
            </a:fld>
            <a:endParaRPr lang="en-IN"/>
          </a:p>
        </p:txBody>
      </p:sp>
    </p:spTree>
    <p:extLst>
      <p:ext uri="{BB962C8B-B14F-4D97-AF65-F5344CB8AC3E}">
        <p14:creationId xmlns:p14="http://schemas.microsoft.com/office/powerpoint/2010/main" val="3506874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AE2AE-909C-D760-8746-E6051773A9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3963E9-FA6B-79E0-E052-DD6B28B898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17E481-90E6-7C44-B3E1-B376ED680A5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C857EFE-987C-554B-62EC-BE2CB2950C00}"/>
              </a:ext>
            </a:extLst>
          </p:cNvPr>
          <p:cNvSpPr>
            <a:spLocks noGrp="1"/>
          </p:cNvSpPr>
          <p:nvPr>
            <p:ph type="sldNum" sz="quarter" idx="5"/>
          </p:nvPr>
        </p:nvSpPr>
        <p:spPr/>
        <p:txBody>
          <a:bodyPr/>
          <a:lstStyle/>
          <a:p>
            <a:fld id="{C0C4EC02-08A1-4BB7-9482-3DE55B71A9E9}" type="slidenum">
              <a:rPr lang="en-IN" smtClean="0"/>
              <a:t>9</a:t>
            </a:fld>
            <a:endParaRPr lang="en-IN"/>
          </a:p>
        </p:txBody>
      </p:sp>
    </p:spTree>
    <p:extLst>
      <p:ext uri="{BB962C8B-B14F-4D97-AF65-F5344CB8AC3E}">
        <p14:creationId xmlns:p14="http://schemas.microsoft.com/office/powerpoint/2010/main" val="776415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5DF42-21AC-5F2F-071B-C3213C3265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73CF5-0586-0942-008E-EDEFD691A3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CC264F-C275-2A1E-EE61-7662EE3F7C1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72BEF8-3C7D-21CE-58B0-84B55E85623A}"/>
              </a:ext>
            </a:extLst>
          </p:cNvPr>
          <p:cNvSpPr>
            <a:spLocks noGrp="1"/>
          </p:cNvSpPr>
          <p:nvPr>
            <p:ph type="sldNum" sz="quarter" idx="5"/>
          </p:nvPr>
        </p:nvSpPr>
        <p:spPr/>
        <p:txBody>
          <a:bodyPr/>
          <a:lstStyle/>
          <a:p>
            <a:fld id="{C0C4EC02-08A1-4BB7-9482-3DE55B71A9E9}" type="slidenum">
              <a:rPr lang="en-IN" smtClean="0"/>
              <a:t>10</a:t>
            </a:fld>
            <a:endParaRPr lang="en-IN"/>
          </a:p>
        </p:txBody>
      </p:sp>
    </p:spTree>
    <p:extLst>
      <p:ext uri="{BB962C8B-B14F-4D97-AF65-F5344CB8AC3E}">
        <p14:creationId xmlns:p14="http://schemas.microsoft.com/office/powerpoint/2010/main" val="13164120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EE1F6-2189-E6FD-0899-D5F35EE832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00BD57-0B74-A97B-F3D3-C201F09FEF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3F0E97-0B66-D87A-E668-BEFAC6FA6B0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81734CA-08EB-91A3-0D11-9FB8CD523C9E}"/>
              </a:ext>
            </a:extLst>
          </p:cNvPr>
          <p:cNvSpPr>
            <a:spLocks noGrp="1"/>
          </p:cNvSpPr>
          <p:nvPr>
            <p:ph type="sldNum" sz="quarter" idx="5"/>
          </p:nvPr>
        </p:nvSpPr>
        <p:spPr/>
        <p:txBody>
          <a:bodyPr/>
          <a:lstStyle/>
          <a:p>
            <a:fld id="{C0C4EC02-08A1-4BB7-9482-3DE55B71A9E9}" type="slidenum">
              <a:rPr lang="en-IN" smtClean="0"/>
              <a:t>11</a:t>
            </a:fld>
            <a:endParaRPr lang="en-IN"/>
          </a:p>
        </p:txBody>
      </p:sp>
    </p:spTree>
    <p:extLst>
      <p:ext uri="{BB962C8B-B14F-4D97-AF65-F5344CB8AC3E}">
        <p14:creationId xmlns:p14="http://schemas.microsoft.com/office/powerpoint/2010/main" val="41511343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1A23E-9488-DCF1-D7E4-1886B1D5FC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236477-ED7B-7B5F-B670-74A93A8943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85061B-76DD-0389-09E5-D4C12E9D39C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BBCD138-598B-9934-427F-2A0490163B2A}"/>
              </a:ext>
            </a:extLst>
          </p:cNvPr>
          <p:cNvSpPr>
            <a:spLocks noGrp="1"/>
          </p:cNvSpPr>
          <p:nvPr>
            <p:ph type="sldNum" sz="quarter" idx="5"/>
          </p:nvPr>
        </p:nvSpPr>
        <p:spPr/>
        <p:txBody>
          <a:bodyPr/>
          <a:lstStyle/>
          <a:p>
            <a:fld id="{C0C4EC02-08A1-4BB7-9482-3DE55B71A9E9}" type="slidenum">
              <a:rPr lang="en-IN" smtClean="0"/>
              <a:t>12</a:t>
            </a:fld>
            <a:endParaRPr lang="en-IN"/>
          </a:p>
        </p:txBody>
      </p:sp>
    </p:spTree>
    <p:extLst>
      <p:ext uri="{BB962C8B-B14F-4D97-AF65-F5344CB8AC3E}">
        <p14:creationId xmlns:p14="http://schemas.microsoft.com/office/powerpoint/2010/main" val="40560036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D258A-B8AC-D3CC-E8B2-E4F3574BB4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B19B96-23D5-38F6-812B-020A941170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CC056A-F424-29D8-A719-82DA367C161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48F2C63-5BE8-80D5-1A05-4747BB7011D8}"/>
              </a:ext>
            </a:extLst>
          </p:cNvPr>
          <p:cNvSpPr>
            <a:spLocks noGrp="1"/>
          </p:cNvSpPr>
          <p:nvPr>
            <p:ph type="sldNum" sz="quarter" idx="5"/>
          </p:nvPr>
        </p:nvSpPr>
        <p:spPr/>
        <p:txBody>
          <a:bodyPr/>
          <a:lstStyle/>
          <a:p>
            <a:fld id="{C0C4EC02-08A1-4BB7-9482-3DE55B71A9E9}" type="slidenum">
              <a:rPr lang="en-IN" smtClean="0"/>
              <a:t>13</a:t>
            </a:fld>
            <a:endParaRPr lang="en-IN"/>
          </a:p>
        </p:txBody>
      </p:sp>
    </p:spTree>
    <p:extLst>
      <p:ext uri="{BB962C8B-B14F-4D97-AF65-F5344CB8AC3E}">
        <p14:creationId xmlns:p14="http://schemas.microsoft.com/office/powerpoint/2010/main" val="38519653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A47F1-B09F-3001-03A2-0E509B37E1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ABFF3-FE1F-5153-1ECA-3117C702BB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BB9F73-40C2-176F-102E-950D09BC566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713F102-1B33-3998-DD85-45DA9FF08A4E}"/>
              </a:ext>
            </a:extLst>
          </p:cNvPr>
          <p:cNvSpPr>
            <a:spLocks noGrp="1"/>
          </p:cNvSpPr>
          <p:nvPr>
            <p:ph type="sldNum" sz="quarter" idx="5"/>
          </p:nvPr>
        </p:nvSpPr>
        <p:spPr/>
        <p:txBody>
          <a:bodyPr/>
          <a:lstStyle/>
          <a:p>
            <a:fld id="{C0C4EC02-08A1-4BB7-9482-3DE55B71A9E9}" type="slidenum">
              <a:rPr lang="en-IN" smtClean="0"/>
              <a:t>14</a:t>
            </a:fld>
            <a:endParaRPr lang="en-IN"/>
          </a:p>
        </p:txBody>
      </p:sp>
    </p:spTree>
    <p:extLst>
      <p:ext uri="{BB962C8B-B14F-4D97-AF65-F5344CB8AC3E}">
        <p14:creationId xmlns:p14="http://schemas.microsoft.com/office/powerpoint/2010/main" val="1425838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14BC8-8ECA-D5DE-EDBC-6487B120D8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92D675-5F8A-1830-83C0-50EAC99B1E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56266E-BA83-D008-1341-FA6763DE9A6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F7441A5-0F21-9C20-4157-877503A3A294}"/>
              </a:ext>
            </a:extLst>
          </p:cNvPr>
          <p:cNvSpPr>
            <a:spLocks noGrp="1"/>
          </p:cNvSpPr>
          <p:nvPr>
            <p:ph type="sldNum" sz="quarter" idx="5"/>
          </p:nvPr>
        </p:nvSpPr>
        <p:spPr/>
        <p:txBody>
          <a:bodyPr/>
          <a:lstStyle/>
          <a:p>
            <a:fld id="{C0C4EC02-08A1-4BB7-9482-3DE55B71A9E9}" type="slidenum">
              <a:rPr lang="en-IN" smtClean="0"/>
              <a:t>15</a:t>
            </a:fld>
            <a:endParaRPr lang="en-IN"/>
          </a:p>
        </p:txBody>
      </p:sp>
    </p:spTree>
    <p:extLst>
      <p:ext uri="{BB962C8B-B14F-4D97-AF65-F5344CB8AC3E}">
        <p14:creationId xmlns:p14="http://schemas.microsoft.com/office/powerpoint/2010/main" val="22432739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03841-0A17-7B90-8093-642E505041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DDC5D2-7A6B-BEAF-C35F-DE5352720D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5A0E4-8EBB-C1B8-F14F-6477804F73E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047C68F-A5FB-CC8E-75C3-860C5025B540}"/>
              </a:ext>
            </a:extLst>
          </p:cNvPr>
          <p:cNvSpPr>
            <a:spLocks noGrp="1"/>
          </p:cNvSpPr>
          <p:nvPr>
            <p:ph type="sldNum" sz="quarter" idx="5"/>
          </p:nvPr>
        </p:nvSpPr>
        <p:spPr/>
        <p:txBody>
          <a:bodyPr/>
          <a:lstStyle/>
          <a:p>
            <a:fld id="{C0C4EC02-08A1-4BB7-9482-3DE55B71A9E9}" type="slidenum">
              <a:rPr lang="en-IN" smtClean="0"/>
              <a:t>16</a:t>
            </a:fld>
            <a:endParaRPr lang="en-IN"/>
          </a:p>
        </p:txBody>
      </p:sp>
    </p:spTree>
    <p:extLst>
      <p:ext uri="{BB962C8B-B14F-4D97-AF65-F5344CB8AC3E}">
        <p14:creationId xmlns:p14="http://schemas.microsoft.com/office/powerpoint/2010/main" val="16829615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4B8DB-DB53-93B3-D3E3-C4D804FCBF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FB7339-4628-2773-A665-80A9091F9A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81889D-3174-2771-45C3-63ADC8380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F1ADA89-285D-B9A4-5154-234412DBCD5A}"/>
              </a:ext>
            </a:extLst>
          </p:cNvPr>
          <p:cNvSpPr>
            <a:spLocks noGrp="1"/>
          </p:cNvSpPr>
          <p:nvPr>
            <p:ph type="sldNum" sz="quarter" idx="5"/>
          </p:nvPr>
        </p:nvSpPr>
        <p:spPr/>
        <p:txBody>
          <a:bodyPr/>
          <a:lstStyle/>
          <a:p>
            <a:fld id="{C0C4EC02-08A1-4BB7-9482-3DE55B71A9E9}" type="slidenum">
              <a:rPr lang="en-IN" smtClean="0"/>
              <a:t>17</a:t>
            </a:fld>
            <a:endParaRPr lang="en-IN"/>
          </a:p>
        </p:txBody>
      </p:sp>
    </p:spTree>
    <p:extLst>
      <p:ext uri="{BB962C8B-B14F-4D97-AF65-F5344CB8AC3E}">
        <p14:creationId xmlns:p14="http://schemas.microsoft.com/office/powerpoint/2010/main" val="34065712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71451-808A-219A-5228-DD03CA0149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E9EA64-5622-826F-348A-5FA3F9D754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97FC70-1E34-0BFB-B930-FE9C5E58BCF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1B70FBE-045B-EFDD-E845-4FB4DBC2A49C}"/>
              </a:ext>
            </a:extLst>
          </p:cNvPr>
          <p:cNvSpPr>
            <a:spLocks noGrp="1"/>
          </p:cNvSpPr>
          <p:nvPr>
            <p:ph type="sldNum" sz="quarter" idx="5"/>
          </p:nvPr>
        </p:nvSpPr>
        <p:spPr/>
        <p:txBody>
          <a:bodyPr/>
          <a:lstStyle/>
          <a:p>
            <a:fld id="{C0C4EC02-08A1-4BB7-9482-3DE55B71A9E9}" type="slidenum">
              <a:rPr lang="en-IN" smtClean="0"/>
              <a:t>18</a:t>
            </a:fld>
            <a:endParaRPr lang="en-IN"/>
          </a:p>
        </p:txBody>
      </p:sp>
    </p:spTree>
    <p:extLst>
      <p:ext uri="{BB962C8B-B14F-4D97-AF65-F5344CB8AC3E}">
        <p14:creationId xmlns:p14="http://schemas.microsoft.com/office/powerpoint/2010/main" val="12680703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EF22D-69B5-BF9D-5055-4A07819844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43A51B-17D7-9305-7EA4-1AC89D4779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D2FDED-A6CA-C0F5-4DB0-C3F9B067946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BA723B1-277C-A462-C3B0-6D9E7E886C9E}"/>
              </a:ext>
            </a:extLst>
          </p:cNvPr>
          <p:cNvSpPr>
            <a:spLocks noGrp="1"/>
          </p:cNvSpPr>
          <p:nvPr>
            <p:ph type="sldNum" sz="quarter" idx="5"/>
          </p:nvPr>
        </p:nvSpPr>
        <p:spPr/>
        <p:txBody>
          <a:bodyPr/>
          <a:lstStyle/>
          <a:p>
            <a:fld id="{C0C4EC02-08A1-4BB7-9482-3DE55B71A9E9}" type="slidenum">
              <a:rPr lang="en-IN" smtClean="0"/>
              <a:t>19</a:t>
            </a:fld>
            <a:endParaRPr lang="en-IN"/>
          </a:p>
        </p:txBody>
      </p:sp>
    </p:spTree>
    <p:extLst>
      <p:ext uri="{BB962C8B-B14F-4D97-AF65-F5344CB8AC3E}">
        <p14:creationId xmlns:p14="http://schemas.microsoft.com/office/powerpoint/2010/main" val="36424238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381BA-0AC4-90B2-4561-3E712B40D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7E3E49-276D-AF16-0F85-FD2FD7A9A8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CA6A34-BA58-2275-6010-C5D383021DF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4A89FD0-6010-249D-92C5-1D63E20ADCE4}"/>
              </a:ext>
            </a:extLst>
          </p:cNvPr>
          <p:cNvSpPr>
            <a:spLocks noGrp="1"/>
          </p:cNvSpPr>
          <p:nvPr>
            <p:ph type="sldNum" sz="quarter" idx="5"/>
          </p:nvPr>
        </p:nvSpPr>
        <p:spPr/>
        <p:txBody>
          <a:bodyPr/>
          <a:lstStyle/>
          <a:p>
            <a:fld id="{C0C4EC02-08A1-4BB7-9482-3DE55B71A9E9}" type="slidenum">
              <a:rPr lang="en-IN" smtClean="0"/>
              <a:t>20</a:t>
            </a:fld>
            <a:endParaRPr lang="en-IN"/>
          </a:p>
        </p:txBody>
      </p:sp>
    </p:spTree>
    <p:extLst>
      <p:ext uri="{BB962C8B-B14F-4D97-AF65-F5344CB8AC3E}">
        <p14:creationId xmlns:p14="http://schemas.microsoft.com/office/powerpoint/2010/main" val="35308090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7F020-1609-24E7-659E-112467FDD6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E90D96-A361-769E-C91E-6AF0E287D0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087092-5601-0B68-6C9E-EB40660BEAF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E385D76-7812-EB91-89E8-5E1CCC7E1BEB}"/>
              </a:ext>
            </a:extLst>
          </p:cNvPr>
          <p:cNvSpPr>
            <a:spLocks noGrp="1"/>
          </p:cNvSpPr>
          <p:nvPr>
            <p:ph type="sldNum" sz="quarter" idx="5"/>
          </p:nvPr>
        </p:nvSpPr>
        <p:spPr/>
        <p:txBody>
          <a:bodyPr/>
          <a:lstStyle/>
          <a:p>
            <a:fld id="{C0C4EC02-08A1-4BB7-9482-3DE55B71A9E9}" type="slidenum">
              <a:rPr lang="en-IN" smtClean="0"/>
              <a:t>21</a:t>
            </a:fld>
            <a:endParaRPr lang="en-IN"/>
          </a:p>
        </p:txBody>
      </p:sp>
    </p:spTree>
    <p:extLst>
      <p:ext uri="{BB962C8B-B14F-4D97-AF65-F5344CB8AC3E}">
        <p14:creationId xmlns:p14="http://schemas.microsoft.com/office/powerpoint/2010/main" val="2275835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C3E47-062F-FE5B-13AE-B213E18D33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30B4EA-44CF-581D-26D9-A3CF716CDC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F075A2-5577-20C1-B21A-8B6A91D1A00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CB26BF4-1CAE-D4FB-9EA9-FBE41AF7113F}"/>
              </a:ext>
            </a:extLst>
          </p:cNvPr>
          <p:cNvSpPr>
            <a:spLocks noGrp="1"/>
          </p:cNvSpPr>
          <p:nvPr>
            <p:ph type="sldNum" sz="quarter" idx="5"/>
          </p:nvPr>
        </p:nvSpPr>
        <p:spPr/>
        <p:txBody>
          <a:bodyPr/>
          <a:lstStyle/>
          <a:p>
            <a:fld id="{C0C4EC02-08A1-4BB7-9482-3DE55B71A9E9}" type="slidenum">
              <a:rPr lang="en-IN" smtClean="0"/>
              <a:t>22</a:t>
            </a:fld>
            <a:endParaRPr lang="en-IN"/>
          </a:p>
        </p:txBody>
      </p:sp>
    </p:spTree>
    <p:extLst>
      <p:ext uri="{BB962C8B-B14F-4D97-AF65-F5344CB8AC3E}">
        <p14:creationId xmlns:p14="http://schemas.microsoft.com/office/powerpoint/2010/main" val="31884956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9391D-0957-94C3-F38E-DC7893560A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B900BB-5018-C809-AC43-A4631245DB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151C5A-A3EE-4CC8-9A8F-E6476CB340B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0DAD9B-74AC-E849-DF24-4C01D99B737D}"/>
              </a:ext>
            </a:extLst>
          </p:cNvPr>
          <p:cNvSpPr>
            <a:spLocks noGrp="1"/>
          </p:cNvSpPr>
          <p:nvPr>
            <p:ph type="sldNum" sz="quarter" idx="5"/>
          </p:nvPr>
        </p:nvSpPr>
        <p:spPr/>
        <p:txBody>
          <a:bodyPr/>
          <a:lstStyle/>
          <a:p>
            <a:fld id="{C0C4EC02-08A1-4BB7-9482-3DE55B71A9E9}" type="slidenum">
              <a:rPr lang="en-IN" smtClean="0"/>
              <a:t>23</a:t>
            </a:fld>
            <a:endParaRPr lang="en-IN"/>
          </a:p>
        </p:txBody>
      </p:sp>
    </p:spTree>
    <p:extLst>
      <p:ext uri="{BB962C8B-B14F-4D97-AF65-F5344CB8AC3E}">
        <p14:creationId xmlns:p14="http://schemas.microsoft.com/office/powerpoint/2010/main" val="23735694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F8A59-47FD-DE30-F0A2-B4B47DFAAD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FC4D3-8FC7-E0DA-B42A-F4426BFA34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B71BA4-87B9-DEE1-C533-1360DC6DBEA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CB229A1-BAA5-8001-DE4D-D7859E8E8D96}"/>
              </a:ext>
            </a:extLst>
          </p:cNvPr>
          <p:cNvSpPr>
            <a:spLocks noGrp="1"/>
          </p:cNvSpPr>
          <p:nvPr>
            <p:ph type="sldNum" sz="quarter" idx="5"/>
          </p:nvPr>
        </p:nvSpPr>
        <p:spPr/>
        <p:txBody>
          <a:bodyPr/>
          <a:lstStyle/>
          <a:p>
            <a:fld id="{C0C4EC02-08A1-4BB7-9482-3DE55B71A9E9}" type="slidenum">
              <a:rPr lang="en-IN" smtClean="0"/>
              <a:t>24</a:t>
            </a:fld>
            <a:endParaRPr lang="en-IN"/>
          </a:p>
        </p:txBody>
      </p:sp>
    </p:spTree>
    <p:extLst>
      <p:ext uri="{BB962C8B-B14F-4D97-AF65-F5344CB8AC3E}">
        <p14:creationId xmlns:p14="http://schemas.microsoft.com/office/powerpoint/2010/main" val="2435770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946A4-4CFC-7526-9BED-9131B45C0E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7D010D-A926-FF35-1587-2E0A36790B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DD1FD1-C79E-C19A-F397-F9E50BAD212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5E520D4-28FD-1EBA-D62C-A3BFC503AACA}"/>
              </a:ext>
            </a:extLst>
          </p:cNvPr>
          <p:cNvSpPr>
            <a:spLocks noGrp="1"/>
          </p:cNvSpPr>
          <p:nvPr>
            <p:ph type="sldNum" sz="quarter" idx="5"/>
          </p:nvPr>
        </p:nvSpPr>
        <p:spPr/>
        <p:txBody>
          <a:bodyPr/>
          <a:lstStyle/>
          <a:p>
            <a:fld id="{C0C4EC02-08A1-4BB7-9482-3DE55B71A9E9}" type="slidenum">
              <a:rPr lang="en-IN" smtClean="0"/>
              <a:t>25</a:t>
            </a:fld>
            <a:endParaRPr lang="en-IN"/>
          </a:p>
        </p:txBody>
      </p:sp>
    </p:spTree>
    <p:extLst>
      <p:ext uri="{BB962C8B-B14F-4D97-AF65-F5344CB8AC3E}">
        <p14:creationId xmlns:p14="http://schemas.microsoft.com/office/powerpoint/2010/main" val="32805932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3C130-7F47-8CFD-F73F-5CE06C3919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7BDD30-4AE0-B9E3-F9BC-8D96E536EE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BF1F73-48F3-D96E-0A90-771942B5C91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67A42B1-D34F-A588-E428-837324B3EAEE}"/>
              </a:ext>
            </a:extLst>
          </p:cNvPr>
          <p:cNvSpPr>
            <a:spLocks noGrp="1"/>
          </p:cNvSpPr>
          <p:nvPr>
            <p:ph type="sldNum" sz="quarter" idx="5"/>
          </p:nvPr>
        </p:nvSpPr>
        <p:spPr/>
        <p:txBody>
          <a:bodyPr/>
          <a:lstStyle/>
          <a:p>
            <a:fld id="{C0C4EC02-08A1-4BB7-9482-3DE55B71A9E9}" type="slidenum">
              <a:rPr lang="en-IN" smtClean="0"/>
              <a:t>26</a:t>
            </a:fld>
            <a:endParaRPr lang="en-IN"/>
          </a:p>
        </p:txBody>
      </p:sp>
    </p:spTree>
    <p:extLst>
      <p:ext uri="{BB962C8B-B14F-4D97-AF65-F5344CB8AC3E}">
        <p14:creationId xmlns:p14="http://schemas.microsoft.com/office/powerpoint/2010/main" val="28177951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D9AD0-1D4D-B2C6-06EB-A6AC7FD15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B09F78-48B9-B7A0-945F-D90B480807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F206C3-7E6B-C7BE-772B-D0BAC9332AB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1BCD906-F492-1784-6E85-6CD2468DC604}"/>
              </a:ext>
            </a:extLst>
          </p:cNvPr>
          <p:cNvSpPr>
            <a:spLocks noGrp="1"/>
          </p:cNvSpPr>
          <p:nvPr>
            <p:ph type="sldNum" sz="quarter" idx="5"/>
          </p:nvPr>
        </p:nvSpPr>
        <p:spPr/>
        <p:txBody>
          <a:bodyPr/>
          <a:lstStyle/>
          <a:p>
            <a:fld id="{C0C4EC02-08A1-4BB7-9482-3DE55B71A9E9}" type="slidenum">
              <a:rPr lang="en-IN" smtClean="0"/>
              <a:t>27</a:t>
            </a:fld>
            <a:endParaRPr lang="en-IN"/>
          </a:p>
        </p:txBody>
      </p:sp>
    </p:spTree>
    <p:extLst>
      <p:ext uri="{BB962C8B-B14F-4D97-AF65-F5344CB8AC3E}">
        <p14:creationId xmlns:p14="http://schemas.microsoft.com/office/powerpoint/2010/main" val="42158687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1A057-965E-99D5-E9F5-BF8E9182DF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28F29-2145-BBAC-F91F-FCDEF01BE5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6CD1E0-97F4-5360-7543-5AAA666179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E481020-16FE-F42B-7B57-718D6F1034F3}"/>
              </a:ext>
            </a:extLst>
          </p:cNvPr>
          <p:cNvSpPr>
            <a:spLocks noGrp="1"/>
          </p:cNvSpPr>
          <p:nvPr>
            <p:ph type="sldNum" sz="quarter" idx="5"/>
          </p:nvPr>
        </p:nvSpPr>
        <p:spPr/>
        <p:txBody>
          <a:bodyPr/>
          <a:lstStyle/>
          <a:p>
            <a:fld id="{C0C4EC02-08A1-4BB7-9482-3DE55B71A9E9}" type="slidenum">
              <a:rPr lang="en-IN" smtClean="0"/>
              <a:t>28</a:t>
            </a:fld>
            <a:endParaRPr lang="en-IN"/>
          </a:p>
        </p:txBody>
      </p:sp>
    </p:spTree>
    <p:extLst>
      <p:ext uri="{BB962C8B-B14F-4D97-AF65-F5344CB8AC3E}">
        <p14:creationId xmlns:p14="http://schemas.microsoft.com/office/powerpoint/2010/main" val="9515246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F698F-71C8-04DD-6682-B6D93E1CFA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CB613-8EA4-DC07-B793-0632110ABB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EF61DE-0623-9C99-3858-DE551825932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5DD9686-BCA3-01C3-F41E-511A91A480CA}"/>
              </a:ext>
            </a:extLst>
          </p:cNvPr>
          <p:cNvSpPr>
            <a:spLocks noGrp="1"/>
          </p:cNvSpPr>
          <p:nvPr>
            <p:ph type="sldNum" sz="quarter" idx="5"/>
          </p:nvPr>
        </p:nvSpPr>
        <p:spPr/>
        <p:txBody>
          <a:bodyPr/>
          <a:lstStyle/>
          <a:p>
            <a:fld id="{C0C4EC02-08A1-4BB7-9482-3DE55B71A9E9}" type="slidenum">
              <a:rPr lang="en-IN" smtClean="0"/>
              <a:t>29</a:t>
            </a:fld>
            <a:endParaRPr lang="en-IN"/>
          </a:p>
        </p:txBody>
      </p:sp>
    </p:spTree>
    <p:extLst>
      <p:ext uri="{BB962C8B-B14F-4D97-AF65-F5344CB8AC3E}">
        <p14:creationId xmlns:p14="http://schemas.microsoft.com/office/powerpoint/2010/main" val="1575065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77B0E-C6DC-E741-0E12-224B2C47F7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41ADCB-649E-4188-0A52-33DC195C44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B6139A-05CB-239B-10FA-3BD317DA975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456C5C5-C86D-52AE-9C7D-5C594E430525}"/>
              </a:ext>
            </a:extLst>
          </p:cNvPr>
          <p:cNvSpPr>
            <a:spLocks noGrp="1"/>
          </p:cNvSpPr>
          <p:nvPr>
            <p:ph type="sldNum" sz="quarter" idx="5"/>
          </p:nvPr>
        </p:nvSpPr>
        <p:spPr/>
        <p:txBody>
          <a:bodyPr/>
          <a:lstStyle/>
          <a:p>
            <a:fld id="{C0C4EC02-08A1-4BB7-9482-3DE55B71A9E9}" type="slidenum">
              <a:rPr lang="en-IN" smtClean="0"/>
              <a:t>30</a:t>
            </a:fld>
            <a:endParaRPr lang="en-IN"/>
          </a:p>
        </p:txBody>
      </p:sp>
    </p:spTree>
    <p:extLst>
      <p:ext uri="{BB962C8B-B14F-4D97-AF65-F5344CB8AC3E}">
        <p14:creationId xmlns:p14="http://schemas.microsoft.com/office/powerpoint/2010/main" val="16419456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EB414-B95D-1B3B-F5F0-6B6C8DAE1C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60349D-B847-FC90-AA79-5C70D154B8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12515D-26F9-0387-D95A-67598732FCB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0562BB6-C2F2-6723-835E-0F48D204E9C5}"/>
              </a:ext>
            </a:extLst>
          </p:cNvPr>
          <p:cNvSpPr>
            <a:spLocks noGrp="1"/>
          </p:cNvSpPr>
          <p:nvPr>
            <p:ph type="sldNum" sz="quarter" idx="5"/>
          </p:nvPr>
        </p:nvSpPr>
        <p:spPr/>
        <p:txBody>
          <a:bodyPr/>
          <a:lstStyle/>
          <a:p>
            <a:fld id="{C0C4EC02-08A1-4BB7-9482-3DE55B71A9E9}" type="slidenum">
              <a:rPr lang="en-IN" smtClean="0"/>
              <a:t>31</a:t>
            </a:fld>
            <a:endParaRPr lang="en-IN"/>
          </a:p>
        </p:txBody>
      </p:sp>
    </p:spTree>
    <p:extLst>
      <p:ext uri="{BB962C8B-B14F-4D97-AF65-F5344CB8AC3E}">
        <p14:creationId xmlns:p14="http://schemas.microsoft.com/office/powerpoint/2010/main" val="15007252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5D847-79AB-C7C0-8DD1-CB5ADD8DB8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246BA-5266-EBFA-2068-41241CC4F5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EAB51E-97C9-0663-18B3-5C386ED2770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2B9B5E0-18A5-5754-3F13-95EEA953FC96}"/>
              </a:ext>
            </a:extLst>
          </p:cNvPr>
          <p:cNvSpPr>
            <a:spLocks noGrp="1"/>
          </p:cNvSpPr>
          <p:nvPr>
            <p:ph type="sldNum" sz="quarter" idx="5"/>
          </p:nvPr>
        </p:nvSpPr>
        <p:spPr/>
        <p:txBody>
          <a:bodyPr/>
          <a:lstStyle/>
          <a:p>
            <a:fld id="{C0C4EC02-08A1-4BB7-9482-3DE55B71A9E9}" type="slidenum">
              <a:rPr lang="en-IN" smtClean="0"/>
              <a:t>32</a:t>
            </a:fld>
            <a:endParaRPr lang="en-IN"/>
          </a:p>
        </p:txBody>
      </p:sp>
    </p:spTree>
    <p:extLst>
      <p:ext uri="{BB962C8B-B14F-4D97-AF65-F5344CB8AC3E}">
        <p14:creationId xmlns:p14="http://schemas.microsoft.com/office/powerpoint/2010/main" val="31120094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27A36-B9EC-0525-21C7-8A09751B6C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597E8E-920B-BBC0-EA73-B8271C8D6D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28C942-C73F-243E-B39C-D5186B6B467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C6F942E-CD78-0308-72D3-E73583D43D4A}"/>
              </a:ext>
            </a:extLst>
          </p:cNvPr>
          <p:cNvSpPr>
            <a:spLocks noGrp="1"/>
          </p:cNvSpPr>
          <p:nvPr>
            <p:ph type="sldNum" sz="quarter" idx="5"/>
          </p:nvPr>
        </p:nvSpPr>
        <p:spPr/>
        <p:txBody>
          <a:bodyPr/>
          <a:lstStyle/>
          <a:p>
            <a:fld id="{C0C4EC02-08A1-4BB7-9482-3DE55B71A9E9}" type="slidenum">
              <a:rPr lang="en-IN" smtClean="0"/>
              <a:t>33</a:t>
            </a:fld>
            <a:endParaRPr lang="en-IN"/>
          </a:p>
        </p:txBody>
      </p:sp>
    </p:spTree>
    <p:extLst>
      <p:ext uri="{BB962C8B-B14F-4D97-AF65-F5344CB8AC3E}">
        <p14:creationId xmlns:p14="http://schemas.microsoft.com/office/powerpoint/2010/main" val="7121438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3B142-935B-1922-038D-4B371A6CE0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C9F3B9-58CC-8060-2A51-659741C608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5980DD-DB13-7314-5D14-78877CA1E21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F8B302F-5181-7752-E5CE-A70B535B5E79}"/>
              </a:ext>
            </a:extLst>
          </p:cNvPr>
          <p:cNvSpPr>
            <a:spLocks noGrp="1"/>
          </p:cNvSpPr>
          <p:nvPr>
            <p:ph type="sldNum" sz="quarter" idx="5"/>
          </p:nvPr>
        </p:nvSpPr>
        <p:spPr/>
        <p:txBody>
          <a:bodyPr/>
          <a:lstStyle/>
          <a:p>
            <a:fld id="{C0C4EC02-08A1-4BB7-9482-3DE55B71A9E9}" type="slidenum">
              <a:rPr lang="en-IN" smtClean="0"/>
              <a:t>34</a:t>
            </a:fld>
            <a:endParaRPr lang="en-IN"/>
          </a:p>
        </p:txBody>
      </p:sp>
    </p:spTree>
    <p:extLst>
      <p:ext uri="{BB962C8B-B14F-4D97-AF65-F5344CB8AC3E}">
        <p14:creationId xmlns:p14="http://schemas.microsoft.com/office/powerpoint/2010/main" val="9207991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2AB98-5A85-B8AC-4150-A20A988718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D11CD-2F80-A591-6770-C953471EC9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3D16A6-E786-7FA0-6ADF-FF046F701E2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F4D905E-4C43-A357-5A02-E6C0A16E6C06}"/>
              </a:ext>
            </a:extLst>
          </p:cNvPr>
          <p:cNvSpPr>
            <a:spLocks noGrp="1"/>
          </p:cNvSpPr>
          <p:nvPr>
            <p:ph type="sldNum" sz="quarter" idx="5"/>
          </p:nvPr>
        </p:nvSpPr>
        <p:spPr/>
        <p:txBody>
          <a:bodyPr/>
          <a:lstStyle/>
          <a:p>
            <a:fld id="{C0C4EC02-08A1-4BB7-9482-3DE55B71A9E9}" type="slidenum">
              <a:rPr lang="en-IN" smtClean="0"/>
              <a:t>35</a:t>
            </a:fld>
            <a:endParaRPr lang="en-IN"/>
          </a:p>
        </p:txBody>
      </p:sp>
    </p:spTree>
    <p:extLst>
      <p:ext uri="{BB962C8B-B14F-4D97-AF65-F5344CB8AC3E}">
        <p14:creationId xmlns:p14="http://schemas.microsoft.com/office/powerpoint/2010/main" val="10767288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F27EA-9CF7-8547-2F18-B92DD070B0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53F847-68DC-60EB-03CE-7B92E6073E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74407F-141A-EC90-43D4-E26896A9010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BCB31D5-3005-52DE-2D01-2CAE1F9C6A67}"/>
              </a:ext>
            </a:extLst>
          </p:cNvPr>
          <p:cNvSpPr>
            <a:spLocks noGrp="1"/>
          </p:cNvSpPr>
          <p:nvPr>
            <p:ph type="sldNum" sz="quarter" idx="5"/>
          </p:nvPr>
        </p:nvSpPr>
        <p:spPr/>
        <p:txBody>
          <a:bodyPr/>
          <a:lstStyle/>
          <a:p>
            <a:fld id="{C0C4EC02-08A1-4BB7-9482-3DE55B71A9E9}" type="slidenum">
              <a:rPr lang="en-IN" smtClean="0"/>
              <a:t>36</a:t>
            </a:fld>
            <a:endParaRPr lang="en-IN"/>
          </a:p>
        </p:txBody>
      </p:sp>
    </p:spTree>
    <p:extLst>
      <p:ext uri="{BB962C8B-B14F-4D97-AF65-F5344CB8AC3E}">
        <p14:creationId xmlns:p14="http://schemas.microsoft.com/office/powerpoint/2010/main" val="6909088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D5FC5-1CED-D15B-A75F-B4880840FC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3A425A-21ED-8ADD-2F2E-3229FEFD0F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FAFEB7-B65C-579A-ABFC-3E0F3044539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905E5F6-77CB-5218-19B4-7577068A5A98}"/>
              </a:ext>
            </a:extLst>
          </p:cNvPr>
          <p:cNvSpPr>
            <a:spLocks noGrp="1"/>
          </p:cNvSpPr>
          <p:nvPr>
            <p:ph type="sldNum" sz="quarter" idx="5"/>
          </p:nvPr>
        </p:nvSpPr>
        <p:spPr/>
        <p:txBody>
          <a:bodyPr/>
          <a:lstStyle/>
          <a:p>
            <a:fld id="{C0C4EC02-08A1-4BB7-9482-3DE55B71A9E9}" type="slidenum">
              <a:rPr lang="en-IN" smtClean="0"/>
              <a:t>37</a:t>
            </a:fld>
            <a:endParaRPr lang="en-IN"/>
          </a:p>
        </p:txBody>
      </p:sp>
    </p:spTree>
    <p:extLst>
      <p:ext uri="{BB962C8B-B14F-4D97-AF65-F5344CB8AC3E}">
        <p14:creationId xmlns:p14="http://schemas.microsoft.com/office/powerpoint/2010/main" val="10125413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4C830-A47E-7649-3F0C-B24B55A14F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5C6660-5C0D-3E92-0257-AB196718F2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F5F7B1-3F70-7857-DB46-92CCC510011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0029B51-E7D9-8C5C-054C-E5C4CC23BB9A}"/>
              </a:ext>
            </a:extLst>
          </p:cNvPr>
          <p:cNvSpPr>
            <a:spLocks noGrp="1"/>
          </p:cNvSpPr>
          <p:nvPr>
            <p:ph type="sldNum" sz="quarter" idx="5"/>
          </p:nvPr>
        </p:nvSpPr>
        <p:spPr/>
        <p:txBody>
          <a:bodyPr/>
          <a:lstStyle/>
          <a:p>
            <a:fld id="{C0C4EC02-08A1-4BB7-9482-3DE55B71A9E9}" type="slidenum">
              <a:rPr lang="en-IN" smtClean="0"/>
              <a:t>38</a:t>
            </a:fld>
            <a:endParaRPr lang="en-IN"/>
          </a:p>
        </p:txBody>
      </p:sp>
    </p:spTree>
    <p:extLst>
      <p:ext uri="{BB962C8B-B14F-4D97-AF65-F5344CB8AC3E}">
        <p14:creationId xmlns:p14="http://schemas.microsoft.com/office/powerpoint/2010/main" val="20671331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AE6D7-D6F3-1783-11C2-2C898B1047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1047DA-0589-03B6-9427-363BB8C048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30904B-5BD8-F716-4D5B-C37786B9271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183E194-BB5E-F9E2-A86E-A1BA5B98EA8D}"/>
              </a:ext>
            </a:extLst>
          </p:cNvPr>
          <p:cNvSpPr>
            <a:spLocks noGrp="1"/>
          </p:cNvSpPr>
          <p:nvPr>
            <p:ph type="sldNum" sz="quarter" idx="5"/>
          </p:nvPr>
        </p:nvSpPr>
        <p:spPr/>
        <p:txBody>
          <a:bodyPr/>
          <a:lstStyle/>
          <a:p>
            <a:fld id="{C0C4EC02-08A1-4BB7-9482-3DE55B71A9E9}" type="slidenum">
              <a:rPr lang="en-IN" smtClean="0"/>
              <a:t>39</a:t>
            </a:fld>
            <a:endParaRPr lang="en-IN"/>
          </a:p>
        </p:txBody>
      </p:sp>
    </p:spTree>
    <p:extLst>
      <p:ext uri="{BB962C8B-B14F-4D97-AF65-F5344CB8AC3E}">
        <p14:creationId xmlns:p14="http://schemas.microsoft.com/office/powerpoint/2010/main" val="28893672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EC344-A0C9-99C8-6367-3C9161126A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BF7B69-FFB5-3FE3-965B-35032DE81B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3A6CE6-8B94-2B10-836C-2FC7FB4DB74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EF04999-B412-99CD-0EA4-79843CA01F31}"/>
              </a:ext>
            </a:extLst>
          </p:cNvPr>
          <p:cNvSpPr>
            <a:spLocks noGrp="1"/>
          </p:cNvSpPr>
          <p:nvPr>
            <p:ph type="sldNum" sz="quarter" idx="5"/>
          </p:nvPr>
        </p:nvSpPr>
        <p:spPr/>
        <p:txBody>
          <a:bodyPr/>
          <a:lstStyle/>
          <a:p>
            <a:fld id="{C0C4EC02-08A1-4BB7-9482-3DE55B71A9E9}" type="slidenum">
              <a:rPr lang="en-IN" smtClean="0"/>
              <a:t>40</a:t>
            </a:fld>
            <a:endParaRPr lang="en-IN"/>
          </a:p>
        </p:txBody>
      </p:sp>
    </p:spTree>
    <p:extLst>
      <p:ext uri="{BB962C8B-B14F-4D97-AF65-F5344CB8AC3E}">
        <p14:creationId xmlns:p14="http://schemas.microsoft.com/office/powerpoint/2010/main" val="11856477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5B36E-9B64-BE70-1A74-258715686E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E102B5-F96D-EDBA-378C-0F4BE4598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7C92B-C4CD-5CE6-64D0-FB338DDC23D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D7CA14F-5FE5-6BA5-C34F-1BF3EF58E5C9}"/>
              </a:ext>
            </a:extLst>
          </p:cNvPr>
          <p:cNvSpPr>
            <a:spLocks noGrp="1"/>
          </p:cNvSpPr>
          <p:nvPr>
            <p:ph type="sldNum" sz="quarter" idx="5"/>
          </p:nvPr>
        </p:nvSpPr>
        <p:spPr/>
        <p:txBody>
          <a:bodyPr/>
          <a:lstStyle/>
          <a:p>
            <a:fld id="{C0C4EC02-08A1-4BB7-9482-3DE55B71A9E9}" type="slidenum">
              <a:rPr lang="en-IN" smtClean="0"/>
              <a:t>41</a:t>
            </a:fld>
            <a:endParaRPr lang="en-IN"/>
          </a:p>
        </p:txBody>
      </p:sp>
    </p:spTree>
    <p:extLst>
      <p:ext uri="{BB962C8B-B14F-4D97-AF65-F5344CB8AC3E}">
        <p14:creationId xmlns:p14="http://schemas.microsoft.com/office/powerpoint/2010/main" val="34361086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7FE6C-8A54-17A3-4594-9D35D41B6B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7E7925-A4FF-E002-9FEB-9F303877A1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28E520-7F20-D90F-73E1-0806DAEF31D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3F6C44E-2FFC-1C75-13AB-E8D03C69B5B2}"/>
              </a:ext>
            </a:extLst>
          </p:cNvPr>
          <p:cNvSpPr>
            <a:spLocks noGrp="1"/>
          </p:cNvSpPr>
          <p:nvPr>
            <p:ph type="sldNum" sz="quarter" idx="5"/>
          </p:nvPr>
        </p:nvSpPr>
        <p:spPr/>
        <p:txBody>
          <a:bodyPr/>
          <a:lstStyle/>
          <a:p>
            <a:fld id="{C0C4EC02-08A1-4BB7-9482-3DE55B71A9E9}" type="slidenum">
              <a:rPr lang="en-IN" smtClean="0"/>
              <a:t>42</a:t>
            </a:fld>
            <a:endParaRPr lang="en-IN"/>
          </a:p>
        </p:txBody>
      </p:sp>
    </p:spTree>
    <p:extLst>
      <p:ext uri="{BB962C8B-B14F-4D97-AF65-F5344CB8AC3E}">
        <p14:creationId xmlns:p14="http://schemas.microsoft.com/office/powerpoint/2010/main" val="25063643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98ED2-6FAE-D4A6-099D-D53F6EEFDB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F8B388-2F57-9BB9-2123-B4FFC8DB61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9B2097-DC0F-9D48-D00F-4E1F2603DFB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0D0B1CA-2FA8-2304-FEBC-262312EA994B}"/>
              </a:ext>
            </a:extLst>
          </p:cNvPr>
          <p:cNvSpPr>
            <a:spLocks noGrp="1"/>
          </p:cNvSpPr>
          <p:nvPr>
            <p:ph type="sldNum" sz="quarter" idx="5"/>
          </p:nvPr>
        </p:nvSpPr>
        <p:spPr/>
        <p:txBody>
          <a:bodyPr/>
          <a:lstStyle/>
          <a:p>
            <a:fld id="{C0C4EC02-08A1-4BB7-9482-3DE55B71A9E9}" type="slidenum">
              <a:rPr lang="en-IN" smtClean="0"/>
              <a:t>43</a:t>
            </a:fld>
            <a:endParaRPr lang="en-IN"/>
          </a:p>
        </p:txBody>
      </p:sp>
    </p:spTree>
    <p:extLst>
      <p:ext uri="{BB962C8B-B14F-4D97-AF65-F5344CB8AC3E}">
        <p14:creationId xmlns:p14="http://schemas.microsoft.com/office/powerpoint/2010/main" val="41588817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DB907-44D7-963F-1BFC-179C7126B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DDD434-673D-EDA3-A072-24946553A6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7341B5-5FAA-F246-9924-9A87CF9A406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4A6190F-9BC7-E5B8-0981-0A975A5306C5}"/>
              </a:ext>
            </a:extLst>
          </p:cNvPr>
          <p:cNvSpPr>
            <a:spLocks noGrp="1"/>
          </p:cNvSpPr>
          <p:nvPr>
            <p:ph type="sldNum" sz="quarter" idx="5"/>
          </p:nvPr>
        </p:nvSpPr>
        <p:spPr/>
        <p:txBody>
          <a:bodyPr/>
          <a:lstStyle/>
          <a:p>
            <a:fld id="{C0C4EC02-08A1-4BB7-9482-3DE55B71A9E9}" type="slidenum">
              <a:rPr lang="en-IN" smtClean="0"/>
              <a:t>44</a:t>
            </a:fld>
            <a:endParaRPr lang="en-IN"/>
          </a:p>
        </p:txBody>
      </p:sp>
    </p:spTree>
    <p:extLst>
      <p:ext uri="{BB962C8B-B14F-4D97-AF65-F5344CB8AC3E}">
        <p14:creationId xmlns:p14="http://schemas.microsoft.com/office/powerpoint/2010/main" val="33430149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3A6D9-D234-1E3B-D711-A278013F2D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023F3A-9E56-730C-D1A1-401D70AE20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BDBDA-806A-4FA9-4081-EB75393FC85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FCEB8D4-EEB4-23A8-727A-B7307431F019}"/>
              </a:ext>
            </a:extLst>
          </p:cNvPr>
          <p:cNvSpPr>
            <a:spLocks noGrp="1"/>
          </p:cNvSpPr>
          <p:nvPr>
            <p:ph type="sldNum" sz="quarter" idx="5"/>
          </p:nvPr>
        </p:nvSpPr>
        <p:spPr/>
        <p:txBody>
          <a:bodyPr/>
          <a:lstStyle/>
          <a:p>
            <a:fld id="{C0C4EC02-08A1-4BB7-9482-3DE55B71A9E9}" type="slidenum">
              <a:rPr lang="en-IN" smtClean="0"/>
              <a:t>45</a:t>
            </a:fld>
            <a:endParaRPr lang="en-IN"/>
          </a:p>
        </p:txBody>
      </p:sp>
    </p:spTree>
    <p:extLst>
      <p:ext uri="{BB962C8B-B14F-4D97-AF65-F5344CB8AC3E}">
        <p14:creationId xmlns:p14="http://schemas.microsoft.com/office/powerpoint/2010/main" val="30050814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60CC7-DFCA-630C-8700-62F6F47DC8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C300EF-4855-4435-5AD9-E1127A36C2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9CE51-1D7E-E0DB-5E00-6E6731FEA0A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4B8198E-F12C-F3E8-02AC-6FCCAA445B44}"/>
              </a:ext>
            </a:extLst>
          </p:cNvPr>
          <p:cNvSpPr>
            <a:spLocks noGrp="1"/>
          </p:cNvSpPr>
          <p:nvPr>
            <p:ph type="sldNum" sz="quarter" idx="5"/>
          </p:nvPr>
        </p:nvSpPr>
        <p:spPr/>
        <p:txBody>
          <a:bodyPr/>
          <a:lstStyle/>
          <a:p>
            <a:fld id="{C0C4EC02-08A1-4BB7-9482-3DE55B71A9E9}" type="slidenum">
              <a:rPr lang="en-IN" smtClean="0"/>
              <a:t>46</a:t>
            </a:fld>
            <a:endParaRPr lang="en-IN"/>
          </a:p>
        </p:txBody>
      </p:sp>
    </p:spTree>
    <p:extLst>
      <p:ext uri="{BB962C8B-B14F-4D97-AF65-F5344CB8AC3E}">
        <p14:creationId xmlns:p14="http://schemas.microsoft.com/office/powerpoint/2010/main" val="251675973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5B537-0742-1A7E-69AC-E99F245552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219BEB-FAC7-EF1A-0316-D8E375E1EB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C8E98B-44C4-5A5C-1C90-948498B0E42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D01FD57-95CE-7802-FC02-1BD13FD95943}"/>
              </a:ext>
            </a:extLst>
          </p:cNvPr>
          <p:cNvSpPr>
            <a:spLocks noGrp="1"/>
          </p:cNvSpPr>
          <p:nvPr>
            <p:ph type="sldNum" sz="quarter" idx="5"/>
          </p:nvPr>
        </p:nvSpPr>
        <p:spPr/>
        <p:txBody>
          <a:bodyPr/>
          <a:lstStyle/>
          <a:p>
            <a:fld id="{C0C4EC02-08A1-4BB7-9482-3DE55B71A9E9}" type="slidenum">
              <a:rPr lang="en-IN" smtClean="0"/>
              <a:t>47</a:t>
            </a:fld>
            <a:endParaRPr lang="en-IN"/>
          </a:p>
        </p:txBody>
      </p:sp>
    </p:spTree>
    <p:extLst>
      <p:ext uri="{BB962C8B-B14F-4D97-AF65-F5344CB8AC3E}">
        <p14:creationId xmlns:p14="http://schemas.microsoft.com/office/powerpoint/2010/main" val="122863292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8EC47-5DBC-2B71-47E3-84AD1390B8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E9E9E-6E98-7B3F-CC17-E5ACD39064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C389A0-7A6F-27FA-D7AE-D3298DC737D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C8ABD8B-2D11-99FD-575E-B62F5F84F838}"/>
              </a:ext>
            </a:extLst>
          </p:cNvPr>
          <p:cNvSpPr>
            <a:spLocks noGrp="1"/>
          </p:cNvSpPr>
          <p:nvPr>
            <p:ph type="sldNum" sz="quarter" idx="5"/>
          </p:nvPr>
        </p:nvSpPr>
        <p:spPr/>
        <p:txBody>
          <a:bodyPr/>
          <a:lstStyle/>
          <a:p>
            <a:fld id="{C0C4EC02-08A1-4BB7-9482-3DE55B71A9E9}" type="slidenum">
              <a:rPr lang="en-IN" smtClean="0"/>
              <a:t>48</a:t>
            </a:fld>
            <a:endParaRPr lang="en-IN"/>
          </a:p>
        </p:txBody>
      </p:sp>
    </p:spTree>
    <p:extLst>
      <p:ext uri="{BB962C8B-B14F-4D97-AF65-F5344CB8AC3E}">
        <p14:creationId xmlns:p14="http://schemas.microsoft.com/office/powerpoint/2010/main" val="35446063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9211E-4E7A-905B-D0DA-A6F3030563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641B06-C571-CB32-44CE-821E0331E6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CA1C61-4F5E-C52F-8764-DDCBBAAF780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61A9944-2935-369F-B4A8-92EA9DA81AE3}"/>
              </a:ext>
            </a:extLst>
          </p:cNvPr>
          <p:cNvSpPr>
            <a:spLocks noGrp="1"/>
          </p:cNvSpPr>
          <p:nvPr>
            <p:ph type="sldNum" sz="quarter" idx="5"/>
          </p:nvPr>
        </p:nvSpPr>
        <p:spPr/>
        <p:txBody>
          <a:bodyPr/>
          <a:lstStyle/>
          <a:p>
            <a:fld id="{C0C4EC02-08A1-4BB7-9482-3DE55B71A9E9}" type="slidenum">
              <a:rPr lang="en-IN" smtClean="0"/>
              <a:t>49</a:t>
            </a:fld>
            <a:endParaRPr lang="en-IN"/>
          </a:p>
        </p:txBody>
      </p:sp>
    </p:spTree>
    <p:extLst>
      <p:ext uri="{BB962C8B-B14F-4D97-AF65-F5344CB8AC3E}">
        <p14:creationId xmlns:p14="http://schemas.microsoft.com/office/powerpoint/2010/main" val="1374539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B3078-1230-40AA-9154-51D66D94E4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09FB80B-1150-7CC3-4F4E-56D2A8F553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A309F3F-7FF6-58AA-E247-DEAC8D3B81C4}"/>
              </a:ext>
            </a:extLst>
          </p:cNvPr>
          <p:cNvSpPr>
            <a:spLocks noGrp="1"/>
          </p:cNvSpPr>
          <p:nvPr>
            <p:ph type="dt" sz="half" idx="10"/>
          </p:nvPr>
        </p:nvSpPr>
        <p:spPr/>
        <p:txBody>
          <a:bodyPr/>
          <a:lstStyle/>
          <a:p>
            <a:fld id="{2916D268-04BE-4CF1-B7E9-F76124CCF66B}" type="datetimeFigureOut">
              <a:rPr lang="en-IN" smtClean="0"/>
              <a:t>27-10-2026</a:t>
            </a:fld>
            <a:endParaRPr lang="en-IN"/>
          </a:p>
        </p:txBody>
      </p:sp>
      <p:sp>
        <p:nvSpPr>
          <p:cNvPr id="5" name="Footer Placeholder 4">
            <a:extLst>
              <a:ext uri="{FF2B5EF4-FFF2-40B4-BE49-F238E27FC236}">
                <a16:creationId xmlns:a16="http://schemas.microsoft.com/office/drawing/2014/main" id="{14983D8E-5255-9986-8F46-4115478DF2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D2BD01-4B04-71DD-B358-660372E37648}"/>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508374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82202-8B14-16DB-F225-177DD14B96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C644B2-3205-4627-AB00-B7DFF5ECE2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65873A-0084-DAEE-0328-C92A3F5652CC}"/>
              </a:ext>
            </a:extLst>
          </p:cNvPr>
          <p:cNvSpPr>
            <a:spLocks noGrp="1"/>
          </p:cNvSpPr>
          <p:nvPr>
            <p:ph type="dt" sz="half" idx="10"/>
          </p:nvPr>
        </p:nvSpPr>
        <p:spPr/>
        <p:txBody>
          <a:bodyPr/>
          <a:lstStyle/>
          <a:p>
            <a:fld id="{2916D268-04BE-4CF1-B7E9-F76124CCF66B}" type="datetimeFigureOut">
              <a:rPr lang="en-IN" smtClean="0"/>
              <a:t>27-10-2026</a:t>
            </a:fld>
            <a:endParaRPr lang="en-IN"/>
          </a:p>
        </p:txBody>
      </p:sp>
      <p:sp>
        <p:nvSpPr>
          <p:cNvPr id="5" name="Footer Placeholder 4">
            <a:extLst>
              <a:ext uri="{FF2B5EF4-FFF2-40B4-BE49-F238E27FC236}">
                <a16:creationId xmlns:a16="http://schemas.microsoft.com/office/drawing/2014/main" id="{2535E1CB-9F05-8F1A-1D0D-8026E3744F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EBFA9C-E5DE-51EB-D8BC-83A35CE3964C}"/>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964229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99037-5F7E-D40C-EEAA-0056FF40EC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3F1AEA9-A41B-C7F0-24FF-F55C9E0DD0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9FF7DC-459D-BAC9-BC3F-754048BA265D}"/>
              </a:ext>
            </a:extLst>
          </p:cNvPr>
          <p:cNvSpPr>
            <a:spLocks noGrp="1"/>
          </p:cNvSpPr>
          <p:nvPr>
            <p:ph type="dt" sz="half" idx="10"/>
          </p:nvPr>
        </p:nvSpPr>
        <p:spPr/>
        <p:txBody>
          <a:bodyPr/>
          <a:lstStyle/>
          <a:p>
            <a:fld id="{2916D268-04BE-4CF1-B7E9-F76124CCF66B}" type="datetimeFigureOut">
              <a:rPr lang="en-IN" smtClean="0"/>
              <a:t>27-10-2026</a:t>
            </a:fld>
            <a:endParaRPr lang="en-IN"/>
          </a:p>
        </p:txBody>
      </p:sp>
      <p:sp>
        <p:nvSpPr>
          <p:cNvPr id="5" name="Footer Placeholder 4">
            <a:extLst>
              <a:ext uri="{FF2B5EF4-FFF2-40B4-BE49-F238E27FC236}">
                <a16:creationId xmlns:a16="http://schemas.microsoft.com/office/drawing/2014/main" id="{A26A97DE-7156-7B9A-EC56-552A61CC84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2ABBD4-AE79-F186-C1CE-4FDCD47919B0}"/>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1245338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276D1-12EF-EEC7-1DCF-6B4B2E539A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632162-BF22-7A0A-1792-6528BC93A9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7F30F3C-6922-6B20-82C6-0D19982694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B318B54-CB11-9E70-D590-26BE7E51EC97}"/>
              </a:ext>
            </a:extLst>
          </p:cNvPr>
          <p:cNvSpPr>
            <a:spLocks noGrp="1"/>
          </p:cNvSpPr>
          <p:nvPr>
            <p:ph type="dt" sz="half" idx="10"/>
          </p:nvPr>
        </p:nvSpPr>
        <p:spPr/>
        <p:txBody>
          <a:bodyPr/>
          <a:lstStyle/>
          <a:p>
            <a:fld id="{2916D268-04BE-4CF1-B7E9-F76124CCF66B}" type="datetimeFigureOut">
              <a:rPr lang="en-IN" smtClean="0"/>
              <a:t>27-10-2026</a:t>
            </a:fld>
            <a:endParaRPr lang="en-IN"/>
          </a:p>
        </p:txBody>
      </p:sp>
      <p:sp>
        <p:nvSpPr>
          <p:cNvPr id="6" name="Footer Placeholder 5">
            <a:extLst>
              <a:ext uri="{FF2B5EF4-FFF2-40B4-BE49-F238E27FC236}">
                <a16:creationId xmlns:a16="http://schemas.microsoft.com/office/drawing/2014/main" id="{E831B8D6-2CFC-536F-2E34-E950C87C63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8E10AE-32E3-B57A-75B2-D7D4F67C173D}"/>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2881615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4C348-A752-92FA-F583-6057EEF8887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5A314A-F119-432E-23CC-A76196A405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FFBE62-EBD4-236A-8210-276554F26E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5A5908F-0C87-0D69-B821-C5D43D642A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52BBBD-9E1F-ADC9-2ADB-0A3083F1E5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6362DD1-B0E5-66FC-3D82-470361DBDDB1}"/>
              </a:ext>
            </a:extLst>
          </p:cNvPr>
          <p:cNvSpPr>
            <a:spLocks noGrp="1"/>
          </p:cNvSpPr>
          <p:nvPr>
            <p:ph type="dt" sz="half" idx="10"/>
          </p:nvPr>
        </p:nvSpPr>
        <p:spPr/>
        <p:txBody>
          <a:bodyPr/>
          <a:lstStyle/>
          <a:p>
            <a:fld id="{2916D268-04BE-4CF1-B7E9-F76124CCF66B}" type="datetimeFigureOut">
              <a:rPr lang="en-IN" smtClean="0"/>
              <a:t>27-10-2026</a:t>
            </a:fld>
            <a:endParaRPr lang="en-IN"/>
          </a:p>
        </p:txBody>
      </p:sp>
      <p:sp>
        <p:nvSpPr>
          <p:cNvPr id="8" name="Footer Placeholder 7">
            <a:extLst>
              <a:ext uri="{FF2B5EF4-FFF2-40B4-BE49-F238E27FC236}">
                <a16:creationId xmlns:a16="http://schemas.microsoft.com/office/drawing/2014/main" id="{D380B0DA-1BB7-9AAB-DEBA-1DC999DDC70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DAB40CE-BE35-287A-F36C-C19D03882CD5}"/>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2327769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49B21-3466-54E0-59EC-B4AD436AA8B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B98375B-D5EC-9CB2-65D2-96D2D114A273}"/>
              </a:ext>
            </a:extLst>
          </p:cNvPr>
          <p:cNvSpPr>
            <a:spLocks noGrp="1"/>
          </p:cNvSpPr>
          <p:nvPr>
            <p:ph type="dt" sz="half" idx="10"/>
          </p:nvPr>
        </p:nvSpPr>
        <p:spPr/>
        <p:txBody>
          <a:bodyPr/>
          <a:lstStyle/>
          <a:p>
            <a:fld id="{2916D268-04BE-4CF1-B7E9-F76124CCF66B}" type="datetimeFigureOut">
              <a:rPr lang="en-IN" smtClean="0"/>
              <a:t>27-10-2026</a:t>
            </a:fld>
            <a:endParaRPr lang="en-IN"/>
          </a:p>
        </p:txBody>
      </p:sp>
      <p:sp>
        <p:nvSpPr>
          <p:cNvPr id="4" name="Footer Placeholder 3">
            <a:extLst>
              <a:ext uri="{FF2B5EF4-FFF2-40B4-BE49-F238E27FC236}">
                <a16:creationId xmlns:a16="http://schemas.microsoft.com/office/drawing/2014/main" id="{98F15CE6-BCE8-A891-222D-FAEBCDDC974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CCBBE4E-52BD-5CB3-9CEF-187CF355F1F1}"/>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2731020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1B8B6D-D70A-BAAF-8E6C-E5BEE674CE77}"/>
              </a:ext>
            </a:extLst>
          </p:cNvPr>
          <p:cNvSpPr>
            <a:spLocks noGrp="1"/>
          </p:cNvSpPr>
          <p:nvPr>
            <p:ph type="dt" sz="half" idx="10"/>
          </p:nvPr>
        </p:nvSpPr>
        <p:spPr/>
        <p:txBody>
          <a:bodyPr/>
          <a:lstStyle/>
          <a:p>
            <a:fld id="{2916D268-04BE-4CF1-B7E9-F76124CCF66B}" type="datetimeFigureOut">
              <a:rPr lang="en-IN" smtClean="0"/>
              <a:t>27-10-2026</a:t>
            </a:fld>
            <a:endParaRPr lang="en-IN"/>
          </a:p>
        </p:txBody>
      </p:sp>
      <p:sp>
        <p:nvSpPr>
          <p:cNvPr id="3" name="Footer Placeholder 2">
            <a:extLst>
              <a:ext uri="{FF2B5EF4-FFF2-40B4-BE49-F238E27FC236}">
                <a16:creationId xmlns:a16="http://schemas.microsoft.com/office/drawing/2014/main" id="{295FD6F6-42F1-D3D8-185E-063126E9B0F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F93CBA0-ED4E-5DD4-7D78-9BD0156357F9}"/>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1878107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93E6B-2C90-86F2-CA7B-715CA2CEA6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A66E1AC-6A7F-1188-A701-F1ECDF2ADE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46D49EB-BD11-D2F4-A754-B266F181E8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8C64D9-862B-31C4-14F4-3FC72B3EF722}"/>
              </a:ext>
            </a:extLst>
          </p:cNvPr>
          <p:cNvSpPr>
            <a:spLocks noGrp="1"/>
          </p:cNvSpPr>
          <p:nvPr>
            <p:ph type="dt" sz="half" idx="10"/>
          </p:nvPr>
        </p:nvSpPr>
        <p:spPr/>
        <p:txBody>
          <a:bodyPr/>
          <a:lstStyle/>
          <a:p>
            <a:fld id="{2916D268-04BE-4CF1-B7E9-F76124CCF66B}" type="datetimeFigureOut">
              <a:rPr lang="en-IN" smtClean="0"/>
              <a:t>27-10-2026</a:t>
            </a:fld>
            <a:endParaRPr lang="en-IN"/>
          </a:p>
        </p:txBody>
      </p:sp>
      <p:sp>
        <p:nvSpPr>
          <p:cNvPr id="6" name="Footer Placeholder 5">
            <a:extLst>
              <a:ext uri="{FF2B5EF4-FFF2-40B4-BE49-F238E27FC236}">
                <a16:creationId xmlns:a16="http://schemas.microsoft.com/office/drawing/2014/main" id="{FD28426B-26B9-D495-AB3C-FA3D50C0FB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986EB6-9956-CDA2-66A3-E6FA5D608BD1}"/>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257230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608A3-2970-2D3A-A96E-0DF3D59710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9888D44-A330-5C2A-5236-A348609694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CC5EA94-CABC-9FD9-E713-F94371D000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4497DD-B45D-03EF-36CA-41F943521A1F}"/>
              </a:ext>
            </a:extLst>
          </p:cNvPr>
          <p:cNvSpPr>
            <a:spLocks noGrp="1"/>
          </p:cNvSpPr>
          <p:nvPr>
            <p:ph type="dt" sz="half" idx="10"/>
          </p:nvPr>
        </p:nvSpPr>
        <p:spPr/>
        <p:txBody>
          <a:bodyPr/>
          <a:lstStyle/>
          <a:p>
            <a:fld id="{2916D268-04BE-4CF1-B7E9-F76124CCF66B}" type="datetimeFigureOut">
              <a:rPr lang="en-IN" smtClean="0"/>
              <a:t>27-10-2026</a:t>
            </a:fld>
            <a:endParaRPr lang="en-IN"/>
          </a:p>
        </p:txBody>
      </p:sp>
      <p:sp>
        <p:nvSpPr>
          <p:cNvPr id="6" name="Footer Placeholder 5">
            <a:extLst>
              <a:ext uri="{FF2B5EF4-FFF2-40B4-BE49-F238E27FC236}">
                <a16:creationId xmlns:a16="http://schemas.microsoft.com/office/drawing/2014/main" id="{CAD94941-878A-EF6B-D4E8-2F91C5D3E4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985FB4-1998-3E9F-B784-9A773DC0E0E8}"/>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2763080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C905A-1DB0-5CD8-67F8-6216EBC5801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36E195A-7197-FA1F-2382-E497C27EDA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CC26E7-5221-CF69-AAF3-3CDD7FB06D7C}"/>
              </a:ext>
            </a:extLst>
          </p:cNvPr>
          <p:cNvSpPr>
            <a:spLocks noGrp="1"/>
          </p:cNvSpPr>
          <p:nvPr>
            <p:ph type="dt" sz="half" idx="10"/>
          </p:nvPr>
        </p:nvSpPr>
        <p:spPr/>
        <p:txBody>
          <a:bodyPr/>
          <a:lstStyle/>
          <a:p>
            <a:fld id="{2916D268-04BE-4CF1-B7E9-F76124CCF66B}" type="datetimeFigureOut">
              <a:rPr lang="en-IN" smtClean="0"/>
              <a:t>27-10-2026</a:t>
            </a:fld>
            <a:endParaRPr lang="en-IN"/>
          </a:p>
        </p:txBody>
      </p:sp>
      <p:sp>
        <p:nvSpPr>
          <p:cNvPr id="5" name="Footer Placeholder 4">
            <a:extLst>
              <a:ext uri="{FF2B5EF4-FFF2-40B4-BE49-F238E27FC236}">
                <a16:creationId xmlns:a16="http://schemas.microsoft.com/office/drawing/2014/main" id="{59769010-0FDD-5B0F-E7EB-974E9EE85B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4A59EB-C21A-17F5-678B-999283E8EF74}"/>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24326076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E1DEBE-64FA-589C-D36E-E80607571CF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546FC43-EAA7-0EDF-DAC3-2A04740C1D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DAE799-024C-93E2-0A75-497BD8EB3E09}"/>
              </a:ext>
            </a:extLst>
          </p:cNvPr>
          <p:cNvSpPr>
            <a:spLocks noGrp="1"/>
          </p:cNvSpPr>
          <p:nvPr>
            <p:ph type="dt" sz="half" idx="10"/>
          </p:nvPr>
        </p:nvSpPr>
        <p:spPr/>
        <p:txBody>
          <a:bodyPr/>
          <a:lstStyle/>
          <a:p>
            <a:fld id="{2916D268-04BE-4CF1-B7E9-F76124CCF66B}" type="datetimeFigureOut">
              <a:rPr lang="en-IN" smtClean="0"/>
              <a:t>27-10-2026</a:t>
            </a:fld>
            <a:endParaRPr lang="en-IN"/>
          </a:p>
        </p:txBody>
      </p:sp>
      <p:sp>
        <p:nvSpPr>
          <p:cNvPr id="5" name="Footer Placeholder 4">
            <a:extLst>
              <a:ext uri="{FF2B5EF4-FFF2-40B4-BE49-F238E27FC236}">
                <a16:creationId xmlns:a16="http://schemas.microsoft.com/office/drawing/2014/main" id="{97653C97-867C-3B75-13DF-D32C313C1A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E424AB-693A-27C0-44C8-72784BFB5491}"/>
              </a:ext>
            </a:extLst>
          </p:cNvPr>
          <p:cNvSpPr>
            <a:spLocks noGrp="1"/>
          </p:cNvSpPr>
          <p:nvPr>
            <p:ph type="sldNum" sz="quarter" idx="12"/>
          </p:nvPr>
        </p:nvSpPr>
        <p:spPr/>
        <p:txBody>
          <a:bodyPr/>
          <a:lstStyle/>
          <a:p>
            <a:fld id="{A610666C-CCA1-46B1-89B7-E3387790A567}" type="slidenum">
              <a:rPr lang="en-IN" smtClean="0"/>
              <a:t>‹#›</a:t>
            </a:fld>
            <a:endParaRPr lang="en-IN"/>
          </a:p>
        </p:txBody>
      </p:sp>
    </p:spTree>
    <p:extLst>
      <p:ext uri="{BB962C8B-B14F-4D97-AF65-F5344CB8AC3E}">
        <p14:creationId xmlns:p14="http://schemas.microsoft.com/office/powerpoint/2010/main" val="2433187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B662AE-A283-4210-A4F0-06E50ECBD8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11C0C3-9764-A13F-258A-A021C18243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438176-4575-E941-1BF1-9159C15162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16D268-04BE-4CF1-B7E9-F76124CCF66B}" type="datetimeFigureOut">
              <a:rPr lang="en-IN" smtClean="0"/>
              <a:t>27-10-2026</a:t>
            </a:fld>
            <a:endParaRPr lang="en-IN"/>
          </a:p>
        </p:txBody>
      </p:sp>
      <p:sp>
        <p:nvSpPr>
          <p:cNvPr id="5" name="Footer Placeholder 4">
            <a:extLst>
              <a:ext uri="{FF2B5EF4-FFF2-40B4-BE49-F238E27FC236}">
                <a16:creationId xmlns:a16="http://schemas.microsoft.com/office/drawing/2014/main" id="{55C9EF3C-15E4-57A5-DE8A-1C715267C9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16A8035-B40F-1AFD-9B15-722EB92BC9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10666C-CCA1-46B1-89B7-E3387790A567}" type="slidenum">
              <a:rPr lang="en-IN" smtClean="0"/>
              <a:t>‹#›</a:t>
            </a:fld>
            <a:endParaRPr lang="en-IN"/>
          </a:p>
        </p:txBody>
      </p:sp>
    </p:spTree>
    <p:extLst>
      <p:ext uri="{BB962C8B-B14F-4D97-AF65-F5344CB8AC3E}">
        <p14:creationId xmlns:p14="http://schemas.microsoft.com/office/powerpoint/2010/main" val="3234360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themeOverride" Target="../theme/themeOverride1.xml"/><Relationship Id="rId6" Type="http://schemas.microsoft.com/office/2007/relationships/hdphoto" Target="../media/hdphoto2.wdp"/><Relationship Id="rId5" Type="http://schemas.openxmlformats.org/officeDocument/2006/relationships/image" Target="../media/image25.pn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microsoft.com/office/2007/relationships/hdphoto" Target="../media/hdphoto3.wdp"/><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93D608-D37F-AFD1-3811-B3622210216F}"/>
              </a:ext>
            </a:extLst>
          </p:cNvPr>
          <p:cNvSpPr txBox="1"/>
          <p:nvPr/>
        </p:nvSpPr>
        <p:spPr>
          <a:xfrm>
            <a:off x="0" y="1034911"/>
            <a:ext cx="12192000" cy="1384995"/>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Implementing MLFFs/MLIPs on</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Molten Cu-In Nanoparticle Systems to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Model Growth of Carbon Nanotubes</a:t>
            </a:r>
          </a:p>
        </p:txBody>
      </p:sp>
      <p:pic>
        <p:nvPicPr>
          <p:cNvPr id="3" name="Picture 2" descr="सञ्चिका:IIT Kanpur Logo.png - विकिपीडिया">
            <a:extLst>
              <a:ext uri="{FF2B5EF4-FFF2-40B4-BE49-F238E27FC236}">
                <a16:creationId xmlns:a16="http://schemas.microsoft.com/office/drawing/2014/main" id="{AB7AD2C9-3954-C0C5-D01F-7C3A5D551A2E}"/>
              </a:ext>
            </a:extLst>
          </p:cNvPr>
          <p:cNvPicPr>
            <a:picLocks noChangeAspect="1"/>
          </p:cNvPicPr>
          <p:nvPr/>
        </p:nvPicPr>
        <p:blipFill>
          <a:blip r:embed="rId2"/>
          <a:stretch>
            <a:fillRect/>
          </a:stretch>
        </p:blipFill>
        <p:spPr>
          <a:xfrm>
            <a:off x="5650088" y="2983092"/>
            <a:ext cx="891815" cy="891815"/>
          </a:xfrm>
          <a:prstGeom prst="rect">
            <a:avLst/>
          </a:prstGeom>
        </p:spPr>
      </p:pic>
      <p:sp>
        <p:nvSpPr>
          <p:cNvPr id="5" name="TextBox 4">
            <a:extLst>
              <a:ext uri="{FF2B5EF4-FFF2-40B4-BE49-F238E27FC236}">
                <a16:creationId xmlns:a16="http://schemas.microsoft.com/office/drawing/2014/main" id="{47876B8C-E86E-FC9F-991C-EBFB9391933C}"/>
              </a:ext>
            </a:extLst>
          </p:cNvPr>
          <p:cNvSpPr txBox="1"/>
          <p:nvPr/>
        </p:nvSpPr>
        <p:spPr>
          <a:xfrm>
            <a:off x="10170756" y="5779254"/>
            <a:ext cx="2543175" cy="861774"/>
          </a:xfrm>
          <a:prstGeom prst="rect">
            <a:avLst/>
          </a:prstGeom>
          <a:noFill/>
        </p:spPr>
        <p:txBody>
          <a:bodyPr wrap="square" rtlCol="0">
            <a:spAutoFit/>
          </a:bodyPr>
          <a:lstStyle/>
          <a:p>
            <a:r>
              <a:rPr lang="en-IN" sz="1600">
                <a:latin typeface="Times New Roman" panose="02020603050405020304" pitchFamily="18" charset="0"/>
                <a:cs typeface="Times New Roman" panose="02020603050405020304" pitchFamily="18" charset="0"/>
              </a:rPr>
              <a:t>Anmol Bansal</a:t>
            </a:r>
          </a:p>
          <a:p>
            <a:r>
              <a:rPr lang="en-IN" sz="1600">
                <a:latin typeface="Times New Roman" panose="02020603050405020304" pitchFamily="18" charset="0"/>
                <a:cs typeface="Times New Roman" panose="02020603050405020304" pitchFamily="18" charset="0"/>
              </a:rPr>
              <a:t>Sourish Das</a:t>
            </a:r>
          </a:p>
          <a:p>
            <a:r>
              <a:rPr lang="en-IN" sz="1600">
                <a:latin typeface="Times New Roman" panose="02020603050405020304" pitchFamily="18" charset="0"/>
                <a:cs typeface="Times New Roman" panose="02020603050405020304" pitchFamily="18" charset="0"/>
              </a:rPr>
              <a:t>Shreshth Gupta</a:t>
            </a:r>
          </a:p>
        </p:txBody>
      </p:sp>
      <p:sp>
        <p:nvSpPr>
          <p:cNvPr id="4" name="TextBox 3">
            <a:extLst>
              <a:ext uri="{FF2B5EF4-FFF2-40B4-BE49-F238E27FC236}">
                <a16:creationId xmlns:a16="http://schemas.microsoft.com/office/drawing/2014/main" id="{B912F274-1FCE-2DE5-F3C0-32A2C64DAFAE}"/>
              </a:ext>
            </a:extLst>
          </p:cNvPr>
          <p:cNvSpPr txBox="1"/>
          <p:nvPr/>
        </p:nvSpPr>
        <p:spPr>
          <a:xfrm>
            <a:off x="-4" y="4208374"/>
            <a:ext cx="12192000" cy="1323439"/>
          </a:xfrm>
          <a:prstGeom prst="rect">
            <a:avLst/>
          </a:prstGeom>
          <a:noFill/>
        </p:spPr>
        <p:txBody>
          <a:bodyPr wrap="square" rtlCol="0">
            <a:spAutoFit/>
          </a:bodyPr>
          <a:lstStyle/>
          <a:p>
            <a:pPr algn="ctr"/>
            <a:r>
              <a:rPr lang="en-IN" sz="2000" u="sng">
                <a:latin typeface="Times New Roman" panose="02020603050405020304" pitchFamily="18" charset="0"/>
                <a:cs typeface="Times New Roman" panose="02020603050405020304" pitchFamily="18" charset="0"/>
              </a:rPr>
              <a:t>Supervised by:</a:t>
            </a:r>
            <a:br>
              <a:rPr lang="en-IN" sz="2000" u="sng">
                <a:latin typeface="Times New Roman" panose="02020603050405020304" pitchFamily="18" charset="0"/>
                <a:cs typeface="Times New Roman" panose="02020603050405020304" pitchFamily="18" charset="0"/>
              </a:rPr>
            </a:br>
            <a:r>
              <a:rPr lang="en-IN" sz="2000">
                <a:latin typeface="Times New Roman" panose="02020603050405020304" pitchFamily="18" charset="0"/>
                <a:cs typeface="Times New Roman" panose="02020603050405020304" pitchFamily="18" charset="0"/>
              </a:rPr>
              <a:t>Dr. Vishal Agarwal</a:t>
            </a:r>
            <a:br>
              <a:rPr lang="en-IN" sz="2000">
                <a:latin typeface="Times New Roman" panose="02020603050405020304" pitchFamily="18" charset="0"/>
                <a:cs typeface="Times New Roman" panose="02020603050405020304" pitchFamily="18" charset="0"/>
              </a:rPr>
            </a:br>
            <a:r>
              <a:rPr lang="en-IN" sz="2000">
                <a:latin typeface="Times New Roman" panose="02020603050405020304" pitchFamily="18" charset="0"/>
                <a:cs typeface="Times New Roman" panose="02020603050405020304" pitchFamily="18" charset="0"/>
              </a:rPr>
              <a:t>Department of Chemical Engineering</a:t>
            </a:r>
            <a:br>
              <a:rPr lang="en-IN" sz="2000">
                <a:latin typeface="Times New Roman" panose="02020603050405020304" pitchFamily="18" charset="0"/>
                <a:cs typeface="Times New Roman" panose="02020603050405020304" pitchFamily="18" charset="0"/>
              </a:rPr>
            </a:br>
            <a:r>
              <a:rPr lang="en-IN" sz="2000">
                <a:latin typeface="Times New Roman" panose="02020603050405020304" pitchFamily="18" charset="0"/>
                <a:cs typeface="Times New Roman" panose="02020603050405020304" pitchFamily="18" charset="0"/>
              </a:rPr>
              <a:t>IIT Kanpur</a:t>
            </a:r>
          </a:p>
        </p:txBody>
      </p:sp>
    </p:spTree>
    <p:extLst>
      <p:ext uri="{BB962C8B-B14F-4D97-AF65-F5344CB8AC3E}">
        <p14:creationId xmlns:p14="http://schemas.microsoft.com/office/powerpoint/2010/main" val="3086451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538A4-996A-4FC7-AB47-A08A2CECE82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A047610-6905-6C69-ECBA-70C719E035FC}"/>
              </a:ext>
            </a:extLst>
          </p:cNvPr>
          <p:cNvSpPr txBox="1"/>
          <p:nvPr/>
        </p:nvSpPr>
        <p:spPr>
          <a:xfrm>
            <a:off x="0" y="2521059"/>
            <a:ext cx="12192000" cy="1815882"/>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Part 1:</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Introduction to</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Machine-Learned Force Fields (MLFFs)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Interatomic Potentials (MLIPs)</a:t>
            </a:r>
          </a:p>
        </p:txBody>
      </p:sp>
      <p:pic>
        <p:nvPicPr>
          <p:cNvPr id="8" name="Picture 7" descr="सञ्चिका:IIT Kanpur Logo.png - विकिपीडिया">
            <a:extLst>
              <a:ext uri="{FF2B5EF4-FFF2-40B4-BE49-F238E27FC236}">
                <a16:creationId xmlns:a16="http://schemas.microsoft.com/office/drawing/2014/main" id="{94495058-08B0-C536-8F15-AB6795A9EB4B}"/>
              </a:ext>
            </a:extLst>
          </p:cNvPr>
          <p:cNvPicPr>
            <a:picLocks noChangeAspect="1"/>
          </p:cNvPicPr>
          <p:nvPr/>
        </p:nvPicPr>
        <p:blipFill>
          <a:blip r:embed="rId3"/>
          <a:stretch>
            <a:fillRect/>
          </a:stretch>
        </p:blipFill>
        <p:spPr>
          <a:xfrm>
            <a:off x="11036009" y="149478"/>
            <a:ext cx="891815" cy="891815"/>
          </a:xfrm>
          <a:prstGeom prst="rect">
            <a:avLst/>
          </a:prstGeom>
        </p:spPr>
      </p:pic>
    </p:spTree>
    <p:extLst>
      <p:ext uri="{BB962C8B-B14F-4D97-AF65-F5344CB8AC3E}">
        <p14:creationId xmlns:p14="http://schemas.microsoft.com/office/powerpoint/2010/main" val="2722077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87A42-B0FF-3287-590D-09E281C5105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B27A5C3-7D02-259C-498C-B55EC66B0675}"/>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What are MLFFs/MLIPs?</a:t>
            </a:r>
          </a:p>
        </p:txBody>
      </p:sp>
      <p:pic>
        <p:nvPicPr>
          <p:cNvPr id="8" name="Picture 7" descr="सञ्चिका:IIT Kanpur Logo.png - विकिपीडिया">
            <a:extLst>
              <a:ext uri="{FF2B5EF4-FFF2-40B4-BE49-F238E27FC236}">
                <a16:creationId xmlns:a16="http://schemas.microsoft.com/office/drawing/2014/main" id="{DB3427EC-3841-5EC3-B3DB-C7D56BFD202E}"/>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9F43B91A-AA92-748D-843B-428DF7088A86}"/>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5E99BA4-B990-F33E-179F-0AE5AFCD7767}"/>
              </a:ext>
            </a:extLst>
          </p:cNvPr>
          <p:cNvSpPr txBox="1"/>
          <p:nvPr/>
        </p:nvSpPr>
        <p:spPr>
          <a:xfrm>
            <a:off x="292231" y="970961"/>
            <a:ext cx="9238268" cy="400110"/>
          </a:xfrm>
          <a:prstGeom prst="rect">
            <a:avLst/>
          </a:prstGeom>
          <a:noFill/>
        </p:spPr>
        <p:txBody>
          <a:bodyPr wrap="square" lIns="91440" tIns="45720" rIns="91440" bIns="45720" rtlCol="0" anchor="t">
            <a:spAutoFit/>
          </a:bodyPr>
          <a:lstStyle/>
          <a:p>
            <a:r>
              <a:rPr lang="en-IN" sz="2000" u="sng">
                <a:latin typeface="Times New Roman"/>
                <a:cs typeface="Times New Roman"/>
              </a:rPr>
              <a:t>Introduction</a:t>
            </a:r>
          </a:p>
        </p:txBody>
      </p:sp>
      <p:sp>
        <p:nvSpPr>
          <p:cNvPr id="4" name="TextBox 3">
            <a:extLst>
              <a:ext uri="{FF2B5EF4-FFF2-40B4-BE49-F238E27FC236}">
                <a16:creationId xmlns:a16="http://schemas.microsoft.com/office/drawing/2014/main" id="{74FAD2B1-15A4-7F8E-45A0-004A3FCF63CE}"/>
              </a:ext>
            </a:extLst>
          </p:cNvPr>
          <p:cNvSpPr txBox="1"/>
          <p:nvPr/>
        </p:nvSpPr>
        <p:spPr>
          <a:xfrm>
            <a:off x="462030" y="1834119"/>
            <a:ext cx="4924815"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Times New Roman"/>
                <a:ea typeface="Calibri" panose="020F0502020204030204"/>
                <a:cs typeface="Times New Roman"/>
              </a:rPr>
              <a:t>Atomic configurations </a:t>
            </a:r>
            <a:r>
              <a:rPr lang="en-US">
                <a:ea typeface="+mn-lt"/>
                <a:cs typeface="+mn-lt"/>
              </a:rPr>
              <a:t>→</a:t>
            </a:r>
            <a:r>
              <a:rPr lang="en-US">
                <a:latin typeface="Calibri"/>
                <a:ea typeface="Calibri" panose="020F0502020204030204"/>
                <a:cs typeface="Calibri"/>
              </a:rPr>
              <a:t> </a:t>
            </a:r>
            <a:r>
              <a:rPr lang="en-US">
                <a:latin typeface="Times New Roman"/>
                <a:ea typeface="Calibri" panose="020F0502020204030204"/>
                <a:cs typeface="Times New Roman"/>
              </a:rPr>
              <a:t>Potential Energy Surface</a:t>
            </a:r>
            <a:br>
              <a:rPr lang="en-US">
                <a:latin typeface="Times New Roman"/>
                <a:ea typeface="Calibri" panose="020F0502020204030204"/>
                <a:cs typeface="Times New Roman"/>
              </a:rPr>
            </a:br>
            <a:endParaRPr lang="en-US">
              <a:latin typeface="Times New Roman"/>
              <a:ea typeface="Calibri" panose="020F0502020204030204"/>
              <a:cs typeface="Times New Roman"/>
            </a:endParaRPr>
          </a:p>
          <a:p>
            <a:pPr marL="285750" indent="-285750">
              <a:buFont typeface="Arial"/>
              <a:buChar char="•"/>
            </a:pPr>
            <a:r>
              <a:rPr lang="en-US">
                <a:latin typeface="Times New Roman"/>
                <a:ea typeface="Calibri" panose="020F0502020204030204"/>
                <a:cs typeface="Times New Roman"/>
              </a:rPr>
              <a:t>Input: Coordinates/vectors + element types</a:t>
            </a:r>
            <a:br>
              <a:rPr lang="en-US">
                <a:latin typeface="Times New Roman"/>
                <a:ea typeface="Calibri" panose="020F0502020204030204"/>
                <a:cs typeface="Times New Roman"/>
              </a:rPr>
            </a:br>
            <a:r>
              <a:rPr lang="en-US">
                <a:latin typeface="Times New Roman"/>
                <a:ea typeface="Calibri" panose="020F0502020204030204"/>
                <a:cs typeface="Times New Roman"/>
              </a:rPr>
              <a:t>Output: Spatial derivatives of PES </a:t>
            </a:r>
            <a:br>
              <a:rPr lang="en-US">
                <a:latin typeface="Times New Roman"/>
                <a:ea typeface="Calibri" panose="020F0502020204030204"/>
                <a:cs typeface="Times New Roman"/>
              </a:rPr>
            </a:br>
            <a:endParaRPr lang="en-US">
              <a:latin typeface="Times New Roman"/>
              <a:cs typeface="Times New Roman"/>
            </a:endParaRPr>
          </a:p>
          <a:p>
            <a:pPr marL="285750" indent="-285750">
              <a:buFont typeface="Arial"/>
              <a:buChar char="•"/>
            </a:pPr>
            <a:r>
              <a:rPr lang="en-US">
                <a:latin typeface="Times New Roman"/>
                <a:ea typeface="Calibri"/>
                <a:cs typeface="Times New Roman"/>
              </a:rPr>
              <a:t>Atomistic Simulations:</a:t>
            </a:r>
            <a:br>
              <a:rPr lang="en-US">
                <a:latin typeface="Times New Roman"/>
                <a:ea typeface="Calibri"/>
                <a:cs typeface="Times New Roman"/>
              </a:rPr>
            </a:br>
            <a:r>
              <a:rPr lang="en-US">
                <a:latin typeface="Times New Roman"/>
                <a:ea typeface="Calibri"/>
                <a:cs typeface="Times New Roman"/>
              </a:rPr>
              <a:t>- AIMD</a:t>
            </a:r>
            <a:br>
              <a:rPr lang="en-US">
                <a:latin typeface="Times New Roman"/>
                <a:ea typeface="Calibri"/>
                <a:cs typeface="Times New Roman"/>
              </a:rPr>
            </a:br>
            <a:r>
              <a:rPr lang="en-US">
                <a:latin typeface="Times New Roman"/>
                <a:ea typeface="Calibri"/>
                <a:cs typeface="Times New Roman"/>
              </a:rPr>
              <a:t>- PBP</a:t>
            </a:r>
          </a:p>
          <a:p>
            <a:pPr marL="285750" indent="-285750">
              <a:buFont typeface="Arial"/>
              <a:buChar char="•"/>
            </a:pPr>
            <a:endParaRPr lang="en-US">
              <a:latin typeface="Times New Roman"/>
              <a:ea typeface="Calibri"/>
              <a:cs typeface="Times New Roman"/>
            </a:endParaRPr>
          </a:p>
          <a:p>
            <a:pPr marL="285750" indent="-285750">
              <a:buFont typeface="Arial"/>
              <a:buChar char="•"/>
            </a:pPr>
            <a:r>
              <a:rPr lang="en-US">
                <a:latin typeface="Times New Roman"/>
                <a:ea typeface="Calibri"/>
                <a:cs typeface="Times New Roman"/>
              </a:rPr>
              <a:t>MLIPs are the Bridge!</a:t>
            </a:r>
          </a:p>
        </p:txBody>
      </p:sp>
      <p:pic>
        <p:nvPicPr>
          <p:cNvPr id="5" name="Picture 4">
            <a:extLst>
              <a:ext uri="{FF2B5EF4-FFF2-40B4-BE49-F238E27FC236}">
                <a16:creationId xmlns:a16="http://schemas.microsoft.com/office/drawing/2014/main" id="{DA9C8E3C-5C70-B164-E395-D3EC8BAE27E0}"/>
              </a:ext>
            </a:extLst>
          </p:cNvPr>
          <p:cNvPicPr>
            <a:picLocks noChangeAspect="1"/>
          </p:cNvPicPr>
          <p:nvPr/>
        </p:nvPicPr>
        <p:blipFill>
          <a:blip r:embed="rId4"/>
          <a:stretch>
            <a:fillRect/>
          </a:stretch>
        </p:blipFill>
        <p:spPr>
          <a:xfrm>
            <a:off x="5539504" y="1165442"/>
            <a:ext cx="6133840" cy="4715006"/>
          </a:xfrm>
          <a:prstGeom prst="rect">
            <a:avLst/>
          </a:prstGeom>
        </p:spPr>
      </p:pic>
      <p:cxnSp>
        <p:nvCxnSpPr>
          <p:cNvPr id="11" name="Straight Connector 10">
            <a:extLst>
              <a:ext uri="{FF2B5EF4-FFF2-40B4-BE49-F238E27FC236}">
                <a16:creationId xmlns:a16="http://schemas.microsoft.com/office/drawing/2014/main" id="{3AC77EA4-D3C5-B8BD-8305-96B5C425508E}"/>
              </a:ext>
            </a:extLst>
          </p:cNvPr>
          <p:cNvCxnSpPr>
            <a:cxnSpLocks/>
          </p:cNvCxnSpPr>
          <p:nvPr/>
        </p:nvCxnSpPr>
        <p:spPr>
          <a:xfrm>
            <a:off x="195021" y="6349233"/>
            <a:ext cx="11732803"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19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1593A-DB71-921A-CF1F-3E5B049CD9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6FC6119-0220-98EC-83A1-5921CA4DCFA8}"/>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What are MLFFs/MLIPs?</a:t>
            </a:r>
          </a:p>
        </p:txBody>
      </p:sp>
      <p:pic>
        <p:nvPicPr>
          <p:cNvPr id="8" name="Picture 7" descr="सञ्चिका:IIT Kanpur Logo.png - विकिपीडिया">
            <a:extLst>
              <a:ext uri="{FF2B5EF4-FFF2-40B4-BE49-F238E27FC236}">
                <a16:creationId xmlns:a16="http://schemas.microsoft.com/office/drawing/2014/main" id="{708BAEC2-FBED-BF23-E3BD-56717A3AFAD0}"/>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863BC426-7EA2-0A9E-6B23-26E829D2EA4E}"/>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DB9E2D2-1034-F80A-3445-38509B4E3A9A}"/>
              </a:ext>
            </a:extLst>
          </p:cNvPr>
          <p:cNvSpPr txBox="1"/>
          <p:nvPr/>
        </p:nvSpPr>
        <p:spPr>
          <a:xfrm>
            <a:off x="292231" y="970961"/>
            <a:ext cx="9238268" cy="400110"/>
          </a:xfrm>
          <a:prstGeom prst="rect">
            <a:avLst/>
          </a:prstGeom>
          <a:noFill/>
        </p:spPr>
        <p:txBody>
          <a:bodyPr wrap="square" lIns="91440" tIns="45720" rIns="91440" bIns="45720" rtlCol="0" anchor="t">
            <a:spAutoFit/>
          </a:bodyPr>
          <a:lstStyle/>
          <a:p>
            <a:r>
              <a:rPr lang="en-IN" sz="2000" u="sng">
                <a:latin typeface="Times New Roman"/>
                <a:cs typeface="Times New Roman"/>
              </a:rPr>
              <a:t>Motivation and Need</a:t>
            </a:r>
          </a:p>
        </p:txBody>
      </p:sp>
      <p:sp>
        <p:nvSpPr>
          <p:cNvPr id="5" name="TextBox 4">
            <a:extLst>
              <a:ext uri="{FF2B5EF4-FFF2-40B4-BE49-F238E27FC236}">
                <a16:creationId xmlns:a16="http://schemas.microsoft.com/office/drawing/2014/main" id="{C7B3E4AA-43E3-6B7C-4174-40B31755B815}"/>
              </a:ext>
            </a:extLst>
          </p:cNvPr>
          <p:cNvSpPr txBox="1"/>
          <p:nvPr/>
        </p:nvSpPr>
        <p:spPr>
          <a:xfrm>
            <a:off x="302404" y="1722087"/>
            <a:ext cx="1058731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Times New Roman"/>
                <a:ea typeface="Calibri" panose="020F0502020204030204"/>
                <a:cs typeface="Times New Roman"/>
              </a:rPr>
              <a:t>Computational infeasibility of AIMD in large chemical systems and longer timescales.</a:t>
            </a:r>
          </a:p>
          <a:p>
            <a:pPr marL="285750" indent="-285750">
              <a:buFont typeface="Arial"/>
              <a:buChar char="•"/>
            </a:pPr>
            <a:r>
              <a:rPr lang="en-US">
                <a:latin typeface="Times New Roman"/>
                <a:ea typeface="Calibri" panose="020F0502020204030204"/>
                <a:cs typeface="Times New Roman"/>
              </a:rPr>
              <a:t>Less accuracy of PBP-based MD for materials.</a:t>
            </a:r>
          </a:p>
          <a:p>
            <a:pPr marL="285750" indent="-285750">
              <a:buFont typeface="Arial"/>
              <a:buChar char="•"/>
            </a:pPr>
            <a:r>
              <a:rPr lang="en-US">
                <a:latin typeface="Times New Roman"/>
                <a:ea typeface="Calibri" panose="020F0502020204030204"/>
                <a:cs typeface="Times New Roman"/>
              </a:rPr>
              <a:t>MLIPs can be supplemented with physics functionals for extrapolating complicated energy profiles.</a:t>
            </a:r>
            <a:br>
              <a:rPr lang="en-US">
                <a:latin typeface="Times New Roman"/>
                <a:ea typeface="Calibri" panose="020F0502020204030204"/>
                <a:cs typeface="Times New Roman"/>
              </a:rPr>
            </a:br>
            <a:endParaRPr lang="en-US">
              <a:latin typeface="Times New Roman"/>
              <a:ea typeface="Calibri" panose="020F0502020204030204"/>
              <a:cs typeface="Times New Roman"/>
            </a:endParaRPr>
          </a:p>
          <a:p>
            <a:pPr marL="285750" indent="-285750">
              <a:buFont typeface="Arial"/>
              <a:buChar char="•"/>
            </a:pPr>
            <a:r>
              <a:rPr lang="en-US">
                <a:latin typeface="Times New Roman"/>
                <a:ea typeface="Calibri" panose="020F0502020204030204"/>
                <a:cs typeface="Times New Roman"/>
              </a:rPr>
              <a:t>MLIPs: Best of Both Worlds.</a:t>
            </a:r>
          </a:p>
          <a:p>
            <a:pPr marL="285750" indent="-285750">
              <a:buFont typeface="Arial"/>
              <a:buChar char="•"/>
            </a:pPr>
            <a:endParaRPr lang="en-US">
              <a:latin typeface="Times New Roman"/>
              <a:ea typeface="Calibri" panose="020F0502020204030204"/>
              <a:cs typeface="Times New Roman"/>
            </a:endParaRPr>
          </a:p>
        </p:txBody>
      </p:sp>
      <p:graphicFrame>
        <p:nvGraphicFramePr>
          <p:cNvPr id="17" name="Diagram 16">
            <a:extLst>
              <a:ext uri="{FF2B5EF4-FFF2-40B4-BE49-F238E27FC236}">
                <a16:creationId xmlns:a16="http://schemas.microsoft.com/office/drawing/2014/main" id="{7FBDEAE1-1735-615D-0934-DF393A2F8DED}"/>
              </a:ext>
            </a:extLst>
          </p:cNvPr>
          <p:cNvGraphicFramePr/>
          <p:nvPr/>
        </p:nvGraphicFramePr>
        <p:xfrm>
          <a:off x="1176618" y="2597524"/>
          <a:ext cx="9715499" cy="36576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4" name="Straight Connector 3">
            <a:extLst>
              <a:ext uri="{FF2B5EF4-FFF2-40B4-BE49-F238E27FC236}">
                <a16:creationId xmlns:a16="http://schemas.microsoft.com/office/drawing/2014/main" id="{22BD5476-5BE4-6550-A118-AF1C55BE547F}"/>
              </a:ext>
            </a:extLst>
          </p:cNvPr>
          <p:cNvCxnSpPr>
            <a:cxnSpLocks/>
          </p:cNvCxnSpPr>
          <p:nvPr/>
        </p:nvCxnSpPr>
        <p:spPr>
          <a:xfrm>
            <a:off x="195021" y="6349233"/>
            <a:ext cx="11732803"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9711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DDD9D-3909-4E3A-CFDB-5D23F0EC00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38E2C30-493C-5EBD-753E-383C7EC9EA90}"/>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What are MLFFs/MLIPs?</a:t>
            </a:r>
          </a:p>
        </p:txBody>
      </p:sp>
      <p:pic>
        <p:nvPicPr>
          <p:cNvPr id="8" name="Picture 7" descr="सञ्चिका:IIT Kanpur Logo.png - विकिपीडिया">
            <a:extLst>
              <a:ext uri="{FF2B5EF4-FFF2-40B4-BE49-F238E27FC236}">
                <a16:creationId xmlns:a16="http://schemas.microsoft.com/office/drawing/2014/main" id="{06644941-8446-CC4D-C7FE-F2E4DE8537C4}"/>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119D273C-16BE-4B14-3022-94BC06E446D1}"/>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5636B05-1798-1455-B7F1-17C01A9CDDD3}"/>
              </a:ext>
            </a:extLst>
          </p:cNvPr>
          <p:cNvSpPr txBox="1"/>
          <p:nvPr/>
        </p:nvSpPr>
        <p:spPr>
          <a:xfrm>
            <a:off x="292231" y="970961"/>
            <a:ext cx="9238268" cy="400110"/>
          </a:xfrm>
          <a:prstGeom prst="rect">
            <a:avLst/>
          </a:prstGeom>
          <a:noFill/>
        </p:spPr>
        <p:txBody>
          <a:bodyPr wrap="square" rtlCol="0">
            <a:spAutoFit/>
          </a:bodyPr>
          <a:lstStyle/>
          <a:p>
            <a:r>
              <a:rPr lang="en-IN" sz="2000" u="sng">
                <a:latin typeface="Times New Roman" panose="02020603050405020304" pitchFamily="18" charset="0"/>
                <a:cs typeface="Times New Roman" panose="02020603050405020304" pitchFamily="18" charset="0"/>
              </a:rPr>
              <a:t>Basic Principles</a:t>
            </a:r>
          </a:p>
        </p:txBody>
      </p:sp>
      <p:pic>
        <p:nvPicPr>
          <p:cNvPr id="4" name="Picture 3">
            <a:extLst>
              <a:ext uri="{FF2B5EF4-FFF2-40B4-BE49-F238E27FC236}">
                <a16:creationId xmlns:a16="http://schemas.microsoft.com/office/drawing/2014/main" id="{F98DDF69-F52A-05A6-FF92-7DEF91189B4F}"/>
              </a:ext>
            </a:extLst>
          </p:cNvPr>
          <p:cNvPicPr>
            <a:picLocks noChangeAspect="1"/>
          </p:cNvPicPr>
          <p:nvPr/>
        </p:nvPicPr>
        <p:blipFill>
          <a:blip r:embed="rId4"/>
          <a:stretch>
            <a:fillRect/>
          </a:stretch>
        </p:blipFill>
        <p:spPr>
          <a:xfrm>
            <a:off x="3981169" y="1363196"/>
            <a:ext cx="7938808" cy="4299697"/>
          </a:xfrm>
          <a:prstGeom prst="rect">
            <a:avLst/>
          </a:prstGeom>
        </p:spPr>
      </p:pic>
      <p:sp>
        <p:nvSpPr>
          <p:cNvPr id="5" name="TextBox 4">
            <a:extLst>
              <a:ext uri="{FF2B5EF4-FFF2-40B4-BE49-F238E27FC236}">
                <a16:creationId xmlns:a16="http://schemas.microsoft.com/office/drawing/2014/main" id="{E9A3E7A3-DDE6-DB73-8AB5-1D766394AD7E}"/>
              </a:ext>
            </a:extLst>
          </p:cNvPr>
          <p:cNvSpPr txBox="1"/>
          <p:nvPr/>
        </p:nvSpPr>
        <p:spPr>
          <a:xfrm>
            <a:off x="296815" y="1708111"/>
            <a:ext cx="3684493"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Times New Roman"/>
                <a:ea typeface="Calibri"/>
                <a:cs typeface="Times New Roman"/>
              </a:rPr>
              <a:t>Atomic Environment Featurization</a:t>
            </a:r>
            <a:br>
              <a:rPr lang="en-US">
                <a:latin typeface="Times New Roman"/>
                <a:ea typeface="Calibri"/>
                <a:cs typeface="Times New Roman"/>
              </a:rPr>
            </a:br>
            <a:endParaRPr lang="en-US">
              <a:latin typeface="Times New Roman"/>
              <a:ea typeface="Calibri"/>
              <a:cs typeface="Times New Roman"/>
            </a:endParaRPr>
          </a:p>
          <a:p>
            <a:pPr marL="285750" indent="-285750">
              <a:buFont typeface="Arial"/>
              <a:buChar char="•"/>
            </a:pPr>
            <a:r>
              <a:rPr lang="en-US">
                <a:latin typeface="Times New Roman"/>
                <a:ea typeface="Calibri"/>
                <a:cs typeface="Times New Roman"/>
              </a:rPr>
              <a:t>Descriptors</a:t>
            </a:r>
            <a:br>
              <a:rPr lang="en-US">
                <a:latin typeface="Times New Roman"/>
                <a:ea typeface="Calibri"/>
                <a:cs typeface="Times New Roman"/>
              </a:rPr>
            </a:br>
            <a:endParaRPr lang="en-US">
              <a:latin typeface="Times New Roman"/>
              <a:ea typeface="Calibri"/>
              <a:cs typeface="Times New Roman"/>
            </a:endParaRPr>
          </a:p>
          <a:p>
            <a:pPr marL="285750" indent="-285750">
              <a:buFont typeface="Arial"/>
              <a:buChar char="•"/>
            </a:pPr>
            <a:r>
              <a:rPr lang="en-US">
                <a:latin typeface="Times New Roman"/>
                <a:ea typeface="Calibri"/>
                <a:cs typeface="Times New Roman"/>
              </a:rPr>
              <a:t>Symmetrical Invariance</a:t>
            </a:r>
            <a:br>
              <a:rPr lang="en-US">
                <a:latin typeface="Times New Roman"/>
                <a:ea typeface="Calibri"/>
                <a:cs typeface="Times New Roman"/>
              </a:rPr>
            </a:br>
            <a:endParaRPr lang="en-US">
              <a:latin typeface="Times New Roman"/>
              <a:ea typeface="Calibri"/>
              <a:cs typeface="Times New Roman"/>
            </a:endParaRPr>
          </a:p>
          <a:p>
            <a:pPr marL="285750" indent="-285750">
              <a:buFont typeface="Arial"/>
              <a:buChar char="•"/>
            </a:pPr>
            <a:r>
              <a:rPr lang="en-US">
                <a:latin typeface="Times New Roman"/>
                <a:ea typeface="Calibri"/>
                <a:cs typeface="Times New Roman"/>
              </a:rPr>
              <a:t>Unification of Explicit and Implicit AEF</a:t>
            </a:r>
          </a:p>
        </p:txBody>
      </p:sp>
      <p:cxnSp>
        <p:nvCxnSpPr>
          <p:cNvPr id="6" name="Straight Connector 5">
            <a:extLst>
              <a:ext uri="{FF2B5EF4-FFF2-40B4-BE49-F238E27FC236}">
                <a16:creationId xmlns:a16="http://schemas.microsoft.com/office/drawing/2014/main" id="{DAD00752-2EE3-7E3E-65A1-D27ACF10607A}"/>
              </a:ext>
            </a:extLst>
          </p:cNvPr>
          <p:cNvCxnSpPr>
            <a:cxnSpLocks/>
          </p:cNvCxnSpPr>
          <p:nvPr/>
        </p:nvCxnSpPr>
        <p:spPr>
          <a:xfrm>
            <a:off x="195021" y="6349233"/>
            <a:ext cx="11732803"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9579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AB0BF9-3C88-9ACA-F9D5-A552FBEB223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BE7F5CA-C29E-B200-51E4-87638FED9364}"/>
              </a:ext>
            </a:extLst>
          </p:cNvPr>
          <p:cNvSpPr txBox="1"/>
          <p:nvPr/>
        </p:nvSpPr>
        <p:spPr>
          <a:xfrm>
            <a:off x="0" y="2521059"/>
            <a:ext cx="12192000" cy="1815882"/>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Part 2:</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Scope of Study</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&amp;</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Literature Review on Applied MLFFs</a:t>
            </a:r>
          </a:p>
        </p:txBody>
      </p:sp>
      <p:pic>
        <p:nvPicPr>
          <p:cNvPr id="8" name="Picture 7" descr="सञ्चिका:IIT Kanpur Logo.png - विकिपीडिया">
            <a:extLst>
              <a:ext uri="{FF2B5EF4-FFF2-40B4-BE49-F238E27FC236}">
                <a16:creationId xmlns:a16="http://schemas.microsoft.com/office/drawing/2014/main" id="{0344D51C-2D05-A6F2-DDFA-B080A9360034}"/>
              </a:ext>
            </a:extLst>
          </p:cNvPr>
          <p:cNvPicPr>
            <a:picLocks noChangeAspect="1"/>
          </p:cNvPicPr>
          <p:nvPr/>
        </p:nvPicPr>
        <p:blipFill>
          <a:blip r:embed="rId3"/>
          <a:stretch>
            <a:fillRect/>
          </a:stretch>
        </p:blipFill>
        <p:spPr>
          <a:xfrm>
            <a:off x="11036009" y="149478"/>
            <a:ext cx="891815" cy="891815"/>
          </a:xfrm>
          <a:prstGeom prst="rect">
            <a:avLst/>
          </a:prstGeom>
        </p:spPr>
      </p:pic>
    </p:spTree>
    <p:extLst>
      <p:ext uri="{BB962C8B-B14F-4D97-AF65-F5344CB8AC3E}">
        <p14:creationId xmlns:p14="http://schemas.microsoft.com/office/powerpoint/2010/main" val="3750413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F12E4-4369-FA06-0037-596B01E25B3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20A64A3-3B2B-DCFB-A4BD-225549DBB552}"/>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Literature on MLFFs – Molten Systems, Nanomaterials, CNT Growth, etc.</a:t>
            </a:r>
          </a:p>
        </p:txBody>
      </p:sp>
      <p:pic>
        <p:nvPicPr>
          <p:cNvPr id="8" name="Picture 7" descr="सञ्चिका:IIT Kanpur Logo.png - विकिपीडिया">
            <a:extLst>
              <a:ext uri="{FF2B5EF4-FFF2-40B4-BE49-F238E27FC236}">
                <a16:creationId xmlns:a16="http://schemas.microsoft.com/office/drawing/2014/main" id="{5AF338A7-C7B8-7A3C-DFF2-EB4C23F67EB6}"/>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FFAA3007-5B2B-3DD4-46A6-48DE305C699C}"/>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D5395DA-9566-2ECA-E234-557D10EDA0F7}"/>
              </a:ext>
            </a:extLst>
          </p:cNvPr>
          <p:cNvSpPr txBox="1"/>
          <p:nvPr/>
        </p:nvSpPr>
        <p:spPr>
          <a:xfrm>
            <a:off x="292231" y="970961"/>
            <a:ext cx="9238268" cy="400110"/>
          </a:xfrm>
          <a:prstGeom prst="rect">
            <a:avLst/>
          </a:prstGeom>
          <a:noFill/>
        </p:spPr>
        <p:txBody>
          <a:bodyPr wrap="square" rtlCol="0">
            <a:spAutoFit/>
          </a:bodyPr>
          <a:lstStyle/>
          <a:p>
            <a:r>
              <a:rPr lang="en-IN" sz="2000" u="sng">
                <a:latin typeface="Times New Roman" panose="02020603050405020304" pitchFamily="18" charset="0"/>
                <a:cs typeface="Times New Roman" panose="02020603050405020304" pitchFamily="18" charset="0"/>
              </a:rPr>
              <a:t>Reactive Active Learning</a:t>
            </a:r>
          </a:p>
        </p:txBody>
      </p:sp>
      <p:cxnSp>
        <p:nvCxnSpPr>
          <p:cNvPr id="4" name="Straight Connector 3">
            <a:extLst>
              <a:ext uri="{FF2B5EF4-FFF2-40B4-BE49-F238E27FC236}">
                <a16:creationId xmlns:a16="http://schemas.microsoft.com/office/drawing/2014/main" id="{0F235FCF-7F6F-A4F4-8424-87296DBCF936}"/>
              </a:ext>
            </a:extLst>
          </p:cNvPr>
          <p:cNvCxnSpPr>
            <a:cxnSpLocks/>
          </p:cNvCxnSpPr>
          <p:nvPr/>
        </p:nvCxnSpPr>
        <p:spPr>
          <a:xfrm>
            <a:off x="195021" y="6349233"/>
            <a:ext cx="11732803"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5EBBA13-DA64-E3A6-5F93-5DA37B669696}"/>
              </a:ext>
            </a:extLst>
          </p:cNvPr>
          <p:cNvSpPr txBox="1"/>
          <p:nvPr/>
        </p:nvSpPr>
        <p:spPr>
          <a:xfrm>
            <a:off x="294266" y="1571569"/>
            <a:ext cx="3911600"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Times New Roman"/>
                <a:ea typeface="Calibri" panose="020F0502020204030204"/>
                <a:cs typeface="Times New Roman"/>
              </a:rPr>
              <a:t>Traditional MLIP training paradigms ill-equipped to handle rare events.</a:t>
            </a:r>
            <a:br>
              <a:rPr lang="en-US">
                <a:latin typeface="Times New Roman"/>
                <a:ea typeface="Calibri" panose="020F0502020204030204"/>
                <a:cs typeface="Times New Roman"/>
              </a:rPr>
            </a:br>
            <a:endParaRPr lang="en-US">
              <a:latin typeface="Times New Roman"/>
              <a:cs typeface="Times New Roman"/>
            </a:endParaRPr>
          </a:p>
          <a:p>
            <a:pPr marL="285750" indent="-285750">
              <a:buFont typeface="Arial"/>
              <a:buChar char="•"/>
            </a:pPr>
            <a:r>
              <a:rPr lang="en-US" i="1">
                <a:latin typeface="Times New Roman"/>
                <a:ea typeface="Calibri" panose="020F0502020204030204"/>
                <a:cs typeface="Times New Roman"/>
              </a:rPr>
              <a:t>Workflow</a:t>
            </a:r>
            <a:r>
              <a:rPr lang="en-US">
                <a:latin typeface="Times New Roman"/>
                <a:ea typeface="Calibri" panose="020F0502020204030204"/>
                <a:cs typeface="Times New Roman"/>
              </a:rPr>
              <a:t>:</a:t>
            </a:r>
            <a:br>
              <a:rPr lang="en-US">
                <a:latin typeface="Times New Roman"/>
                <a:ea typeface="Calibri" panose="020F0502020204030204"/>
                <a:cs typeface="Times New Roman"/>
              </a:rPr>
            </a:br>
            <a:r>
              <a:rPr lang="en-US">
                <a:latin typeface="Times New Roman"/>
                <a:ea typeface="Calibri" panose="020F0502020204030204"/>
                <a:cs typeface="Times New Roman"/>
              </a:rPr>
              <a:t>- Automated Reaction Exploration</a:t>
            </a:r>
            <a:br>
              <a:rPr lang="en-US">
                <a:latin typeface="Times New Roman"/>
                <a:ea typeface="Calibri" panose="020F0502020204030204"/>
                <a:cs typeface="Times New Roman"/>
              </a:rPr>
            </a:br>
            <a:r>
              <a:rPr lang="en-US">
                <a:latin typeface="Times New Roman"/>
                <a:ea typeface="Calibri" panose="020F0502020204030204"/>
                <a:cs typeface="Times New Roman"/>
              </a:rPr>
              <a:t>- Uncertainty Driven Active Learning </a:t>
            </a:r>
            <a:br>
              <a:rPr lang="en-US">
                <a:latin typeface="Times New Roman"/>
                <a:ea typeface="Calibri" panose="020F0502020204030204"/>
                <a:cs typeface="Times New Roman"/>
              </a:rPr>
            </a:br>
            <a:r>
              <a:rPr lang="en-US">
                <a:latin typeface="Times New Roman"/>
                <a:ea typeface="Calibri" panose="020F0502020204030204"/>
                <a:cs typeface="Times New Roman"/>
              </a:rPr>
              <a:t>- Transition State Sampling</a:t>
            </a:r>
            <a:br>
              <a:rPr lang="en-US">
                <a:latin typeface="Times New Roman"/>
                <a:ea typeface="Calibri" panose="020F0502020204030204"/>
                <a:cs typeface="Times New Roman"/>
              </a:rPr>
            </a:br>
            <a:endParaRPr lang="en-US">
              <a:latin typeface="Times New Roman"/>
              <a:ea typeface="Calibri" panose="020F0502020204030204"/>
              <a:cs typeface="Times New Roman"/>
            </a:endParaRPr>
          </a:p>
          <a:p>
            <a:pPr marL="285750" indent="-285750">
              <a:buFont typeface="Arial"/>
              <a:buChar char="•"/>
            </a:pPr>
            <a:r>
              <a:rPr lang="en-US">
                <a:latin typeface="Times New Roman"/>
                <a:ea typeface="Calibri" panose="020F0502020204030204"/>
                <a:cs typeface="Times New Roman"/>
              </a:rPr>
              <a:t>Benchmarking:</a:t>
            </a:r>
            <a:br>
              <a:rPr lang="en-US">
                <a:latin typeface="Times New Roman"/>
                <a:ea typeface="Calibri" panose="020F0502020204030204"/>
                <a:cs typeface="Times New Roman"/>
              </a:rPr>
            </a:br>
            <a:r>
              <a:rPr lang="en-US">
                <a:latin typeface="Times New Roman"/>
                <a:ea typeface="Calibri" panose="020F0502020204030204"/>
                <a:cs typeface="Times New Roman"/>
              </a:rPr>
              <a:t>- Gas Phase</a:t>
            </a:r>
            <a:br>
              <a:rPr lang="en-US">
                <a:latin typeface="Times New Roman"/>
                <a:ea typeface="Calibri" panose="020F0502020204030204"/>
                <a:cs typeface="Times New Roman"/>
              </a:rPr>
            </a:br>
            <a:r>
              <a:rPr lang="en-US">
                <a:latin typeface="Times New Roman"/>
                <a:ea typeface="Calibri" panose="020F0502020204030204"/>
                <a:cs typeface="Times New Roman"/>
              </a:rPr>
              <a:t>- Solution Phase</a:t>
            </a:r>
            <a:br>
              <a:rPr lang="en-US">
                <a:latin typeface="Times New Roman"/>
                <a:ea typeface="Calibri" panose="020F0502020204030204"/>
                <a:cs typeface="Times New Roman"/>
              </a:rPr>
            </a:br>
            <a:r>
              <a:rPr lang="en-US">
                <a:latin typeface="Times New Roman"/>
                <a:ea typeface="Calibri" panose="020F0502020204030204"/>
                <a:cs typeface="Times New Roman"/>
              </a:rPr>
              <a:t>- Heterogeneous </a:t>
            </a:r>
          </a:p>
        </p:txBody>
      </p:sp>
      <p:pic>
        <p:nvPicPr>
          <p:cNvPr id="10" name="Picture 9">
            <a:extLst>
              <a:ext uri="{FF2B5EF4-FFF2-40B4-BE49-F238E27FC236}">
                <a16:creationId xmlns:a16="http://schemas.microsoft.com/office/drawing/2014/main" id="{5581AEDE-32AF-6068-27C6-E3FD727EE6D2}"/>
              </a:ext>
            </a:extLst>
          </p:cNvPr>
          <p:cNvPicPr>
            <a:picLocks noChangeAspect="1"/>
          </p:cNvPicPr>
          <p:nvPr/>
        </p:nvPicPr>
        <p:blipFill>
          <a:blip r:embed="rId4"/>
          <a:srcRect/>
          <a:stretch>
            <a:fillRect/>
          </a:stretch>
        </p:blipFill>
        <p:spPr>
          <a:xfrm>
            <a:off x="4431030" y="1191895"/>
            <a:ext cx="7048500" cy="4819650"/>
          </a:xfrm>
          <a:prstGeom prst="rect">
            <a:avLst/>
          </a:prstGeom>
        </p:spPr>
      </p:pic>
    </p:spTree>
    <p:extLst>
      <p:ext uri="{BB962C8B-B14F-4D97-AF65-F5344CB8AC3E}">
        <p14:creationId xmlns:p14="http://schemas.microsoft.com/office/powerpoint/2010/main" val="46938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15B36-4F8A-EAB1-E013-748144E56DE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FE14952-7B69-FCC6-2875-36AEE08C2641}"/>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Literature on MLFFs – Molten Systems, Nanomaterials, CNT Growth, etc.</a:t>
            </a:r>
          </a:p>
        </p:txBody>
      </p:sp>
      <p:pic>
        <p:nvPicPr>
          <p:cNvPr id="8" name="Picture 7" descr="सञ्चिका:IIT Kanpur Logo.png - विकिपीडिया">
            <a:extLst>
              <a:ext uri="{FF2B5EF4-FFF2-40B4-BE49-F238E27FC236}">
                <a16:creationId xmlns:a16="http://schemas.microsoft.com/office/drawing/2014/main" id="{A5B6AB79-D9E9-B11F-B039-1D348E8A65EF}"/>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5969F468-72D0-FF78-C12B-DD6B1FDD0455}"/>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D48CD72-458B-A0DB-DB99-4F4388031742}"/>
              </a:ext>
            </a:extLst>
          </p:cNvPr>
          <p:cNvSpPr txBox="1"/>
          <p:nvPr/>
        </p:nvSpPr>
        <p:spPr>
          <a:xfrm>
            <a:off x="292231" y="970961"/>
            <a:ext cx="9238268" cy="400110"/>
          </a:xfrm>
          <a:prstGeom prst="rect">
            <a:avLst/>
          </a:prstGeom>
          <a:noFill/>
        </p:spPr>
        <p:txBody>
          <a:bodyPr wrap="square" rtlCol="0">
            <a:spAutoFit/>
          </a:bodyPr>
          <a:lstStyle/>
          <a:p>
            <a:r>
              <a:rPr lang="en-IN" sz="2000" u="sng">
                <a:latin typeface="Times New Roman" panose="02020603050405020304" pitchFamily="18" charset="0"/>
                <a:cs typeface="Times New Roman" panose="02020603050405020304" pitchFamily="18" charset="0"/>
              </a:rPr>
              <a:t>Reactive Active Learning</a:t>
            </a:r>
          </a:p>
        </p:txBody>
      </p:sp>
      <p:cxnSp>
        <p:nvCxnSpPr>
          <p:cNvPr id="4" name="Straight Connector 3">
            <a:extLst>
              <a:ext uri="{FF2B5EF4-FFF2-40B4-BE49-F238E27FC236}">
                <a16:creationId xmlns:a16="http://schemas.microsoft.com/office/drawing/2014/main" id="{04B59317-E4BC-494B-E575-D6928439F683}"/>
              </a:ext>
            </a:extLst>
          </p:cNvPr>
          <p:cNvCxnSpPr>
            <a:cxnSpLocks/>
          </p:cNvCxnSpPr>
          <p:nvPr/>
        </p:nvCxnSpPr>
        <p:spPr>
          <a:xfrm>
            <a:off x="195021" y="6349233"/>
            <a:ext cx="11732803"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06B79140-EB0C-D9F6-10E9-17024E3E956B}"/>
              </a:ext>
            </a:extLst>
          </p:cNvPr>
          <p:cNvPicPr>
            <a:picLocks noChangeAspect="1"/>
          </p:cNvPicPr>
          <p:nvPr/>
        </p:nvPicPr>
        <p:blipFill>
          <a:blip r:embed="rId4"/>
          <a:stretch>
            <a:fillRect/>
          </a:stretch>
        </p:blipFill>
        <p:spPr>
          <a:xfrm>
            <a:off x="726982" y="1899397"/>
            <a:ext cx="10682007" cy="3675529"/>
          </a:xfrm>
          <a:prstGeom prst="rect">
            <a:avLst/>
          </a:prstGeom>
        </p:spPr>
      </p:pic>
    </p:spTree>
    <p:extLst>
      <p:ext uri="{BB962C8B-B14F-4D97-AF65-F5344CB8AC3E}">
        <p14:creationId xmlns:p14="http://schemas.microsoft.com/office/powerpoint/2010/main" val="1030048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BAEA7-84CA-8855-80E0-C79A574D7C7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0F3FC1-B86E-50CC-49DF-9F81FE1D0B8D}"/>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Literature on MLFFs – Molten Systems, Nanomaterials, CNT Growth, etc.</a:t>
            </a:r>
          </a:p>
        </p:txBody>
      </p:sp>
      <p:pic>
        <p:nvPicPr>
          <p:cNvPr id="8" name="Picture 7" descr="सञ्चिका:IIT Kanpur Logo.png - विकिपीडिया">
            <a:extLst>
              <a:ext uri="{FF2B5EF4-FFF2-40B4-BE49-F238E27FC236}">
                <a16:creationId xmlns:a16="http://schemas.microsoft.com/office/drawing/2014/main" id="{5A3F19F5-259A-93CA-4AA7-193A07A202DC}"/>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19AC8B95-8028-DC83-7386-97B0EF3F8B29}"/>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BBC96CF-395E-B541-9B2D-3E507E49F896}"/>
              </a:ext>
            </a:extLst>
          </p:cNvPr>
          <p:cNvSpPr txBox="1"/>
          <p:nvPr/>
        </p:nvSpPr>
        <p:spPr>
          <a:xfrm>
            <a:off x="292231" y="970961"/>
            <a:ext cx="9238268" cy="400110"/>
          </a:xfrm>
          <a:prstGeom prst="rect">
            <a:avLst/>
          </a:prstGeom>
          <a:noFill/>
        </p:spPr>
        <p:txBody>
          <a:bodyPr wrap="square" rtlCol="0">
            <a:spAutoFit/>
          </a:bodyPr>
          <a:lstStyle/>
          <a:p>
            <a:r>
              <a:rPr lang="en-IN" sz="2000" u="sng">
                <a:latin typeface="Times New Roman" panose="02020603050405020304" pitchFamily="18" charset="0"/>
                <a:cs typeface="Times New Roman" panose="02020603050405020304" pitchFamily="18" charset="0"/>
              </a:rPr>
              <a:t>Reactive Active Learning</a:t>
            </a:r>
          </a:p>
        </p:txBody>
      </p:sp>
      <p:cxnSp>
        <p:nvCxnSpPr>
          <p:cNvPr id="4" name="Straight Connector 3">
            <a:extLst>
              <a:ext uri="{FF2B5EF4-FFF2-40B4-BE49-F238E27FC236}">
                <a16:creationId xmlns:a16="http://schemas.microsoft.com/office/drawing/2014/main" id="{5F27EAE8-8D5E-94E8-5D24-EC8BD9862CD2}"/>
              </a:ext>
            </a:extLst>
          </p:cNvPr>
          <p:cNvCxnSpPr>
            <a:cxnSpLocks/>
          </p:cNvCxnSpPr>
          <p:nvPr/>
        </p:nvCxnSpPr>
        <p:spPr>
          <a:xfrm>
            <a:off x="195021" y="6349233"/>
            <a:ext cx="11732803"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711FCF6-CC9B-F73C-3046-DDA1F8D82D53}"/>
              </a:ext>
            </a:extLst>
          </p:cNvPr>
          <p:cNvSpPr txBox="1"/>
          <p:nvPr/>
        </p:nvSpPr>
        <p:spPr>
          <a:xfrm>
            <a:off x="392025" y="1495619"/>
            <a:ext cx="4509545"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i="1">
                <a:latin typeface="Times New Roman"/>
                <a:ea typeface="Calibri" panose="020F0502020204030204"/>
                <a:cs typeface="Times New Roman"/>
              </a:rPr>
              <a:t>Methodology:</a:t>
            </a:r>
            <a:br>
              <a:rPr lang="en-US">
                <a:latin typeface="Times New Roman"/>
                <a:ea typeface="Calibri" panose="020F0502020204030204"/>
                <a:cs typeface="Times New Roman"/>
              </a:rPr>
            </a:br>
            <a:br>
              <a:rPr lang="en-US">
                <a:latin typeface="Times New Roman"/>
                <a:ea typeface="Calibri" panose="020F0502020204030204"/>
                <a:cs typeface="Times New Roman"/>
              </a:rPr>
            </a:br>
            <a:r>
              <a:rPr lang="en-US">
                <a:latin typeface="Times New Roman"/>
                <a:ea typeface="Calibri" panose="020F0502020204030204"/>
                <a:cs typeface="Times New Roman"/>
              </a:rPr>
              <a:t>- Initial molecules for bootstrap dataset.</a:t>
            </a:r>
            <a:br>
              <a:rPr lang="en-US">
                <a:latin typeface="Times New Roman"/>
                <a:ea typeface="Calibri" panose="020F0502020204030204"/>
                <a:cs typeface="Times New Roman"/>
              </a:rPr>
            </a:br>
            <a:r>
              <a:rPr lang="en-US">
                <a:latin typeface="Times New Roman"/>
                <a:ea typeface="Calibri" panose="020F0502020204030204"/>
                <a:cs typeface="Times New Roman"/>
              </a:rPr>
              <a:t>- Short AIMD </a:t>
            </a:r>
            <a:br>
              <a:rPr lang="en-US">
                <a:latin typeface="Times New Roman"/>
                <a:ea typeface="Calibri" panose="020F0502020204030204"/>
                <a:cs typeface="Times New Roman"/>
              </a:rPr>
            </a:br>
            <a:r>
              <a:rPr lang="en-US">
                <a:latin typeface="Times New Roman"/>
                <a:ea typeface="Calibri" panose="020F0502020204030204"/>
                <a:cs typeface="Times New Roman"/>
              </a:rPr>
              <a:t>- MLIP training</a:t>
            </a:r>
            <a:br>
              <a:rPr lang="en-US">
                <a:latin typeface="Times New Roman"/>
                <a:ea typeface="Calibri" panose="020F0502020204030204"/>
                <a:cs typeface="Times New Roman"/>
              </a:rPr>
            </a:br>
            <a:r>
              <a:rPr lang="en-US">
                <a:latin typeface="Times New Roman"/>
                <a:ea typeface="Calibri" panose="020F0502020204030204"/>
                <a:cs typeface="Times New Roman"/>
              </a:rPr>
              <a:t>- Configuration filtering</a:t>
            </a:r>
            <a:br>
              <a:rPr lang="en-US">
                <a:latin typeface="Times New Roman"/>
                <a:ea typeface="Calibri" panose="020F0502020204030204"/>
                <a:cs typeface="Times New Roman"/>
              </a:rPr>
            </a:br>
            <a:endParaRPr lang="en-US">
              <a:latin typeface="Times New Roman"/>
              <a:ea typeface="Calibri" panose="020F0502020204030204"/>
              <a:cs typeface="Times New Roman"/>
            </a:endParaRPr>
          </a:p>
          <a:p>
            <a:pPr marL="285750" indent="-285750">
              <a:buFont typeface="Arial"/>
              <a:buChar char="•"/>
            </a:pPr>
            <a:r>
              <a:rPr lang="en-US">
                <a:latin typeface="Times New Roman"/>
                <a:ea typeface="Calibri" panose="020F0502020204030204"/>
                <a:cs typeface="Times New Roman"/>
              </a:rPr>
              <a:t>Committee of MLIPs:</a:t>
            </a:r>
            <a:br>
              <a:rPr lang="en-US">
                <a:latin typeface="Times New Roman"/>
                <a:ea typeface="Calibri" panose="020F0502020204030204"/>
                <a:cs typeface="Times New Roman"/>
              </a:rPr>
            </a:br>
            <a:br>
              <a:rPr lang="en-US">
                <a:latin typeface="Times New Roman"/>
                <a:ea typeface="Calibri" panose="020F0502020204030204"/>
                <a:cs typeface="Times New Roman"/>
              </a:rPr>
            </a:br>
            <a:r>
              <a:rPr lang="en-US">
                <a:latin typeface="Times New Roman"/>
                <a:ea typeface="Calibri" panose="020F0502020204030204"/>
                <a:cs typeface="Times New Roman"/>
              </a:rPr>
              <a:t>- Product prediction from </a:t>
            </a:r>
            <a:r>
              <a:rPr lang="en-US" err="1">
                <a:latin typeface="Times New Roman"/>
                <a:ea typeface="Calibri" panose="020F0502020204030204"/>
                <a:cs typeface="Times New Roman"/>
              </a:rPr>
              <a:t>reactan</a:t>
            </a:r>
            <a:r>
              <a:rPr lang="en-US">
                <a:latin typeface="Times New Roman"/>
                <a:ea typeface="Calibri" panose="020F0502020204030204"/>
                <a:cs typeface="Times New Roman"/>
              </a:rPr>
              <a:t>t SMILES.</a:t>
            </a:r>
            <a:br>
              <a:rPr lang="en-US">
                <a:latin typeface="Times New Roman"/>
                <a:ea typeface="Calibri" panose="020F0502020204030204"/>
                <a:cs typeface="Times New Roman"/>
              </a:rPr>
            </a:br>
            <a:r>
              <a:rPr lang="en-US">
                <a:latin typeface="Times New Roman"/>
                <a:ea typeface="Calibri" panose="020F0502020204030204"/>
                <a:cs typeface="Times New Roman"/>
              </a:rPr>
              <a:t>- TS/Intermediates setup through SE-GSM and/or NEB.</a:t>
            </a:r>
            <a:br>
              <a:rPr lang="en-US">
                <a:latin typeface="Times New Roman"/>
                <a:ea typeface="Calibri" panose="020F0502020204030204"/>
                <a:cs typeface="Times New Roman"/>
              </a:rPr>
            </a:br>
            <a:r>
              <a:rPr lang="en-US">
                <a:latin typeface="Times New Roman"/>
                <a:ea typeface="Calibri" panose="020F0502020204030204"/>
                <a:cs typeface="Times New Roman"/>
              </a:rPr>
              <a:t>- MLIP driven reaction exploration.</a:t>
            </a:r>
          </a:p>
        </p:txBody>
      </p:sp>
      <p:pic>
        <p:nvPicPr>
          <p:cNvPr id="10" name="Picture 9">
            <a:extLst>
              <a:ext uri="{FF2B5EF4-FFF2-40B4-BE49-F238E27FC236}">
                <a16:creationId xmlns:a16="http://schemas.microsoft.com/office/drawing/2014/main" id="{844BBD6A-71CB-F494-2A73-B49D50C3F606}"/>
              </a:ext>
            </a:extLst>
          </p:cNvPr>
          <p:cNvPicPr>
            <a:picLocks noChangeAspect="1"/>
          </p:cNvPicPr>
          <p:nvPr/>
        </p:nvPicPr>
        <p:blipFill>
          <a:blip r:embed="rId4"/>
          <a:stretch>
            <a:fillRect/>
          </a:stretch>
        </p:blipFill>
        <p:spPr>
          <a:xfrm>
            <a:off x="4915853" y="1497330"/>
            <a:ext cx="7013575" cy="4249420"/>
          </a:xfrm>
          <a:prstGeom prst="rect">
            <a:avLst/>
          </a:prstGeom>
        </p:spPr>
      </p:pic>
    </p:spTree>
    <p:extLst>
      <p:ext uri="{BB962C8B-B14F-4D97-AF65-F5344CB8AC3E}">
        <p14:creationId xmlns:p14="http://schemas.microsoft.com/office/powerpoint/2010/main" val="1398421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63CA6-D647-EF48-ECB3-07E4859DAF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DD96BAF-F2B1-35FB-BE7F-707D2A42F261}"/>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Literature on MLFFs – Molten Systems, Nanomaterials, CNT Growth, etc.</a:t>
            </a:r>
          </a:p>
        </p:txBody>
      </p:sp>
      <p:pic>
        <p:nvPicPr>
          <p:cNvPr id="8" name="Picture 7" descr="सञ्चिका:IIT Kanpur Logo.png - विकिपीडिया">
            <a:extLst>
              <a:ext uri="{FF2B5EF4-FFF2-40B4-BE49-F238E27FC236}">
                <a16:creationId xmlns:a16="http://schemas.microsoft.com/office/drawing/2014/main" id="{48DCFB95-D1BF-E042-699E-D3F3A7F387C5}"/>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DE1043ED-3183-6B01-86B1-73FECEB24F50}"/>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0D67639-C81C-BB2B-C29B-24217EA21CCC}"/>
              </a:ext>
            </a:extLst>
          </p:cNvPr>
          <p:cNvSpPr txBox="1"/>
          <p:nvPr/>
        </p:nvSpPr>
        <p:spPr>
          <a:xfrm>
            <a:off x="292231" y="970961"/>
            <a:ext cx="9238268" cy="400110"/>
          </a:xfrm>
          <a:prstGeom prst="rect">
            <a:avLst/>
          </a:prstGeom>
          <a:noFill/>
        </p:spPr>
        <p:txBody>
          <a:bodyPr wrap="square" lIns="91440" tIns="45720" rIns="91440" bIns="45720" rtlCol="0" anchor="t">
            <a:spAutoFit/>
          </a:bodyPr>
          <a:lstStyle/>
          <a:p>
            <a:r>
              <a:rPr lang="en-IN" sz="2000" u="sng">
                <a:latin typeface="Times New Roman"/>
                <a:cs typeface="Times New Roman"/>
              </a:rPr>
              <a:t>Reactive Active Learning</a:t>
            </a:r>
            <a:endParaRPr lang="en-IN" sz="2000" u="sng">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09537FF7-F071-9E81-16F7-AC8B9823811F}"/>
              </a:ext>
            </a:extLst>
          </p:cNvPr>
          <p:cNvCxnSpPr>
            <a:cxnSpLocks/>
          </p:cNvCxnSpPr>
          <p:nvPr/>
        </p:nvCxnSpPr>
        <p:spPr>
          <a:xfrm>
            <a:off x="195021" y="6349233"/>
            <a:ext cx="11732803"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1313B8E-D9A4-9743-D208-AB955A164C81}"/>
              </a:ext>
            </a:extLst>
          </p:cNvPr>
          <p:cNvPicPr>
            <a:picLocks noChangeAspect="1"/>
          </p:cNvPicPr>
          <p:nvPr/>
        </p:nvPicPr>
        <p:blipFill>
          <a:blip r:embed="rId4"/>
          <a:srcRect b="213"/>
          <a:stretch>
            <a:fillRect/>
          </a:stretch>
        </p:blipFill>
        <p:spPr>
          <a:xfrm>
            <a:off x="4908550" y="1038225"/>
            <a:ext cx="6499860" cy="4994875"/>
          </a:xfrm>
          <a:prstGeom prst="rect">
            <a:avLst/>
          </a:prstGeom>
        </p:spPr>
      </p:pic>
      <p:sp>
        <p:nvSpPr>
          <p:cNvPr id="10" name="TextBox 9">
            <a:extLst>
              <a:ext uri="{FF2B5EF4-FFF2-40B4-BE49-F238E27FC236}">
                <a16:creationId xmlns:a16="http://schemas.microsoft.com/office/drawing/2014/main" id="{D80B1A78-8795-CF68-4B05-A327EC385B7C}"/>
              </a:ext>
            </a:extLst>
          </p:cNvPr>
          <p:cNvSpPr txBox="1"/>
          <p:nvPr/>
        </p:nvSpPr>
        <p:spPr>
          <a:xfrm>
            <a:off x="401070" y="1717156"/>
            <a:ext cx="4500880"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Times New Roman"/>
                <a:ea typeface="Calibri" panose="020F0502020204030204"/>
                <a:cs typeface="Times New Roman"/>
              </a:rPr>
              <a:t>Uncatalyzed Gas-Phase Ammonia Synthesis</a:t>
            </a:r>
            <a:br>
              <a:rPr lang="en-US">
                <a:latin typeface="Times New Roman"/>
                <a:ea typeface="Calibri" panose="020F0502020204030204"/>
                <a:cs typeface="Times New Roman"/>
              </a:rPr>
            </a:br>
            <a:endParaRPr lang="en-US">
              <a:latin typeface="Times New Roman"/>
              <a:ea typeface="Calibri" panose="020F0502020204030204"/>
              <a:cs typeface="Times New Roman"/>
            </a:endParaRPr>
          </a:p>
          <a:p>
            <a:pPr marL="285750" indent="-285750">
              <a:buFont typeface="Arial"/>
              <a:buChar char="•"/>
            </a:pPr>
            <a:r>
              <a:rPr lang="en-US">
                <a:latin typeface="Times New Roman"/>
                <a:ea typeface="Calibri" panose="020F0502020204030204"/>
                <a:cs typeface="Times New Roman"/>
              </a:rPr>
              <a:t>Reactions:</a:t>
            </a:r>
            <a:br>
              <a:rPr lang="en-US">
                <a:latin typeface="Times New Roman"/>
                <a:ea typeface="Calibri" panose="020F0502020204030204"/>
                <a:cs typeface="Times New Roman"/>
              </a:rPr>
            </a:br>
            <a:r>
              <a:rPr lang="en-US">
                <a:latin typeface="Times New Roman"/>
                <a:ea typeface="Calibri" panose="020F0502020204030204"/>
                <a:cs typeface="Times New Roman"/>
              </a:rPr>
              <a:t>- </a:t>
            </a:r>
            <a:r>
              <a:rPr lang="en-US">
                <a:latin typeface="Times New Roman"/>
                <a:ea typeface="+mn-lt"/>
                <a:cs typeface="Times New Roman"/>
              </a:rPr>
              <a:t>N2 + H2 → cis− HNNH</a:t>
            </a:r>
            <a:br>
              <a:rPr lang="en-US">
                <a:latin typeface="Times New Roman"/>
                <a:ea typeface="+mn-lt"/>
                <a:cs typeface="Times New Roman"/>
              </a:rPr>
            </a:br>
            <a:r>
              <a:rPr lang="en-US">
                <a:latin typeface="Times New Roman"/>
                <a:ea typeface="+mn-lt"/>
                <a:cs typeface="Times New Roman"/>
              </a:rPr>
              <a:t>- cis− HNNH + H2 → H2NNH2</a:t>
            </a:r>
            <a:br>
              <a:rPr lang="en-US">
                <a:latin typeface="Times New Roman"/>
                <a:ea typeface="+mn-lt"/>
                <a:cs typeface="Times New Roman"/>
              </a:rPr>
            </a:br>
            <a:r>
              <a:rPr lang="en-US">
                <a:latin typeface="Times New Roman"/>
                <a:ea typeface="+mn-lt"/>
                <a:cs typeface="Times New Roman"/>
              </a:rPr>
              <a:t>- H2NNH2 + H2 → HNNH3 + H2</a:t>
            </a:r>
            <a:br>
              <a:rPr lang="en-US">
                <a:latin typeface="Times New Roman"/>
                <a:ea typeface="+mn-lt"/>
                <a:cs typeface="Times New Roman"/>
              </a:rPr>
            </a:br>
            <a:r>
              <a:rPr lang="en-US">
                <a:latin typeface="Times New Roman"/>
                <a:ea typeface="+mn-lt"/>
                <a:cs typeface="Times New Roman"/>
              </a:rPr>
              <a:t>- HNNH3+H2 → NH3+NH3.</a:t>
            </a:r>
            <a:br>
              <a:rPr lang="en-US">
                <a:latin typeface="Times New Roman"/>
                <a:ea typeface="+mn-lt"/>
                <a:cs typeface="Times New Roman"/>
              </a:rPr>
            </a:br>
            <a:endParaRPr lang="en-US">
              <a:latin typeface="Times New Roman"/>
              <a:ea typeface="+mn-lt"/>
              <a:cs typeface="Times New Roman"/>
            </a:endParaRPr>
          </a:p>
          <a:p>
            <a:pPr marL="285750" indent="-285750">
              <a:buFont typeface="Arial"/>
              <a:buChar char="•"/>
            </a:pPr>
            <a:r>
              <a:rPr lang="en-US">
                <a:latin typeface="Times New Roman"/>
                <a:ea typeface="+mn-lt"/>
                <a:cs typeface="Times New Roman"/>
              </a:rPr>
              <a:t>Both NSC-RAL and SC-RAL MLIPs show significant errors in predicting the forward and reverse barriers, indicating poor performance in estimating the transition state energy. </a:t>
            </a:r>
            <a:endParaRPr lang="en-US">
              <a:latin typeface="Times New Roman"/>
              <a:ea typeface="Calibri" panose="020F0502020204030204"/>
              <a:cs typeface="Times New Roman"/>
            </a:endParaRPr>
          </a:p>
        </p:txBody>
      </p:sp>
    </p:spTree>
    <p:extLst>
      <p:ext uri="{BB962C8B-B14F-4D97-AF65-F5344CB8AC3E}">
        <p14:creationId xmlns:p14="http://schemas.microsoft.com/office/powerpoint/2010/main" val="2001033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A22F6-BF93-06B9-118C-EE549885D47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8CBCED-ACEF-F9B3-10CD-10E86399AB5C}"/>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Literature on MLFFs – Molten Systems, Nanomaterials, CNT Growth, etc.</a:t>
            </a:r>
          </a:p>
        </p:txBody>
      </p:sp>
      <p:pic>
        <p:nvPicPr>
          <p:cNvPr id="8" name="Picture 7" descr="सञ्चिका:IIT Kanpur Logo.png - विकिपीडिया">
            <a:extLst>
              <a:ext uri="{FF2B5EF4-FFF2-40B4-BE49-F238E27FC236}">
                <a16:creationId xmlns:a16="http://schemas.microsoft.com/office/drawing/2014/main" id="{1AEA59C0-6EB3-EF78-892E-A14CC87B8F84}"/>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1C185084-3BB6-19C6-AF7C-B916C6BF7CB0}"/>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A2A551A-ED4C-91A4-B05F-C5C329296707}"/>
              </a:ext>
            </a:extLst>
          </p:cNvPr>
          <p:cNvSpPr txBox="1"/>
          <p:nvPr/>
        </p:nvSpPr>
        <p:spPr>
          <a:xfrm>
            <a:off x="292231" y="970961"/>
            <a:ext cx="9238268" cy="400110"/>
          </a:xfrm>
          <a:prstGeom prst="rect">
            <a:avLst/>
          </a:prstGeom>
          <a:noFill/>
        </p:spPr>
        <p:txBody>
          <a:bodyPr wrap="square" rtlCol="0">
            <a:spAutoFit/>
          </a:bodyPr>
          <a:lstStyle/>
          <a:p>
            <a:r>
              <a:rPr lang="en-IN" sz="2000" u="sng">
                <a:latin typeface="Times New Roman" panose="02020603050405020304" pitchFamily="18" charset="0"/>
                <a:cs typeface="Times New Roman" panose="02020603050405020304" pitchFamily="18" charset="0"/>
              </a:rPr>
              <a:t>Reactive Active Learning</a:t>
            </a:r>
          </a:p>
        </p:txBody>
      </p:sp>
      <p:cxnSp>
        <p:nvCxnSpPr>
          <p:cNvPr id="4" name="Straight Connector 3">
            <a:extLst>
              <a:ext uri="{FF2B5EF4-FFF2-40B4-BE49-F238E27FC236}">
                <a16:creationId xmlns:a16="http://schemas.microsoft.com/office/drawing/2014/main" id="{D2275CF4-CB6A-B7A5-176D-3D7E01185849}"/>
              </a:ext>
            </a:extLst>
          </p:cNvPr>
          <p:cNvCxnSpPr>
            <a:cxnSpLocks/>
          </p:cNvCxnSpPr>
          <p:nvPr/>
        </p:nvCxnSpPr>
        <p:spPr>
          <a:xfrm>
            <a:off x="195021" y="6349233"/>
            <a:ext cx="11732803"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F703DD63-5DA0-3FFE-70CF-E9A9F385FC3D}"/>
              </a:ext>
            </a:extLst>
          </p:cNvPr>
          <p:cNvPicPr>
            <a:picLocks noChangeAspect="1"/>
          </p:cNvPicPr>
          <p:nvPr/>
        </p:nvPicPr>
        <p:blipFill>
          <a:blip r:embed="rId4"/>
          <a:srcRect r="161" b="581"/>
          <a:stretch>
            <a:fillRect/>
          </a:stretch>
        </p:blipFill>
        <p:spPr>
          <a:xfrm>
            <a:off x="1602740" y="1369378"/>
            <a:ext cx="8915376" cy="2463080"/>
          </a:xfrm>
          <a:prstGeom prst="rect">
            <a:avLst/>
          </a:prstGeom>
        </p:spPr>
      </p:pic>
      <p:sp>
        <p:nvSpPr>
          <p:cNvPr id="9" name="TextBox 8">
            <a:extLst>
              <a:ext uri="{FF2B5EF4-FFF2-40B4-BE49-F238E27FC236}">
                <a16:creationId xmlns:a16="http://schemas.microsoft.com/office/drawing/2014/main" id="{338FD8E0-7A7A-5AFA-04BA-2AEEC14C8403}"/>
              </a:ext>
            </a:extLst>
          </p:cNvPr>
          <p:cNvSpPr txBox="1"/>
          <p:nvPr/>
        </p:nvSpPr>
        <p:spPr>
          <a:xfrm>
            <a:off x="196012" y="4084052"/>
            <a:ext cx="117856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Times New Roman"/>
                <a:ea typeface="Calibri" panose="020F0502020204030204"/>
                <a:cs typeface="Times New Roman"/>
              </a:rPr>
              <a:t>Hydrolysis of </a:t>
            </a:r>
            <a:r>
              <a:rPr lang="en-US" err="1">
                <a:latin typeface="Times New Roman"/>
                <a:ea typeface="Calibri" panose="020F0502020204030204"/>
                <a:cs typeface="Times New Roman"/>
              </a:rPr>
              <a:t>Methanamine</a:t>
            </a:r>
            <a:endParaRPr lang="en-US">
              <a:latin typeface="Times New Roman"/>
              <a:ea typeface="Calibri" panose="020F0502020204030204"/>
              <a:cs typeface="Times New Roman"/>
            </a:endParaRPr>
          </a:p>
          <a:p>
            <a:pPr marL="285750" indent="-285750">
              <a:buFont typeface="Arial"/>
              <a:buChar char="•"/>
            </a:pPr>
            <a:r>
              <a:rPr lang="en-US">
                <a:latin typeface="Times New Roman"/>
                <a:ea typeface="Calibri" panose="020F0502020204030204"/>
                <a:cs typeface="Times New Roman"/>
              </a:rPr>
              <a:t>Reactions:</a:t>
            </a:r>
            <a:br>
              <a:rPr lang="en-US">
                <a:latin typeface="Times New Roman"/>
                <a:ea typeface="Calibri" panose="020F0502020204030204"/>
                <a:cs typeface="Times New Roman"/>
              </a:rPr>
            </a:br>
            <a:r>
              <a:rPr lang="en-US">
                <a:latin typeface="Times New Roman"/>
                <a:ea typeface="Calibri" panose="020F0502020204030204"/>
                <a:cs typeface="Times New Roman"/>
              </a:rPr>
              <a:t>- </a:t>
            </a:r>
            <a:r>
              <a:rPr lang="en-US">
                <a:latin typeface="Times New Roman"/>
                <a:ea typeface="+mn-lt"/>
                <a:cs typeface="Times New Roman"/>
              </a:rPr>
              <a:t>CH2NH + H2O → NH2CH2OH</a:t>
            </a:r>
            <a:br>
              <a:rPr lang="en-US">
                <a:latin typeface="Times New Roman"/>
                <a:ea typeface="Calibri" panose="020F0502020204030204"/>
                <a:cs typeface="Times New Roman"/>
              </a:rPr>
            </a:br>
            <a:r>
              <a:rPr lang="en-US">
                <a:latin typeface="Times New Roman"/>
                <a:ea typeface="Calibri" panose="020F0502020204030204"/>
                <a:cs typeface="Times New Roman"/>
              </a:rPr>
              <a:t>- </a:t>
            </a:r>
            <a:r>
              <a:rPr lang="en-US">
                <a:latin typeface="Times New Roman"/>
                <a:ea typeface="+mn-lt"/>
                <a:cs typeface="Times New Roman"/>
              </a:rPr>
              <a:t>NH2CH2OH → NH2CH2OH</a:t>
            </a:r>
            <a:br>
              <a:rPr lang="en-US">
                <a:latin typeface="Times New Roman"/>
                <a:ea typeface="Calibri" panose="020F0502020204030204"/>
                <a:cs typeface="Times New Roman"/>
              </a:rPr>
            </a:br>
            <a:r>
              <a:rPr lang="en-US">
                <a:latin typeface="Times New Roman"/>
                <a:ea typeface="Calibri" panose="020F0502020204030204"/>
                <a:cs typeface="Times New Roman"/>
              </a:rPr>
              <a:t>-</a:t>
            </a:r>
            <a:r>
              <a:rPr lang="en-US">
                <a:latin typeface="Times New Roman"/>
                <a:ea typeface="+mn-lt"/>
                <a:cs typeface="Times New Roman"/>
              </a:rPr>
              <a:t> NH2CH2OH → CH2O + NH3</a:t>
            </a:r>
          </a:p>
          <a:p>
            <a:pPr marL="285750" indent="-285750">
              <a:buFont typeface="Arial"/>
              <a:buChar char="•"/>
            </a:pPr>
            <a:r>
              <a:rPr lang="en-US">
                <a:latin typeface="Times New Roman"/>
                <a:ea typeface="+mn-lt"/>
                <a:cs typeface="Times New Roman"/>
              </a:rPr>
              <a:t>Both MLIPs predict similar reaction PES as well as forward and reverse barriers. Although the absolute error is small for this reaction, the reaction barrier itself is very low, which may result in large a percentage error.</a:t>
            </a:r>
            <a:endParaRPr lang="en-US">
              <a:latin typeface="Times New Roman"/>
              <a:ea typeface="Calibri" panose="020F0502020204030204"/>
              <a:cs typeface="Times New Roman"/>
            </a:endParaRPr>
          </a:p>
        </p:txBody>
      </p:sp>
    </p:spTree>
    <p:extLst>
      <p:ext uri="{BB962C8B-B14F-4D97-AF65-F5344CB8AC3E}">
        <p14:creationId xmlns:p14="http://schemas.microsoft.com/office/powerpoint/2010/main" val="1797503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F0077-A9C3-1D46-3868-3FFAB8F9459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6E5BB17-A461-FD1B-D004-0918AEE735FD}"/>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Literature on MLFFs – Molten Systems, Nanomaterials, CNT Growth, etc.</a:t>
            </a:r>
          </a:p>
        </p:txBody>
      </p:sp>
      <p:pic>
        <p:nvPicPr>
          <p:cNvPr id="8" name="Picture 7" descr="सञ्चिका:IIT Kanpur Logo.png - विकिपीडिया">
            <a:extLst>
              <a:ext uri="{FF2B5EF4-FFF2-40B4-BE49-F238E27FC236}">
                <a16:creationId xmlns:a16="http://schemas.microsoft.com/office/drawing/2014/main" id="{298CD3E5-E9E6-314D-70AE-B61199238568}"/>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872390FA-47BA-C4D2-45FC-566B0180E31A}"/>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7E92EB4-DAAD-D417-8956-E71473B696DE}"/>
              </a:ext>
            </a:extLst>
          </p:cNvPr>
          <p:cNvSpPr txBox="1"/>
          <p:nvPr/>
        </p:nvSpPr>
        <p:spPr>
          <a:xfrm>
            <a:off x="292231" y="970961"/>
            <a:ext cx="9238268" cy="400110"/>
          </a:xfrm>
          <a:prstGeom prst="rect">
            <a:avLst/>
          </a:prstGeom>
          <a:noFill/>
        </p:spPr>
        <p:txBody>
          <a:bodyPr wrap="square" rtlCol="0">
            <a:spAutoFit/>
          </a:bodyPr>
          <a:lstStyle/>
          <a:p>
            <a:r>
              <a:rPr lang="en-IN" sz="2000" u="sng">
                <a:latin typeface="Times New Roman" panose="02020603050405020304" pitchFamily="18" charset="0"/>
                <a:cs typeface="Times New Roman" panose="02020603050405020304" pitchFamily="18" charset="0"/>
              </a:rPr>
              <a:t>Reactive Active Learning</a:t>
            </a:r>
          </a:p>
        </p:txBody>
      </p:sp>
      <p:cxnSp>
        <p:nvCxnSpPr>
          <p:cNvPr id="4" name="Straight Connector 3">
            <a:extLst>
              <a:ext uri="{FF2B5EF4-FFF2-40B4-BE49-F238E27FC236}">
                <a16:creationId xmlns:a16="http://schemas.microsoft.com/office/drawing/2014/main" id="{0F596E92-DB6C-D17B-69BE-EAB570E72E5A}"/>
              </a:ext>
            </a:extLst>
          </p:cNvPr>
          <p:cNvCxnSpPr>
            <a:cxnSpLocks/>
          </p:cNvCxnSpPr>
          <p:nvPr/>
        </p:nvCxnSpPr>
        <p:spPr>
          <a:xfrm>
            <a:off x="195021" y="6349233"/>
            <a:ext cx="11732803"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87D50C-624C-C7CD-5C98-A695CC1AF7F3}"/>
              </a:ext>
            </a:extLst>
          </p:cNvPr>
          <p:cNvPicPr>
            <a:picLocks noChangeAspect="1"/>
          </p:cNvPicPr>
          <p:nvPr/>
        </p:nvPicPr>
        <p:blipFill>
          <a:blip r:embed="rId4"/>
          <a:stretch>
            <a:fillRect/>
          </a:stretch>
        </p:blipFill>
        <p:spPr>
          <a:xfrm>
            <a:off x="292101" y="1368780"/>
            <a:ext cx="5257502" cy="4248485"/>
          </a:xfrm>
          <a:prstGeom prst="rect">
            <a:avLst/>
          </a:prstGeom>
        </p:spPr>
      </p:pic>
      <p:pic>
        <p:nvPicPr>
          <p:cNvPr id="7" name="Picture 6">
            <a:extLst>
              <a:ext uri="{FF2B5EF4-FFF2-40B4-BE49-F238E27FC236}">
                <a16:creationId xmlns:a16="http://schemas.microsoft.com/office/drawing/2014/main" id="{BE9069CF-96B9-6D16-5E9B-3D4A77A12F0A}"/>
              </a:ext>
            </a:extLst>
          </p:cNvPr>
          <p:cNvPicPr>
            <a:picLocks noChangeAspect="1"/>
          </p:cNvPicPr>
          <p:nvPr/>
        </p:nvPicPr>
        <p:blipFill>
          <a:blip r:embed="rId5"/>
          <a:srcRect r="-129" b="-203"/>
          <a:stretch>
            <a:fillRect/>
          </a:stretch>
        </p:blipFill>
        <p:spPr>
          <a:xfrm>
            <a:off x="6067277" y="1364971"/>
            <a:ext cx="5735362" cy="3640392"/>
          </a:xfrm>
          <a:prstGeom prst="rect">
            <a:avLst/>
          </a:prstGeom>
        </p:spPr>
      </p:pic>
      <p:sp>
        <p:nvSpPr>
          <p:cNvPr id="9" name="TextBox 8">
            <a:extLst>
              <a:ext uri="{FF2B5EF4-FFF2-40B4-BE49-F238E27FC236}">
                <a16:creationId xmlns:a16="http://schemas.microsoft.com/office/drawing/2014/main" id="{29FFFA40-80E8-45A6-DA3E-5F6E6D2C2A3F}"/>
              </a:ext>
            </a:extLst>
          </p:cNvPr>
          <p:cNvSpPr txBox="1"/>
          <p:nvPr/>
        </p:nvSpPr>
        <p:spPr>
          <a:xfrm>
            <a:off x="6199059" y="5021246"/>
            <a:ext cx="545592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ea typeface="+mn-lt"/>
                <a:cs typeface="Times New Roman"/>
              </a:rPr>
              <a:t>Snapshots of </a:t>
            </a:r>
            <a:r>
              <a:rPr lang="en-US" err="1">
                <a:latin typeface="Times New Roman"/>
                <a:ea typeface="+mn-lt"/>
                <a:cs typeface="Times New Roman"/>
              </a:rPr>
              <a:t>Ti</a:t>
            </a:r>
            <a:r>
              <a:rPr lang="en-US" sz="1400" err="1">
                <a:latin typeface="Times New Roman"/>
                <a:ea typeface="+mn-lt"/>
                <a:cs typeface="Times New Roman"/>
              </a:rPr>
              <a:t>x</a:t>
            </a:r>
            <a:r>
              <a:rPr lang="en-US" err="1">
                <a:latin typeface="Times New Roman"/>
                <a:ea typeface="+mn-lt"/>
                <a:cs typeface="Times New Roman"/>
              </a:rPr>
              <a:t>C</a:t>
            </a:r>
            <a:r>
              <a:rPr lang="en-US" sz="1400" err="1">
                <a:latin typeface="Times New Roman"/>
                <a:ea typeface="+mn-lt"/>
                <a:cs typeface="Times New Roman"/>
              </a:rPr>
              <a:t>y</a:t>
            </a:r>
            <a:r>
              <a:rPr lang="en-US">
                <a:latin typeface="Times New Roman"/>
                <a:ea typeface="+mn-lt"/>
                <a:cs typeface="Times New Roman"/>
              </a:rPr>
              <a:t> surfaces before (t = 0 </a:t>
            </a:r>
            <a:r>
              <a:rPr lang="en-US" err="1">
                <a:latin typeface="Times New Roman"/>
                <a:ea typeface="+mn-lt"/>
                <a:cs typeface="Times New Roman"/>
              </a:rPr>
              <a:t>ps</a:t>
            </a:r>
            <a:r>
              <a:rPr lang="en-US">
                <a:latin typeface="Times New Roman"/>
                <a:ea typeface="+mn-lt"/>
                <a:cs typeface="Times New Roman"/>
              </a:rPr>
              <a:t>) and after (t = 500 </a:t>
            </a:r>
            <a:r>
              <a:rPr lang="en-US" err="1">
                <a:latin typeface="Times New Roman"/>
                <a:ea typeface="+mn-lt"/>
                <a:cs typeface="Times New Roman"/>
              </a:rPr>
              <a:t>ps</a:t>
            </a:r>
            <a:r>
              <a:rPr lang="en-US">
                <a:latin typeface="Times New Roman"/>
                <a:ea typeface="+mn-lt"/>
                <a:cs typeface="Times New Roman"/>
              </a:rPr>
              <a:t>) T = 1200 K NVT-MD simulations initialized with 20 CH4 molecules. Ti atoms shown in light gray, C in dark gray, H in white.</a:t>
            </a:r>
            <a:endParaRPr lang="en-US">
              <a:latin typeface="Times New Roman"/>
              <a:cs typeface="Times New Roman"/>
            </a:endParaRPr>
          </a:p>
        </p:txBody>
      </p:sp>
      <p:sp>
        <p:nvSpPr>
          <p:cNvPr id="10" name="TextBox 9">
            <a:extLst>
              <a:ext uri="{FF2B5EF4-FFF2-40B4-BE49-F238E27FC236}">
                <a16:creationId xmlns:a16="http://schemas.microsoft.com/office/drawing/2014/main" id="{7FBD43DE-6596-F5DE-F64C-A886285D6D5D}"/>
              </a:ext>
            </a:extLst>
          </p:cNvPr>
          <p:cNvSpPr txBox="1"/>
          <p:nvPr/>
        </p:nvSpPr>
        <p:spPr>
          <a:xfrm>
            <a:off x="770918" y="5621180"/>
            <a:ext cx="495808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ea typeface="+mn-lt"/>
                <a:cs typeface="Times New Roman"/>
              </a:rPr>
              <a:t>Methane Activation and C−C Coupling Surface Catalysis Reaction on Titanium Carbide</a:t>
            </a:r>
            <a:endParaRPr lang="en-US">
              <a:latin typeface="Times New Roman"/>
              <a:cs typeface="Times New Roman"/>
            </a:endParaRPr>
          </a:p>
        </p:txBody>
      </p:sp>
    </p:spTree>
    <p:extLst>
      <p:ext uri="{BB962C8B-B14F-4D97-AF65-F5344CB8AC3E}">
        <p14:creationId xmlns:p14="http://schemas.microsoft.com/office/powerpoint/2010/main" val="3672431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5A176-02A1-0FFB-24B5-DADF56DA44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9E6F882-45D2-5FAF-8E4B-C3757D45EA61}"/>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Literature on MLFFs – Molten Systems, Nanomaterials, CNT Growth, etc.</a:t>
            </a:r>
          </a:p>
        </p:txBody>
      </p:sp>
      <p:pic>
        <p:nvPicPr>
          <p:cNvPr id="8" name="Picture 7" descr="सञ्चिका:IIT Kanpur Logo.png - विकिपीडिया">
            <a:extLst>
              <a:ext uri="{FF2B5EF4-FFF2-40B4-BE49-F238E27FC236}">
                <a16:creationId xmlns:a16="http://schemas.microsoft.com/office/drawing/2014/main" id="{AE2EEB2F-9DA0-32E5-4EC6-8CB4FF538F60}"/>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B7B72EAF-2C97-B697-E109-52569C9E9041}"/>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7F068F4-F09C-D3DB-9BA7-95C20E6E5605}"/>
              </a:ext>
            </a:extLst>
          </p:cNvPr>
          <p:cNvSpPr txBox="1"/>
          <p:nvPr/>
        </p:nvSpPr>
        <p:spPr>
          <a:xfrm>
            <a:off x="292231" y="970961"/>
            <a:ext cx="9238268" cy="400110"/>
          </a:xfrm>
          <a:prstGeom prst="rect">
            <a:avLst/>
          </a:prstGeom>
          <a:noFill/>
        </p:spPr>
        <p:txBody>
          <a:bodyPr wrap="square" rtlCol="0">
            <a:spAutoFit/>
          </a:bodyPr>
          <a:lstStyle/>
          <a:p>
            <a:r>
              <a:rPr lang="en-IN" sz="2000" u="sng">
                <a:latin typeface="Times New Roman" panose="02020603050405020304" pitchFamily="18" charset="0"/>
                <a:cs typeface="Times New Roman" panose="02020603050405020304" pitchFamily="18" charset="0"/>
              </a:rPr>
              <a:t>Reactive Active Learning</a:t>
            </a:r>
          </a:p>
        </p:txBody>
      </p:sp>
      <p:cxnSp>
        <p:nvCxnSpPr>
          <p:cNvPr id="4" name="Straight Connector 3">
            <a:extLst>
              <a:ext uri="{FF2B5EF4-FFF2-40B4-BE49-F238E27FC236}">
                <a16:creationId xmlns:a16="http://schemas.microsoft.com/office/drawing/2014/main" id="{391F63E3-3ED0-E02F-0A94-88D993ACA923}"/>
              </a:ext>
            </a:extLst>
          </p:cNvPr>
          <p:cNvCxnSpPr>
            <a:cxnSpLocks/>
          </p:cNvCxnSpPr>
          <p:nvPr/>
        </p:nvCxnSpPr>
        <p:spPr>
          <a:xfrm>
            <a:off x="195021" y="6349233"/>
            <a:ext cx="11732803"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5B32CF89-289E-8E18-8673-D97DE0DF955C}"/>
              </a:ext>
            </a:extLst>
          </p:cNvPr>
          <p:cNvPicPr>
            <a:picLocks noChangeAspect="1"/>
          </p:cNvPicPr>
          <p:nvPr/>
        </p:nvPicPr>
        <p:blipFill>
          <a:blip r:embed="rId4"/>
          <a:stretch>
            <a:fillRect/>
          </a:stretch>
        </p:blipFill>
        <p:spPr>
          <a:xfrm>
            <a:off x="292101" y="1368780"/>
            <a:ext cx="5257502" cy="4248485"/>
          </a:xfrm>
          <a:prstGeom prst="rect">
            <a:avLst/>
          </a:prstGeom>
        </p:spPr>
      </p:pic>
      <p:pic>
        <p:nvPicPr>
          <p:cNvPr id="7" name="Picture 6">
            <a:extLst>
              <a:ext uri="{FF2B5EF4-FFF2-40B4-BE49-F238E27FC236}">
                <a16:creationId xmlns:a16="http://schemas.microsoft.com/office/drawing/2014/main" id="{304FF374-A6AD-6F51-B26F-BE1B77BD00F3}"/>
              </a:ext>
            </a:extLst>
          </p:cNvPr>
          <p:cNvPicPr>
            <a:picLocks noChangeAspect="1"/>
          </p:cNvPicPr>
          <p:nvPr/>
        </p:nvPicPr>
        <p:blipFill>
          <a:blip r:embed="rId5"/>
          <a:srcRect r="-129" b="-203"/>
          <a:stretch>
            <a:fillRect/>
          </a:stretch>
        </p:blipFill>
        <p:spPr>
          <a:xfrm>
            <a:off x="6067277" y="1364971"/>
            <a:ext cx="5735362" cy="3640392"/>
          </a:xfrm>
          <a:prstGeom prst="rect">
            <a:avLst/>
          </a:prstGeom>
        </p:spPr>
      </p:pic>
      <p:sp>
        <p:nvSpPr>
          <p:cNvPr id="9" name="TextBox 8">
            <a:extLst>
              <a:ext uri="{FF2B5EF4-FFF2-40B4-BE49-F238E27FC236}">
                <a16:creationId xmlns:a16="http://schemas.microsoft.com/office/drawing/2014/main" id="{56BB46DE-B634-74F7-A721-92E03BCD7FC8}"/>
              </a:ext>
            </a:extLst>
          </p:cNvPr>
          <p:cNvSpPr txBox="1"/>
          <p:nvPr/>
        </p:nvSpPr>
        <p:spPr>
          <a:xfrm>
            <a:off x="6199059" y="5021246"/>
            <a:ext cx="545592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ea typeface="+mn-lt"/>
                <a:cs typeface="Times New Roman"/>
              </a:rPr>
              <a:t>Snapshots of </a:t>
            </a:r>
            <a:r>
              <a:rPr lang="en-US" err="1">
                <a:latin typeface="Times New Roman"/>
                <a:ea typeface="+mn-lt"/>
                <a:cs typeface="Times New Roman"/>
              </a:rPr>
              <a:t>Ti</a:t>
            </a:r>
            <a:r>
              <a:rPr lang="en-US" sz="1400" err="1">
                <a:latin typeface="Times New Roman"/>
                <a:ea typeface="+mn-lt"/>
                <a:cs typeface="Times New Roman"/>
              </a:rPr>
              <a:t>x</a:t>
            </a:r>
            <a:r>
              <a:rPr lang="en-US" err="1">
                <a:latin typeface="Times New Roman"/>
                <a:ea typeface="+mn-lt"/>
                <a:cs typeface="Times New Roman"/>
              </a:rPr>
              <a:t>C</a:t>
            </a:r>
            <a:r>
              <a:rPr lang="en-US" sz="1400" err="1">
                <a:latin typeface="Times New Roman"/>
                <a:ea typeface="+mn-lt"/>
                <a:cs typeface="Times New Roman"/>
              </a:rPr>
              <a:t>y</a:t>
            </a:r>
            <a:r>
              <a:rPr lang="en-US">
                <a:latin typeface="Times New Roman"/>
                <a:ea typeface="+mn-lt"/>
                <a:cs typeface="Times New Roman"/>
              </a:rPr>
              <a:t> surfaces before (t = 0 </a:t>
            </a:r>
            <a:r>
              <a:rPr lang="en-US" err="1">
                <a:latin typeface="Times New Roman"/>
                <a:ea typeface="+mn-lt"/>
                <a:cs typeface="Times New Roman"/>
              </a:rPr>
              <a:t>ps</a:t>
            </a:r>
            <a:r>
              <a:rPr lang="en-US">
                <a:latin typeface="Times New Roman"/>
                <a:ea typeface="+mn-lt"/>
                <a:cs typeface="Times New Roman"/>
              </a:rPr>
              <a:t>) and after (t = 500 </a:t>
            </a:r>
            <a:r>
              <a:rPr lang="en-US" err="1">
                <a:latin typeface="Times New Roman"/>
                <a:ea typeface="+mn-lt"/>
                <a:cs typeface="Times New Roman"/>
              </a:rPr>
              <a:t>ps</a:t>
            </a:r>
            <a:r>
              <a:rPr lang="en-US">
                <a:latin typeface="Times New Roman"/>
                <a:ea typeface="+mn-lt"/>
                <a:cs typeface="Times New Roman"/>
              </a:rPr>
              <a:t>) T = 1200 K NVT-MD simulations initialized with 20 CH4 molecules. Ti atoms shown in light gray, C in dark gray, H in white.</a:t>
            </a:r>
            <a:endParaRPr lang="en-US">
              <a:latin typeface="Times New Roman"/>
              <a:cs typeface="Times New Roman"/>
            </a:endParaRPr>
          </a:p>
        </p:txBody>
      </p:sp>
      <p:sp>
        <p:nvSpPr>
          <p:cNvPr id="10" name="TextBox 9">
            <a:extLst>
              <a:ext uri="{FF2B5EF4-FFF2-40B4-BE49-F238E27FC236}">
                <a16:creationId xmlns:a16="http://schemas.microsoft.com/office/drawing/2014/main" id="{D5A36A9C-801E-ACB7-825A-6B96BC129546}"/>
              </a:ext>
            </a:extLst>
          </p:cNvPr>
          <p:cNvSpPr txBox="1"/>
          <p:nvPr/>
        </p:nvSpPr>
        <p:spPr>
          <a:xfrm>
            <a:off x="770918" y="5621180"/>
            <a:ext cx="495808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ea typeface="+mn-lt"/>
                <a:cs typeface="Times New Roman"/>
              </a:rPr>
              <a:t>Methane Activation and C−C Coupling Surface Catalysis Reaction on Titanium Carbide</a:t>
            </a:r>
            <a:endParaRPr lang="en-US">
              <a:latin typeface="Times New Roman"/>
              <a:cs typeface="Times New Roman"/>
            </a:endParaRPr>
          </a:p>
        </p:txBody>
      </p:sp>
    </p:spTree>
    <p:extLst>
      <p:ext uri="{BB962C8B-B14F-4D97-AF65-F5344CB8AC3E}">
        <p14:creationId xmlns:p14="http://schemas.microsoft.com/office/powerpoint/2010/main" val="4016432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63C90-DBEA-55D6-04EC-F2361F269E7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CE5E0E-0BB0-E9B7-75F8-AFC5F53D576C}"/>
              </a:ext>
            </a:extLst>
          </p:cNvPr>
          <p:cNvSpPr txBox="1"/>
          <p:nvPr/>
        </p:nvSpPr>
        <p:spPr>
          <a:xfrm>
            <a:off x="97225" y="149478"/>
            <a:ext cx="12192000" cy="523220"/>
          </a:xfrm>
          <a:prstGeom prst="rect">
            <a:avLst/>
          </a:prstGeom>
          <a:noFill/>
        </p:spPr>
        <p:txBody>
          <a:bodyPr wrap="square" lIns="91440" tIns="45720" rIns="91440" bIns="45720" rtlCol="0" anchor="t">
            <a:spAutoFit/>
          </a:bodyPr>
          <a:lstStyle/>
          <a:p>
            <a:r>
              <a:rPr lang="en-IN" sz="2800" dirty="0">
                <a:latin typeface="Times New Roman"/>
                <a:cs typeface="Times New Roman"/>
              </a:rPr>
              <a:t>Implementation Toolkit</a:t>
            </a:r>
            <a:endParaRPr lang="en-US" dirty="0"/>
          </a:p>
        </p:txBody>
      </p:sp>
      <p:pic>
        <p:nvPicPr>
          <p:cNvPr id="8" name="Picture 7" descr="सञ्चिका:IIT Kanpur Logo.png - विकिपीडिया">
            <a:extLst>
              <a:ext uri="{FF2B5EF4-FFF2-40B4-BE49-F238E27FC236}">
                <a16:creationId xmlns:a16="http://schemas.microsoft.com/office/drawing/2014/main" id="{9306BB35-824D-EBDF-FFB8-E20E1F1E7B14}"/>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405FC7C7-F452-81F4-7B62-53B1183445F8}"/>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277C205-2E41-8B7A-9280-B07B3D69745F}"/>
              </a:ext>
            </a:extLst>
          </p:cNvPr>
          <p:cNvSpPr txBox="1"/>
          <p:nvPr/>
        </p:nvSpPr>
        <p:spPr>
          <a:xfrm>
            <a:off x="292231" y="970961"/>
            <a:ext cx="9238268" cy="400110"/>
          </a:xfrm>
          <a:prstGeom prst="rect">
            <a:avLst/>
          </a:prstGeom>
          <a:noFill/>
        </p:spPr>
        <p:txBody>
          <a:bodyPr wrap="square" lIns="91440" tIns="45720" rIns="91440" bIns="45720" rtlCol="0" anchor="t">
            <a:spAutoFit/>
          </a:bodyPr>
          <a:lstStyle/>
          <a:p>
            <a:r>
              <a:rPr lang="en-IN" sz="2000" u="sng">
                <a:latin typeface="Times New Roman"/>
                <a:cs typeface="Times New Roman"/>
              </a:rPr>
              <a:t>DeePMD-kit</a:t>
            </a:r>
            <a:endParaRPr lang="en-US"/>
          </a:p>
        </p:txBody>
      </p:sp>
      <p:cxnSp>
        <p:nvCxnSpPr>
          <p:cNvPr id="4" name="Straight Connector 3">
            <a:extLst>
              <a:ext uri="{FF2B5EF4-FFF2-40B4-BE49-F238E27FC236}">
                <a16:creationId xmlns:a16="http://schemas.microsoft.com/office/drawing/2014/main" id="{F42D484D-474B-3377-598D-D0E49E7F1BD4}"/>
              </a:ext>
            </a:extLst>
          </p:cNvPr>
          <p:cNvCxnSpPr>
            <a:cxnSpLocks/>
          </p:cNvCxnSpPr>
          <p:nvPr/>
        </p:nvCxnSpPr>
        <p:spPr>
          <a:xfrm>
            <a:off x="195021" y="6349233"/>
            <a:ext cx="11732803"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9EC5FA1-6669-5602-7FD1-6A4482E12E55}"/>
              </a:ext>
            </a:extLst>
          </p:cNvPr>
          <p:cNvSpPr txBox="1"/>
          <p:nvPr/>
        </p:nvSpPr>
        <p:spPr>
          <a:xfrm>
            <a:off x="392025" y="1610105"/>
            <a:ext cx="4356848"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Calibri" panose="020F0502020204030204"/>
                <a:cs typeface="Calibri" panose="020F0502020204030204"/>
              </a:rPr>
              <a:t>Deep neural networks for MD.</a:t>
            </a:r>
            <a:br>
              <a:rPr lang="en-US">
                <a:ea typeface="Calibri" panose="020F0502020204030204"/>
                <a:cs typeface="Calibri" panose="020F0502020204030204"/>
              </a:rPr>
            </a:br>
            <a:endParaRPr lang="en-US">
              <a:ea typeface="Calibri" panose="020F0502020204030204"/>
              <a:cs typeface="Calibri" panose="020F0502020204030204"/>
            </a:endParaRPr>
          </a:p>
          <a:p>
            <a:pPr marL="285750" indent="-285750">
              <a:buFont typeface="Arial"/>
              <a:buChar char="•"/>
            </a:pPr>
            <a:r>
              <a:rPr lang="en-US">
                <a:ea typeface="Calibri" panose="020F0502020204030204"/>
                <a:cs typeface="Calibri" panose="020F0502020204030204"/>
              </a:rPr>
              <a:t>Local reference frame and local environment assigned to each atom.</a:t>
            </a:r>
            <a:br>
              <a:rPr lang="en-US">
                <a:ea typeface="Calibri" panose="020F0502020204030204"/>
                <a:cs typeface="Calibri" panose="020F0502020204030204"/>
              </a:rPr>
            </a:br>
            <a:endParaRPr lang="en-US">
              <a:ea typeface="Calibri" panose="020F0502020204030204"/>
              <a:cs typeface="Calibri" panose="020F0502020204030204"/>
            </a:endParaRPr>
          </a:p>
          <a:p>
            <a:pPr marL="285750" indent="-285750">
              <a:buFont typeface="Arial"/>
              <a:buChar char="•"/>
            </a:pPr>
            <a:r>
              <a:rPr lang="en-US">
                <a:ea typeface="Calibri" panose="020F0502020204030204"/>
                <a:cs typeface="Calibri" panose="020F0502020204030204"/>
              </a:rPr>
              <a:t>Bypassing auxiliary quantities for preserving </a:t>
            </a:r>
            <a:r>
              <a:rPr lang="en-US" err="1">
                <a:ea typeface="Calibri" panose="020F0502020204030204"/>
                <a:cs typeface="Calibri" panose="020F0502020204030204"/>
              </a:rPr>
              <a:t>symmetrie</a:t>
            </a:r>
            <a:r>
              <a:rPr lang="en-US">
                <a:ea typeface="Calibri" panose="020F0502020204030204"/>
                <a:cs typeface="Calibri" panose="020F0502020204030204"/>
              </a:rPr>
              <a:t>s.</a:t>
            </a:r>
            <a:br>
              <a:rPr lang="en-US">
                <a:ea typeface="Calibri" panose="020F0502020204030204"/>
                <a:cs typeface="Calibri" panose="020F0502020204030204"/>
              </a:rPr>
            </a:br>
            <a:endParaRPr lang="en-US">
              <a:ea typeface="Calibri" panose="020F0502020204030204"/>
              <a:cs typeface="Calibri" panose="020F0502020204030204"/>
            </a:endParaRPr>
          </a:p>
          <a:p>
            <a:pPr marL="285750" indent="-285750">
              <a:buFont typeface="Arial"/>
              <a:buChar char="•"/>
            </a:pPr>
            <a:r>
              <a:rPr lang="en-US">
                <a:ea typeface="Calibri" panose="020F0502020204030204"/>
                <a:cs typeface="Calibri" panose="020F0502020204030204"/>
              </a:rPr>
              <a:t>Flexible </a:t>
            </a:r>
            <a:r>
              <a:rPr lang="en-US" err="1">
                <a:ea typeface="Calibri" panose="020F0502020204030204"/>
                <a:cs typeface="Calibri" panose="020F0502020204030204"/>
              </a:rPr>
              <a:t>famil</a:t>
            </a:r>
            <a:r>
              <a:rPr lang="en-US">
                <a:ea typeface="Calibri" panose="020F0502020204030204"/>
                <a:cs typeface="Calibri" panose="020F0502020204030204"/>
              </a:rPr>
              <a:t>y of loss functions.</a:t>
            </a:r>
            <a:br>
              <a:rPr lang="en-US">
                <a:ea typeface="Calibri" panose="020F0502020204030204"/>
                <a:cs typeface="Calibri" panose="020F0502020204030204"/>
              </a:rPr>
            </a:br>
            <a:endParaRPr lang="en-US">
              <a:ea typeface="Calibri" panose="020F0502020204030204"/>
              <a:cs typeface="Calibri" panose="020F0502020204030204"/>
            </a:endParaRPr>
          </a:p>
          <a:p>
            <a:pPr marL="285750" indent="-285750">
              <a:buFont typeface="Arial"/>
              <a:buChar char="•"/>
            </a:pPr>
            <a:r>
              <a:rPr lang="en-US">
                <a:ea typeface="+mn-lt"/>
                <a:cs typeface="+mn-lt"/>
              </a:rPr>
              <a:t>Computational cost scales linearly with the number of atoms. </a:t>
            </a:r>
            <a:br>
              <a:rPr lang="en-US">
                <a:ea typeface="+mn-lt"/>
                <a:cs typeface="+mn-lt"/>
              </a:rPr>
            </a:br>
            <a:endParaRPr lang="en-US">
              <a:ea typeface="+mn-lt"/>
              <a:cs typeface="+mn-lt"/>
            </a:endParaRPr>
          </a:p>
          <a:p>
            <a:pPr marL="285750" indent="-285750">
              <a:buFont typeface="Arial"/>
              <a:buChar char="•"/>
            </a:pPr>
            <a:r>
              <a:rPr lang="en-US">
                <a:ea typeface="+mn-lt"/>
                <a:cs typeface="+mn-lt"/>
              </a:rPr>
              <a:t>Can be parallelized due to local decomposition and the near-neighbor dependence of its “atomic energies”.</a:t>
            </a:r>
            <a:br>
              <a:rPr lang="en-US">
                <a:ea typeface="Calibri" panose="020F0502020204030204"/>
                <a:cs typeface="Calibri" panose="020F0502020204030204"/>
              </a:rPr>
            </a:br>
            <a:endParaRPr lang="en-US">
              <a:ea typeface="Calibri" panose="020F0502020204030204"/>
              <a:cs typeface="Calibri" panose="020F0502020204030204"/>
            </a:endParaRPr>
          </a:p>
        </p:txBody>
      </p:sp>
      <p:pic>
        <p:nvPicPr>
          <p:cNvPr id="9" name="Picture 8">
            <a:extLst>
              <a:ext uri="{FF2B5EF4-FFF2-40B4-BE49-F238E27FC236}">
                <a16:creationId xmlns:a16="http://schemas.microsoft.com/office/drawing/2014/main" id="{28672B38-06EA-E5A6-A49E-999989A60FDC}"/>
              </a:ext>
            </a:extLst>
          </p:cNvPr>
          <p:cNvPicPr>
            <a:picLocks noChangeAspect="1"/>
          </p:cNvPicPr>
          <p:nvPr/>
        </p:nvPicPr>
        <p:blipFill>
          <a:blip r:embed="rId4"/>
          <a:stretch>
            <a:fillRect/>
          </a:stretch>
        </p:blipFill>
        <p:spPr>
          <a:xfrm>
            <a:off x="5376863" y="1362915"/>
            <a:ext cx="6548157" cy="4614022"/>
          </a:xfrm>
          <a:prstGeom prst="rect">
            <a:avLst/>
          </a:prstGeom>
        </p:spPr>
      </p:pic>
    </p:spTree>
    <p:extLst>
      <p:ext uri="{BB962C8B-B14F-4D97-AF65-F5344CB8AC3E}">
        <p14:creationId xmlns:p14="http://schemas.microsoft.com/office/powerpoint/2010/main" val="1166882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CEC3E-CA28-37A2-04E5-CAA02BC8F0F5}"/>
            </a:ext>
          </a:extLst>
        </p:cNvPr>
        <p:cNvGrpSpPr/>
        <p:nvPr/>
      </p:nvGrpSpPr>
      <p:grpSpPr>
        <a:xfrm>
          <a:off x="0" y="0"/>
          <a:ext cx="0" cy="0"/>
          <a:chOff x="0" y="0"/>
          <a:chExt cx="0" cy="0"/>
        </a:xfrm>
      </p:grpSpPr>
      <p:pic>
        <p:nvPicPr>
          <p:cNvPr id="8" name="Picture 7" descr="सञ्चिका:IIT Kanpur Logo.png - विकिपीडिया">
            <a:extLst>
              <a:ext uri="{FF2B5EF4-FFF2-40B4-BE49-F238E27FC236}">
                <a16:creationId xmlns:a16="http://schemas.microsoft.com/office/drawing/2014/main" id="{F529E55A-5470-6718-6985-9EF655EACA4C}"/>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636B3DF1-6214-06E5-763A-B3C64D969B5E}"/>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55936A5-D852-3E18-927B-BFAEEB9533D7}"/>
              </a:ext>
            </a:extLst>
          </p:cNvPr>
          <p:cNvSpPr txBox="1"/>
          <p:nvPr/>
        </p:nvSpPr>
        <p:spPr>
          <a:xfrm>
            <a:off x="292231" y="970961"/>
            <a:ext cx="9238268" cy="400110"/>
          </a:xfrm>
          <a:prstGeom prst="rect">
            <a:avLst/>
          </a:prstGeom>
          <a:noFill/>
        </p:spPr>
        <p:txBody>
          <a:bodyPr wrap="square" lIns="91440" tIns="45720" rIns="91440" bIns="45720" rtlCol="0" anchor="t">
            <a:spAutoFit/>
          </a:bodyPr>
          <a:lstStyle/>
          <a:p>
            <a:r>
              <a:rPr lang="en-IN" sz="2000" u="sng">
                <a:latin typeface="Times New Roman"/>
                <a:cs typeface="Times New Roman"/>
              </a:rPr>
              <a:t>DeePMD-kit</a:t>
            </a:r>
            <a:endParaRPr lang="en-US"/>
          </a:p>
        </p:txBody>
      </p:sp>
      <p:cxnSp>
        <p:nvCxnSpPr>
          <p:cNvPr id="4" name="Straight Connector 3">
            <a:extLst>
              <a:ext uri="{FF2B5EF4-FFF2-40B4-BE49-F238E27FC236}">
                <a16:creationId xmlns:a16="http://schemas.microsoft.com/office/drawing/2014/main" id="{A0C54B7A-C072-F68C-7B94-908E234068D8}"/>
              </a:ext>
            </a:extLst>
          </p:cNvPr>
          <p:cNvCxnSpPr>
            <a:cxnSpLocks/>
          </p:cNvCxnSpPr>
          <p:nvPr/>
        </p:nvCxnSpPr>
        <p:spPr>
          <a:xfrm>
            <a:off x="195021" y="6349233"/>
            <a:ext cx="11732803"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1AC931AA-17C4-CD6C-3197-190461E96F28}"/>
              </a:ext>
            </a:extLst>
          </p:cNvPr>
          <p:cNvPicPr>
            <a:picLocks noChangeAspect="1"/>
          </p:cNvPicPr>
          <p:nvPr/>
        </p:nvPicPr>
        <p:blipFill>
          <a:blip r:embed="rId4"/>
          <a:stretch>
            <a:fillRect/>
          </a:stretch>
        </p:blipFill>
        <p:spPr>
          <a:xfrm>
            <a:off x="298848" y="1358113"/>
            <a:ext cx="6308349" cy="3508563"/>
          </a:xfrm>
          <a:prstGeom prst="rect">
            <a:avLst/>
          </a:prstGeom>
        </p:spPr>
      </p:pic>
      <p:sp>
        <p:nvSpPr>
          <p:cNvPr id="6" name="TextBox 5">
            <a:extLst>
              <a:ext uri="{FF2B5EF4-FFF2-40B4-BE49-F238E27FC236}">
                <a16:creationId xmlns:a16="http://schemas.microsoft.com/office/drawing/2014/main" id="{653EDE35-F19C-A14B-B0A1-993F0536FFE5}"/>
              </a:ext>
            </a:extLst>
          </p:cNvPr>
          <p:cNvSpPr txBox="1"/>
          <p:nvPr/>
        </p:nvSpPr>
        <p:spPr>
          <a:xfrm>
            <a:off x="364025" y="4870988"/>
            <a:ext cx="1147258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ea typeface="+mn-lt"/>
                <a:cs typeface="+mn-lt"/>
              </a:rPr>
              <a:t>Local coordinate frame (</a:t>
            </a:r>
            <a:r>
              <a:rPr lang="en-US" b="1" i="1" dirty="0" err="1">
                <a:ea typeface="+mn-lt"/>
                <a:cs typeface="+mn-lt"/>
              </a:rPr>
              <a:t>D</a:t>
            </a:r>
            <a:r>
              <a:rPr lang="en-US" sz="1400" b="1" i="1" dirty="0" err="1">
                <a:ea typeface="+mn-lt"/>
                <a:cs typeface="+mn-lt"/>
              </a:rPr>
              <a:t>ij</a:t>
            </a:r>
            <a:r>
              <a:rPr lang="en-US" dirty="0">
                <a:ea typeface="+mn-lt"/>
                <a:cs typeface="+mn-lt"/>
              </a:rPr>
              <a:t>) is set up for every atom a neighbors inside </a:t>
            </a:r>
            <a:r>
              <a:rPr lang="en-US" b="1" i="1" dirty="0" err="1">
                <a:ea typeface="+mn-lt"/>
                <a:cs typeface="+mn-lt"/>
              </a:rPr>
              <a:t>R</a:t>
            </a:r>
            <a:r>
              <a:rPr lang="en-US" sz="1400" b="1" i="1" dirty="0" err="1">
                <a:ea typeface="+mn-lt"/>
                <a:cs typeface="+mn-lt"/>
              </a:rPr>
              <a:t>c</a:t>
            </a:r>
            <a:r>
              <a:rPr lang="en-US" dirty="0">
                <a:ea typeface="+mn-lt"/>
                <a:cs typeface="+mn-lt"/>
              </a:rPr>
              <a:t>. This preserves translational, rotational, and permutational symmetries. </a:t>
            </a:r>
            <a:r>
              <a:rPr lang="en-US" b="1" i="1" dirty="0" err="1">
                <a:ea typeface="+mn-lt"/>
                <a:cs typeface="+mn-lt"/>
              </a:rPr>
              <a:t>D</a:t>
            </a:r>
            <a:r>
              <a:rPr lang="en-US" sz="1400" b="1" i="1" dirty="0" err="1">
                <a:ea typeface="+mn-lt"/>
                <a:cs typeface="+mn-lt"/>
              </a:rPr>
              <a:t>ij</a:t>
            </a:r>
            <a:r>
              <a:rPr lang="en-US" sz="1400" b="1" i="1" dirty="0">
                <a:ea typeface="+mn-lt"/>
                <a:cs typeface="+mn-lt"/>
              </a:rPr>
              <a:t> </a:t>
            </a:r>
            <a:r>
              <a:rPr lang="en-US" dirty="0">
                <a:latin typeface="Times New Roman"/>
                <a:ea typeface="+mn-lt"/>
                <a:cs typeface="Times New Roman"/>
              </a:rPr>
              <a:t>contains radial and angular information of </a:t>
            </a:r>
            <a:r>
              <a:rPr lang="en-US" dirty="0" err="1">
                <a:latin typeface="Times New Roman"/>
                <a:ea typeface="+mn-lt"/>
                <a:cs typeface="Times New Roman"/>
              </a:rPr>
              <a:t>neighbouring</a:t>
            </a:r>
            <a:r>
              <a:rPr lang="en-US" dirty="0">
                <a:latin typeface="Times New Roman"/>
                <a:ea typeface="+mn-lt"/>
                <a:cs typeface="Times New Roman"/>
              </a:rPr>
              <a:t> atom.</a:t>
            </a:r>
            <a:br>
              <a:rPr lang="en-US" dirty="0">
                <a:ea typeface="+mn-lt"/>
                <a:cs typeface="+mn-lt"/>
              </a:rPr>
            </a:br>
            <a:endParaRPr lang="en-US" dirty="0">
              <a:ea typeface="+mn-lt"/>
              <a:cs typeface="+mn-lt"/>
            </a:endParaRPr>
          </a:p>
          <a:p>
            <a:pPr marL="285750" indent="-285750">
              <a:buFont typeface="Arial"/>
              <a:buChar char="•"/>
            </a:pPr>
            <a:r>
              <a:rPr lang="en-US" dirty="0">
                <a:ea typeface="+mn-lt"/>
                <a:cs typeface="+mn-lt"/>
              </a:rPr>
              <a:t> </a:t>
            </a:r>
            <a:r>
              <a:rPr lang="en-US" b="1" i="1" dirty="0" err="1">
                <a:ea typeface="+mn-lt"/>
                <a:cs typeface="+mn-lt"/>
              </a:rPr>
              <a:t>D</a:t>
            </a:r>
            <a:r>
              <a:rPr lang="en-US" sz="1400" b="1" i="1" dirty="0" err="1">
                <a:ea typeface="+mn-lt"/>
                <a:cs typeface="+mn-lt"/>
              </a:rPr>
              <a:t>ij</a:t>
            </a:r>
            <a:r>
              <a:rPr lang="en-US" sz="1400" b="1" i="1" dirty="0">
                <a:ea typeface="+mn-lt"/>
                <a:cs typeface="+mn-lt"/>
              </a:rPr>
              <a:t> </a:t>
            </a:r>
            <a:r>
              <a:rPr lang="en-US" dirty="0">
                <a:ea typeface="+mn-lt"/>
                <a:cs typeface="+mn-lt"/>
              </a:rPr>
              <a:t>is the FF-DNN input. A linear transformation is applied to the input data, followed by activation with hyperbolic tangent function. There are three hidden layers in our network. We use SGD with the Adam optimizer.</a:t>
            </a:r>
          </a:p>
        </p:txBody>
      </p:sp>
      <p:pic>
        <p:nvPicPr>
          <p:cNvPr id="9" name="Picture 8">
            <a:extLst>
              <a:ext uri="{FF2B5EF4-FFF2-40B4-BE49-F238E27FC236}">
                <a16:creationId xmlns:a16="http://schemas.microsoft.com/office/drawing/2014/main" id="{7AC9858F-3B77-444B-14E5-36B305EA3F96}"/>
              </a:ext>
            </a:extLst>
          </p:cNvPr>
          <p:cNvPicPr>
            <a:picLocks noChangeAspect="1"/>
          </p:cNvPicPr>
          <p:nvPr/>
        </p:nvPicPr>
        <p:blipFill>
          <a:blip r:embed="rId5"/>
          <a:srcRect r="-221"/>
          <a:stretch>
            <a:fillRect/>
          </a:stretch>
        </p:blipFill>
        <p:spPr>
          <a:xfrm>
            <a:off x="6735296" y="1043547"/>
            <a:ext cx="5097579" cy="3762375"/>
          </a:xfrm>
          <a:prstGeom prst="rect">
            <a:avLst/>
          </a:prstGeom>
        </p:spPr>
      </p:pic>
      <p:sp>
        <p:nvSpPr>
          <p:cNvPr id="11" name="TextBox 10">
            <a:extLst>
              <a:ext uri="{FF2B5EF4-FFF2-40B4-BE49-F238E27FC236}">
                <a16:creationId xmlns:a16="http://schemas.microsoft.com/office/drawing/2014/main" id="{A8BB353D-2EF5-AA6C-5D7E-C562D397FEBF}"/>
              </a:ext>
            </a:extLst>
          </p:cNvPr>
          <p:cNvSpPr txBox="1"/>
          <p:nvPr/>
        </p:nvSpPr>
        <p:spPr>
          <a:xfrm>
            <a:off x="97225" y="149478"/>
            <a:ext cx="12192000" cy="523220"/>
          </a:xfrm>
          <a:prstGeom prst="rect">
            <a:avLst/>
          </a:prstGeom>
          <a:noFill/>
        </p:spPr>
        <p:txBody>
          <a:bodyPr wrap="square" lIns="91440" tIns="45720" rIns="91440" bIns="45720" rtlCol="0" anchor="t">
            <a:spAutoFit/>
          </a:bodyPr>
          <a:lstStyle/>
          <a:p>
            <a:r>
              <a:rPr lang="en-IN" sz="2800" dirty="0">
                <a:latin typeface="Times New Roman"/>
                <a:cs typeface="Times New Roman"/>
              </a:rPr>
              <a:t>Implementation Toolkit</a:t>
            </a:r>
            <a:endParaRPr lang="en-US" dirty="0"/>
          </a:p>
        </p:txBody>
      </p:sp>
    </p:spTree>
    <p:extLst>
      <p:ext uri="{BB962C8B-B14F-4D97-AF65-F5344CB8AC3E}">
        <p14:creationId xmlns:p14="http://schemas.microsoft.com/office/powerpoint/2010/main" val="1476442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EAC71-E4B2-30D1-BEBA-B4FD31B709FF}"/>
            </a:ext>
          </a:extLst>
        </p:cNvPr>
        <p:cNvGrpSpPr/>
        <p:nvPr/>
      </p:nvGrpSpPr>
      <p:grpSpPr>
        <a:xfrm>
          <a:off x="0" y="0"/>
          <a:ext cx="0" cy="0"/>
          <a:chOff x="0" y="0"/>
          <a:chExt cx="0" cy="0"/>
        </a:xfrm>
      </p:grpSpPr>
      <p:pic>
        <p:nvPicPr>
          <p:cNvPr id="8" name="Picture 7" descr="सञ्चिका:IIT Kanpur Logo.png - विकिपीडिया">
            <a:extLst>
              <a:ext uri="{FF2B5EF4-FFF2-40B4-BE49-F238E27FC236}">
                <a16:creationId xmlns:a16="http://schemas.microsoft.com/office/drawing/2014/main" id="{799F8134-FF10-0D4A-0783-62152588E6D7}"/>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B6B208B5-06AC-AC22-4E45-96C09B04386A}"/>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42FF36E-CE99-1F5A-B079-B56802CEA8A6}"/>
              </a:ext>
            </a:extLst>
          </p:cNvPr>
          <p:cNvSpPr txBox="1"/>
          <p:nvPr/>
        </p:nvSpPr>
        <p:spPr>
          <a:xfrm>
            <a:off x="292231" y="970961"/>
            <a:ext cx="9238268" cy="400110"/>
          </a:xfrm>
          <a:prstGeom prst="rect">
            <a:avLst/>
          </a:prstGeom>
          <a:noFill/>
        </p:spPr>
        <p:txBody>
          <a:bodyPr wrap="square" lIns="91440" tIns="45720" rIns="91440" bIns="45720" rtlCol="0" anchor="t">
            <a:spAutoFit/>
          </a:bodyPr>
          <a:lstStyle/>
          <a:p>
            <a:r>
              <a:rPr lang="en-IN" sz="2000" u="sng">
                <a:latin typeface="Times New Roman"/>
                <a:cs typeface="Times New Roman"/>
              </a:rPr>
              <a:t>DeePMD-kit</a:t>
            </a:r>
            <a:endParaRPr lang="en-US"/>
          </a:p>
        </p:txBody>
      </p:sp>
      <p:cxnSp>
        <p:nvCxnSpPr>
          <p:cNvPr id="4" name="Straight Connector 3">
            <a:extLst>
              <a:ext uri="{FF2B5EF4-FFF2-40B4-BE49-F238E27FC236}">
                <a16:creationId xmlns:a16="http://schemas.microsoft.com/office/drawing/2014/main" id="{C6CD504D-0E29-99FF-8288-A5BEF632F171}"/>
              </a:ext>
            </a:extLst>
          </p:cNvPr>
          <p:cNvCxnSpPr>
            <a:cxnSpLocks/>
          </p:cNvCxnSpPr>
          <p:nvPr/>
        </p:nvCxnSpPr>
        <p:spPr>
          <a:xfrm>
            <a:off x="195021" y="6349233"/>
            <a:ext cx="11732803"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684DBE4D-B3B0-3595-3302-4AFFE43D4B24}"/>
              </a:ext>
            </a:extLst>
          </p:cNvPr>
          <p:cNvPicPr>
            <a:picLocks noChangeAspect="1"/>
          </p:cNvPicPr>
          <p:nvPr/>
        </p:nvPicPr>
        <p:blipFill>
          <a:blip r:embed="rId4"/>
          <a:stretch>
            <a:fillRect/>
          </a:stretch>
        </p:blipFill>
        <p:spPr>
          <a:xfrm>
            <a:off x="3165662" y="1715340"/>
            <a:ext cx="4762500" cy="4010025"/>
          </a:xfrm>
          <a:prstGeom prst="rect">
            <a:avLst/>
          </a:prstGeom>
        </p:spPr>
      </p:pic>
      <p:sp>
        <p:nvSpPr>
          <p:cNvPr id="9" name="TextBox 8">
            <a:extLst>
              <a:ext uri="{FF2B5EF4-FFF2-40B4-BE49-F238E27FC236}">
                <a16:creationId xmlns:a16="http://schemas.microsoft.com/office/drawing/2014/main" id="{4E65B538-82A4-1FC4-1177-A8FD52D0520A}"/>
              </a:ext>
            </a:extLst>
          </p:cNvPr>
          <p:cNvSpPr txBox="1"/>
          <p:nvPr/>
        </p:nvSpPr>
        <p:spPr>
          <a:xfrm>
            <a:off x="97225" y="149478"/>
            <a:ext cx="12192000" cy="523220"/>
          </a:xfrm>
          <a:prstGeom prst="rect">
            <a:avLst/>
          </a:prstGeom>
          <a:noFill/>
        </p:spPr>
        <p:txBody>
          <a:bodyPr wrap="square" lIns="91440" tIns="45720" rIns="91440" bIns="45720" rtlCol="0" anchor="t">
            <a:spAutoFit/>
          </a:bodyPr>
          <a:lstStyle/>
          <a:p>
            <a:r>
              <a:rPr lang="en-IN" sz="2800" dirty="0">
                <a:latin typeface="Times New Roman"/>
                <a:cs typeface="Times New Roman"/>
              </a:rPr>
              <a:t>Implementation Toolkit</a:t>
            </a:r>
            <a:endParaRPr lang="en-US" dirty="0"/>
          </a:p>
        </p:txBody>
      </p:sp>
    </p:spTree>
    <p:extLst>
      <p:ext uri="{BB962C8B-B14F-4D97-AF65-F5344CB8AC3E}">
        <p14:creationId xmlns:p14="http://schemas.microsoft.com/office/powerpoint/2010/main" val="767789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413C7-B7AB-F03A-675E-7FC01F60DCD1}"/>
            </a:ext>
          </a:extLst>
        </p:cNvPr>
        <p:cNvGrpSpPr/>
        <p:nvPr/>
      </p:nvGrpSpPr>
      <p:grpSpPr>
        <a:xfrm>
          <a:off x="0" y="0"/>
          <a:ext cx="0" cy="0"/>
          <a:chOff x="0" y="0"/>
          <a:chExt cx="0" cy="0"/>
        </a:xfrm>
      </p:grpSpPr>
      <p:pic>
        <p:nvPicPr>
          <p:cNvPr id="8" name="Picture 7" descr="सञ्चिका:IIT Kanpur Logo.png - विकिपीडिया">
            <a:extLst>
              <a:ext uri="{FF2B5EF4-FFF2-40B4-BE49-F238E27FC236}">
                <a16:creationId xmlns:a16="http://schemas.microsoft.com/office/drawing/2014/main" id="{5E298909-00A8-5841-6DBA-6E3037CB4051}"/>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1760651E-3CE1-FEF2-B1A0-527BA202DC81}"/>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C943073-480E-7F1F-1CE7-42F155E05621}"/>
              </a:ext>
            </a:extLst>
          </p:cNvPr>
          <p:cNvSpPr txBox="1"/>
          <p:nvPr/>
        </p:nvSpPr>
        <p:spPr>
          <a:xfrm>
            <a:off x="292231" y="970961"/>
            <a:ext cx="9238268" cy="400110"/>
          </a:xfrm>
          <a:prstGeom prst="rect">
            <a:avLst/>
          </a:prstGeom>
          <a:noFill/>
        </p:spPr>
        <p:txBody>
          <a:bodyPr wrap="square" lIns="91440" tIns="45720" rIns="91440" bIns="45720" rtlCol="0" anchor="t">
            <a:spAutoFit/>
          </a:bodyPr>
          <a:lstStyle/>
          <a:p>
            <a:r>
              <a:rPr lang="en-IN" sz="2000" u="sng">
                <a:latin typeface="Times New Roman"/>
                <a:cs typeface="Times New Roman"/>
              </a:rPr>
              <a:t>DeePMD-kit</a:t>
            </a:r>
            <a:endParaRPr lang="en-US"/>
          </a:p>
        </p:txBody>
      </p:sp>
      <p:cxnSp>
        <p:nvCxnSpPr>
          <p:cNvPr id="4" name="Straight Connector 3">
            <a:extLst>
              <a:ext uri="{FF2B5EF4-FFF2-40B4-BE49-F238E27FC236}">
                <a16:creationId xmlns:a16="http://schemas.microsoft.com/office/drawing/2014/main" id="{65C77399-E0F2-5CA5-6650-921D1201AB1D}"/>
              </a:ext>
            </a:extLst>
          </p:cNvPr>
          <p:cNvCxnSpPr>
            <a:cxnSpLocks/>
          </p:cNvCxnSpPr>
          <p:nvPr/>
        </p:nvCxnSpPr>
        <p:spPr>
          <a:xfrm>
            <a:off x="195021" y="6349233"/>
            <a:ext cx="11732803"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7EF6075-EC40-4623-53CC-EDB70D3DE3E2}"/>
              </a:ext>
            </a:extLst>
          </p:cNvPr>
          <p:cNvSpPr txBox="1"/>
          <p:nvPr/>
        </p:nvSpPr>
        <p:spPr>
          <a:xfrm>
            <a:off x="97225" y="149478"/>
            <a:ext cx="12192000" cy="523220"/>
          </a:xfrm>
          <a:prstGeom prst="rect">
            <a:avLst/>
          </a:prstGeom>
          <a:noFill/>
        </p:spPr>
        <p:txBody>
          <a:bodyPr wrap="square" lIns="91440" tIns="45720" rIns="91440" bIns="45720" rtlCol="0" anchor="t">
            <a:spAutoFit/>
          </a:bodyPr>
          <a:lstStyle/>
          <a:p>
            <a:r>
              <a:rPr lang="en-IN" sz="2800" dirty="0">
                <a:latin typeface="Times New Roman"/>
                <a:cs typeface="Times New Roman"/>
              </a:rPr>
              <a:t>Implementation Toolkit</a:t>
            </a:r>
            <a:endParaRPr lang="en-US" dirty="0"/>
          </a:p>
        </p:txBody>
      </p:sp>
    </p:spTree>
    <p:extLst>
      <p:ext uri="{BB962C8B-B14F-4D97-AF65-F5344CB8AC3E}">
        <p14:creationId xmlns:p14="http://schemas.microsoft.com/office/powerpoint/2010/main" val="1187829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F1BA5-5750-75B1-FBE7-6F3D9957CC69}"/>
            </a:ext>
          </a:extLst>
        </p:cNvPr>
        <p:cNvGrpSpPr/>
        <p:nvPr/>
      </p:nvGrpSpPr>
      <p:grpSpPr>
        <a:xfrm>
          <a:off x="0" y="0"/>
          <a:ext cx="0" cy="0"/>
          <a:chOff x="0" y="0"/>
          <a:chExt cx="0" cy="0"/>
        </a:xfrm>
      </p:grpSpPr>
      <p:pic>
        <p:nvPicPr>
          <p:cNvPr id="8" name="Picture 7" descr="सञ्चिका:IIT Kanpur Logo.png - विकिपीडिया">
            <a:extLst>
              <a:ext uri="{FF2B5EF4-FFF2-40B4-BE49-F238E27FC236}">
                <a16:creationId xmlns:a16="http://schemas.microsoft.com/office/drawing/2014/main" id="{B99B5B3A-9CCA-F379-86A7-1C1F16545C3E}"/>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DE399957-09E6-4BFE-2198-670E3D5EAE57}"/>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823633E-9458-0685-4780-074FF2105C46}"/>
              </a:ext>
            </a:extLst>
          </p:cNvPr>
          <p:cNvSpPr txBox="1"/>
          <p:nvPr/>
        </p:nvSpPr>
        <p:spPr>
          <a:xfrm>
            <a:off x="292231" y="970961"/>
            <a:ext cx="9238268" cy="400110"/>
          </a:xfrm>
          <a:prstGeom prst="rect">
            <a:avLst/>
          </a:prstGeom>
          <a:noFill/>
        </p:spPr>
        <p:txBody>
          <a:bodyPr wrap="square" lIns="91440" tIns="45720" rIns="91440" bIns="45720" rtlCol="0" anchor="t">
            <a:spAutoFit/>
          </a:bodyPr>
          <a:lstStyle/>
          <a:p>
            <a:r>
              <a:rPr lang="en-IN" sz="2000" u="sng">
                <a:latin typeface="Times New Roman"/>
                <a:cs typeface="Times New Roman"/>
              </a:rPr>
              <a:t>DeePMD-kit</a:t>
            </a:r>
            <a:endParaRPr lang="en-US"/>
          </a:p>
        </p:txBody>
      </p:sp>
      <p:cxnSp>
        <p:nvCxnSpPr>
          <p:cNvPr id="4" name="Straight Connector 3">
            <a:extLst>
              <a:ext uri="{FF2B5EF4-FFF2-40B4-BE49-F238E27FC236}">
                <a16:creationId xmlns:a16="http://schemas.microsoft.com/office/drawing/2014/main" id="{DCB25132-3F28-64D8-5FC7-B2A22FC391AB}"/>
              </a:ext>
            </a:extLst>
          </p:cNvPr>
          <p:cNvCxnSpPr>
            <a:cxnSpLocks/>
          </p:cNvCxnSpPr>
          <p:nvPr/>
        </p:nvCxnSpPr>
        <p:spPr>
          <a:xfrm>
            <a:off x="195021" y="6349233"/>
            <a:ext cx="11732803"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D3E6312-92CA-4978-2B95-1B1869201DA4}"/>
              </a:ext>
            </a:extLst>
          </p:cNvPr>
          <p:cNvPicPr>
            <a:picLocks noChangeAspect="1"/>
          </p:cNvPicPr>
          <p:nvPr/>
        </p:nvPicPr>
        <p:blipFill>
          <a:blip r:embed="rId4"/>
          <a:stretch>
            <a:fillRect/>
          </a:stretch>
        </p:blipFill>
        <p:spPr>
          <a:xfrm>
            <a:off x="208116" y="1518716"/>
            <a:ext cx="5679771" cy="4457309"/>
          </a:xfrm>
          <a:prstGeom prst="rect">
            <a:avLst/>
          </a:prstGeom>
        </p:spPr>
      </p:pic>
      <p:pic>
        <p:nvPicPr>
          <p:cNvPr id="10" name="Picture 9">
            <a:extLst>
              <a:ext uri="{FF2B5EF4-FFF2-40B4-BE49-F238E27FC236}">
                <a16:creationId xmlns:a16="http://schemas.microsoft.com/office/drawing/2014/main" id="{9DFEB034-C93A-04CB-B7A7-08A09B1594BF}"/>
              </a:ext>
            </a:extLst>
          </p:cNvPr>
          <p:cNvPicPr>
            <a:picLocks noChangeAspect="1"/>
          </p:cNvPicPr>
          <p:nvPr/>
        </p:nvPicPr>
        <p:blipFill>
          <a:blip r:embed="rId5"/>
          <a:stretch>
            <a:fillRect/>
          </a:stretch>
        </p:blipFill>
        <p:spPr>
          <a:xfrm>
            <a:off x="5883775" y="2024063"/>
            <a:ext cx="5915025" cy="2809875"/>
          </a:xfrm>
          <a:prstGeom prst="rect">
            <a:avLst/>
          </a:prstGeom>
        </p:spPr>
      </p:pic>
      <p:sp>
        <p:nvSpPr>
          <p:cNvPr id="7" name="TextBox 6">
            <a:extLst>
              <a:ext uri="{FF2B5EF4-FFF2-40B4-BE49-F238E27FC236}">
                <a16:creationId xmlns:a16="http://schemas.microsoft.com/office/drawing/2014/main" id="{E2E1B26E-868A-CD5C-53FD-F584E12DC1B4}"/>
              </a:ext>
            </a:extLst>
          </p:cNvPr>
          <p:cNvSpPr txBox="1"/>
          <p:nvPr/>
        </p:nvSpPr>
        <p:spPr>
          <a:xfrm>
            <a:off x="97225" y="149478"/>
            <a:ext cx="12192000" cy="523220"/>
          </a:xfrm>
          <a:prstGeom prst="rect">
            <a:avLst/>
          </a:prstGeom>
          <a:noFill/>
        </p:spPr>
        <p:txBody>
          <a:bodyPr wrap="square" lIns="91440" tIns="45720" rIns="91440" bIns="45720" rtlCol="0" anchor="t">
            <a:spAutoFit/>
          </a:bodyPr>
          <a:lstStyle/>
          <a:p>
            <a:r>
              <a:rPr lang="en-IN" sz="2800" dirty="0">
                <a:latin typeface="Times New Roman"/>
                <a:cs typeface="Times New Roman"/>
              </a:rPr>
              <a:t>Implementation Toolkit</a:t>
            </a:r>
            <a:endParaRPr lang="en-US" dirty="0"/>
          </a:p>
        </p:txBody>
      </p:sp>
    </p:spTree>
    <p:extLst>
      <p:ext uri="{BB962C8B-B14F-4D97-AF65-F5344CB8AC3E}">
        <p14:creationId xmlns:p14="http://schemas.microsoft.com/office/powerpoint/2010/main" val="259151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1BF51-B401-E3FD-7A0E-B7CFC132658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29F8A8-9BEF-EC91-4175-C60AFF1C3D7C}"/>
              </a:ext>
            </a:extLst>
          </p:cNvPr>
          <p:cNvSpPr txBox="1"/>
          <p:nvPr/>
        </p:nvSpPr>
        <p:spPr>
          <a:xfrm>
            <a:off x="0" y="2736502"/>
            <a:ext cx="12192000" cy="1384995"/>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Part 3:</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Method</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Developing MLFF for a specific chemical system</a:t>
            </a:r>
          </a:p>
        </p:txBody>
      </p:sp>
      <p:pic>
        <p:nvPicPr>
          <p:cNvPr id="8" name="Picture 7" descr="सञ्चिका:IIT Kanpur Logo.png - विकिपीडिया">
            <a:extLst>
              <a:ext uri="{FF2B5EF4-FFF2-40B4-BE49-F238E27FC236}">
                <a16:creationId xmlns:a16="http://schemas.microsoft.com/office/drawing/2014/main" id="{92DA64F2-0483-7EA4-B093-6FE825585125}"/>
              </a:ext>
            </a:extLst>
          </p:cNvPr>
          <p:cNvPicPr>
            <a:picLocks noChangeAspect="1"/>
          </p:cNvPicPr>
          <p:nvPr/>
        </p:nvPicPr>
        <p:blipFill>
          <a:blip r:embed="rId3"/>
          <a:stretch>
            <a:fillRect/>
          </a:stretch>
        </p:blipFill>
        <p:spPr>
          <a:xfrm>
            <a:off x="11036009" y="149478"/>
            <a:ext cx="891815" cy="891815"/>
          </a:xfrm>
          <a:prstGeom prst="rect">
            <a:avLst/>
          </a:prstGeom>
        </p:spPr>
      </p:pic>
    </p:spTree>
    <p:extLst>
      <p:ext uri="{BB962C8B-B14F-4D97-AF65-F5344CB8AC3E}">
        <p14:creationId xmlns:p14="http://schemas.microsoft.com/office/powerpoint/2010/main" val="2203452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5A7F1-F8A1-DEB7-7D73-FD0A0E9ED75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7A9DC6B-5EFF-83E0-CA57-02C4AA15567E}"/>
              </a:ext>
            </a:extLst>
          </p:cNvPr>
          <p:cNvSpPr txBox="1"/>
          <p:nvPr/>
        </p:nvSpPr>
        <p:spPr>
          <a:xfrm>
            <a:off x="97225" y="149478"/>
            <a:ext cx="12192000"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Types of Data</a:t>
            </a:r>
          </a:p>
        </p:txBody>
      </p:sp>
      <p:pic>
        <p:nvPicPr>
          <p:cNvPr id="8" name="Picture 7" descr="सञ्चिका:IIT Kanpur Logo.png - विकिपीडिया">
            <a:extLst>
              <a:ext uri="{FF2B5EF4-FFF2-40B4-BE49-F238E27FC236}">
                <a16:creationId xmlns:a16="http://schemas.microsoft.com/office/drawing/2014/main" id="{941F818B-6FBF-3DB4-2283-8B03E8E320BA}"/>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E222BDC5-D6BD-B251-ABA3-E14FC4C4D0F9}"/>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BCD0027-41F7-D2A5-1F9D-449A3F9E979C}"/>
              </a:ext>
            </a:extLst>
          </p:cNvPr>
          <p:cNvSpPr txBox="1"/>
          <p:nvPr/>
        </p:nvSpPr>
        <p:spPr>
          <a:xfrm>
            <a:off x="8137236" y="2918691"/>
            <a:ext cx="1293091" cy="646331"/>
          </a:xfrm>
          <a:prstGeom prst="rect">
            <a:avLst/>
          </a:prstGeom>
          <a:noFill/>
        </p:spPr>
        <p:txBody>
          <a:bodyPr wrap="square" rtlCol="0">
            <a:spAutoFit/>
          </a:bodyPr>
          <a:lstStyle/>
          <a:p>
            <a:r>
              <a:rPr lang="en-IN"/>
              <a:t>Anmol &amp; Sourish</a:t>
            </a:r>
          </a:p>
        </p:txBody>
      </p:sp>
    </p:spTree>
    <p:extLst>
      <p:ext uri="{BB962C8B-B14F-4D97-AF65-F5344CB8AC3E}">
        <p14:creationId xmlns:p14="http://schemas.microsoft.com/office/powerpoint/2010/main" val="448784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A31D9-5395-9F85-9B73-2C4E2141D5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7BB3CF-C976-89DC-C856-B4041D548066}"/>
              </a:ext>
            </a:extLst>
          </p:cNvPr>
          <p:cNvSpPr txBox="1"/>
          <p:nvPr/>
        </p:nvSpPr>
        <p:spPr>
          <a:xfrm>
            <a:off x="97225" y="149478"/>
            <a:ext cx="12192000"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Data Generation</a:t>
            </a:r>
          </a:p>
        </p:txBody>
      </p:sp>
      <p:pic>
        <p:nvPicPr>
          <p:cNvPr id="8" name="Picture 7" descr="सञ्चिका:IIT Kanpur Logo.png - विकिपीडिया">
            <a:extLst>
              <a:ext uri="{FF2B5EF4-FFF2-40B4-BE49-F238E27FC236}">
                <a16:creationId xmlns:a16="http://schemas.microsoft.com/office/drawing/2014/main" id="{36F28313-3F81-61F0-33CB-5D776EC10060}"/>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6453AB59-4283-C068-4F59-932045209A24}"/>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3DBBE2B1-2CD8-471A-D87B-DA0144B23787}"/>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saturation sat="400000"/>
                    </a14:imgEffect>
                  </a14:imgLayer>
                </a14:imgProps>
              </a:ext>
            </a:extLst>
          </a:blip>
          <a:stretch>
            <a:fillRect/>
          </a:stretch>
        </p:blipFill>
        <p:spPr>
          <a:xfrm>
            <a:off x="97225" y="1072688"/>
            <a:ext cx="6246930" cy="5176029"/>
          </a:xfrm>
          <a:prstGeom prst="rect">
            <a:avLst/>
          </a:prstGeom>
        </p:spPr>
      </p:pic>
      <p:sp>
        <p:nvSpPr>
          <p:cNvPr id="5" name="TextBox 4">
            <a:extLst>
              <a:ext uri="{FF2B5EF4-FFF2-40B4-BE49-F238E27FC236}">
                <a16:creationId xmlns:a16="http://schemas.microsoft.com/office/drawing/2014/main" id="{25400DE1-7B3B-F91A-CEC6-44CAC544E524}"/>
              </a:ext>
            </a:extLst>
          </p:cNvPr>
          <p:cNvSpPr txBox="1"/>
          <p:nvPr/>
        </p:nvSpPr>
        <p:spPr>
          <a:xfrm>
            <a:off x="8137236" y="2918691"/>
            <a:ext cx="1293091" cy="369332"/>
          </a:xfrm>
          <a:prstGeom prst="rect">
            <a:avLst/>
          </a:prstGeom>
          <a:noFill/>
        </p:spPr>
        <p:txBody>
          <a:bodyPr wrap="square" rtlCol="0">
            <a:spAutoFit/>
          </a:bodyPr>
          <a:lstStyle/>
          <a:p>
            <a:r>
              <a:rPr lang="en-IN"/>
              <a:t>Anmol</a:t>
            </a:r>
          </a:p>
        </p:txBody>
      </p:sp>
    </p:spTree>
    <p:extLst>
      <p:ext uri="{BB962C8B-B14F-4D97-AF65-F5344CB8AC3E}">
        <p14:creationId xmlns:p14="http://schemas.microsoft.com/office/powerpoint/2010/main" val="21618456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64744-762B-E24E-C0E3-C16C83D5AEB9}"/>
            </a:ext>
          </a:extLst>
        </p:cNvPr>
        <p:cNvGrpSpPr/>
        <p:nvPr/>
      </p:nvGrpSpPr>
      <p:grpSpPr>
        <a:xfrm>
          <a:off x="0" y="0"/>
          <a:ext cx="0" cy="0"/>
          <a:chOff x="0" y="0"/>
          <a:chExt cx="0" cy="0"/>
        </a:xfrm>
      </p:grpSpPr>
      <p:pic>
        <p:nvPicPr>
          <p:cNvPr id="8" name="Picture 7" descr="सञ्चिका:IIT Kanpur Logo.png - विकिपीडिया">
            <a:extLst>
              <a:ext uri="{FF2B5EF4-FFF2-40B4-BE49-F238E27FC236}">
                <a16:creationId xmlns:a16="http://schemas.microsoft.com/office/drawing/2014/main" id="{ECFB5456-B909-749D-C806-E66B5E34950F}"/>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893B03FB-1560-131C-2A3A-7BB209940E0C}"/>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ADC22C7-D64A-1CAA-7DA3-946DF9C171F4}"/>
              </a:ext>
            </a:extLst>
          </p:cNvPr>
          <p:cNvSpPr txBox="1"/>
          <p:nvPr/>
        </p:nvSpPr>
        <p:spPr>
          <a:xfrm>
            <a:off x="330260" y="865313"/>
            <a:ext cx="6096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a:latin typeface="Times New Roman"/>
                <a:cs typeface="Arial"/>
              </a:rPr>
              <a:t>Using exploration-exploitation phase of AL-NEB.</a:t>
            </a:r>
          </a:p>
          <a:p>
            <a:pPr marL="285750" indent="-285750">
              <a:buFont typeface="Arial,Sans-Serif"/>
              <a:buChar char="•"/>
            </a:pPr>
            <a:r>
              <a:rPr lang="en-US">
                <a:latin typeface="Times New Roman"/>
                <a:cs typeface="Arial"/>
              </a:rPr>
              <a:t>Collecting data points at regions of most uncertainty.</a:t>
            </a:r>
          </a:p>
          <a:p>
            <a:pPr marL="285750" indent="-285750">
              <a:buFont typeface="Arial,Sans-Serif"/>
              <a:buChar char="•"/>
            </a:pPr>
            <a:r>
              <a:rPr lang="en-US">
                <a:latin typeface="Times New Roman"/>
                <a:cs typeface="Arial"/>
              </a:rPr>
              <a:t>No need for renunciation phase.</a:t>
            </a:r>
          </a:p>
          <a:p>
            <a:pPr marL="285750" indent="-285750">
              <a:buFont typeface="Arial,Sans-Serif"/>
              <a:buChar char="•"/>
            </a:pPr>
            <a:r>
              <a:rPr lang="en-US">
                <a:latin typeface="Times New Roman"/>
                <a:cs typeface="Arial"/>
              </a:rPr>
              <a:t>Avoiding seeds from unnecessary regions. </a:t>
            </a:r>
          </a:p>
        </p:txBody>
      </p:sp>
      <p:cxnSp>
        <p:nvCxnSpPr>
          <p:cNvPr id="14" name="Straight Arrow Connector 13">
            <a:extLst>
              <a:ext uri="{FF2B5EF4-FFF2-40B4-BE49-F238E27FC236}">
                <a16:creationId xmlns:a16="http://schemas.microsoft.com/office/drawing/2014/main" id="{975824DA-17C6-0797-07CA-AFD53D1CBD85}"/>
              </a:ext>
            </a:extLst>
          </p:cNvPr>
          <p:cNvCxnSpPr/>
          <p:nvPr/>
        </p:nvCxnSpPr>
        <p:spPr>
          <a:xfrm>
            <a:off x="857250" y="6019800"/>
            <a:ext cx="8924925"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F904045-F06B-E221-8EF8-36D35CEF48AC}"/>
              </a:ext>
            </a:extLst>
          </p:cNvPr>
          <p:cNvCxnSpPr>
            <a:cxnSpLocks/>
          </p:cNvCxnSpPr>
          <p:nvPr/>
        </p:nvCxnSpPr>
        <p:spPr>
          <a:xfrm>
            <a:off x="1200150" y="2343150"/>
            <a:ext cx="0" cy="417195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Isosceles Triangle 18">
            <a:extLst>
              <a:ext uri="{FF2B5EF4-FFF2-40B4-BE49-F238E27FC236}">
                <a16:creationId xmlns:a16="http://schemas.microsoft.com/office/drawing/2014/main" id="{44030F97-CECD-4202-AC08-B8DEB8D0582F}"/>
              </a:ext>
            </a:extLst>
          </p:cNvPr>
          <p:cNvSpPr/>
          <p:nvPr/>
        </p:nvSpPr>
        <p:spPr>
          <a:xfrm>
            <a:off x="2667414" y="4717905"/>
            <a:ext cx="332957" cy="312878"/>
          </a:xfrm>
          <a:prstGeom prst="triangle">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endParaRPr>
          </a:p>
        </p:txBody>
      </p:sp>
      <p:sp>
        <p:nvSpPr>
          <p:cNvPr id="20" name="Isosceles Triangle 19">
            <a:extLst>
              <a:ext uri="{FF2B5EF4-FFF2-40B4-BE49-F238E27FC236}">
                <a16:creationId xmlns:a16="http://schemas.microsoft.com/office/drawing/2014/main" id="{5E73C601-1090-78E8-105E-AEC8C6549CD4}"/>
              </a:ext>
            </a:extLst>
          </p:cNvPr>
          <p:cNvSpPr/>
          <p:nvPr/>
        </p:nvSpPr>
        <p:spPr>
          <a:xfrm>
            <a:off x="8172449" y="2850626"/>
            <a:ext cx="371471" cy="334807"/>
          </a:xfrm>
          <a:prstGeom prst="triangl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E66FB0AE-EE31-8731-D6AA-ACFF3D126069}"/>
              </a:ext>
            </a:extLst>
          </p:cNvPr>
          <p:cNvSpPr txBox="1"/>
          <p:nvPr/>
        </p:nvSpPr>
        <p:spPr>
          <a:xfrm>
            <a:off x="2105230" y="5049833"/>
            <a:ext cx="1457323" cy="646331"/>
          </a:xfrm>
          <a:prstGeom prst="rect">
            <a:avLst/>
          </a:prstGeom>
          <a:noFill/>
        </p:spPr>
        <p:txBody>
          <a:bodyPr wrap="square" rtlCol="0">
            <a:spAutoFit/>
          </a:bodyPr>
          <a:lstStyle/>
          <a:p>
            <a:pPr algn="ctr"/>
            <a:r>
              <a:rPr lang="en-IN">
                <a:latin typeface="Times New Roman" panose="02020603050405020304" pitchFamily="18" charset="0"/>
                <a:cs typeface="Times New Roman" panose="02020603050405020304" pitchFamily="18" charset="0"/>
              </a:rPr>
              <a:t>R</a:t>
            </a:r>
            <a:br>
              <a:rPr lang="en-IN">
                <a:latin typeface="Times New Roman" panose="02020603050405020304" pitchFamily="18" charset="0"/>
                <a:cs typeface="Times New Roman" panose="02020603050405020304" pitchFamily="18" charset="0"/>
              </a:rPr>
            </a:br>
            <a:r>
              <a:rPr lang="en-IN">
                <a:latin typeface="Times New Roman" panose="02020603050405020304" pitchFamily="18" charset="0"/>
                <a:cs typeface="Times New Roman" panose="02020603050405020304" pitchFamily="18" charset="0"/>
              </a:rPr>
              <a:t>[Initial Point]</a:t>
            </a:r>
          </a:p>
        </p:txBody>
      </p:sp>
      <p:sp>
        <p:nvSpPr>
          <p:cNvPr id="6" name="TextBox 5">
            <a:extLst>
              <a:ext uri="{FF2B5EF4-FFF2-40B4-BE49-F238E27FC236}">
                <a16:creationId xmlns:a16="http://schemas.microsoft.com/office/drawing/2014/main" id="{8C3AC049-3856-6800-C52B-07EA92B7B1DF}"/>
              </a:ext>
            </a:extLst>
          </p:cNvPr>
          <p:cNvSpPr txBox="1"/>
          <p:nvPr/>
        </p:nvSpPr>
        <p:spPr>
          <a:xfrm>
            <a:off x="7629522" y="2204295"/>
            <a:ext cx="1457323" cy="646331"/>
          </a:xfrm>
          <a:prstGeom prst="rect">
            <a:avLst/>
          </a:prstGeom>
          <a:noFill/>
        </p:spPr>
        <p:txBody>
          <a:bodyPr wrap="square" rtlCol="0">
            <a:spAutoFit/>
          </a:bodyPr>
          <a:lstStyle/>
          <a:p>
            <a:pPr algn="ctr"/>
            <a:r>
              <a:rPr lang="en-IN">
                <a:latin typeface="Times New Roman" panose="02020603050405020304" pitchFamily="18" charset="0"/>
                <a:cs typeface="Times New Roman" panose="02020603050405020304" pitchFamily="18" charset="0"/>
              </a:rPr>
              <a:t>P</a:t>
            </a:r>
            <a:br>
              <a:rPr lang="en-IN">
                <a:latin typeface="Times New Roman" panose="02020603050405020304" pitchFamily="18" charset="0"/>
                <a:cs typeface="Times New Roman" panose="02020603050405020304" pitchFamily="18" charset="0"/>
              </a:rPr>
            </a:br>
            <a:r>
              <a:rPr lang="en-IN">
                <a:latin typeface="Times New Roman" panose="02020603050405020304" pitchFamily="18" charset="0"/>
                <a:cs typeface="Times New Roman" panose="02020603050405020304" pitchFamily="18" charset="0"/>
              </a:rPr>
              <a:t>[Final Point]</a:t>
            </a:r>
          </a:p>
        </p:txBody>
      </p:sp>
      <p:cxnSp>
        <p:nvCxnSpPr>
          <p:cNvPr id="9" name="Straight Arrow Connector 8">
            <a:extLst>
              <a:ext uri="{FF2B5EF4-FFF2-40B4-BE49-F238E27FC236}">
                <a16:creationId xmlns:a16="http://schemas.microsoft.com/office/drawing/2014/main" id="{7EA27788-76DA-9FAE-D061-854AB50595A2}"/>
              </a:ext>
            </a:extLst>
          </p:cNvPr>
          <p:cNvCxnSpPr>
            <a:cxnSpLocks/>
          </p:cNvCxnSpPr>
          <p:nvPr/>
        </p:nvCxnSpPr>
        <p:spPr>
          <a:xfrm flipV="1">
            <a:off x="3489108" y="2835495"/>
            <a:ext cx="4004110" cy="2012754"/>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D3B525F-256F-F31B-4344-8A6DFCF83485}"/>
              </a:ext>
            </a:extLst>
          </p:cNvPr>
          <p:cNvCxnSpPr>
            <a:cxnSpLocks/>
          </p:cNvCxnSpPr>
          <p:nvPr/>
        </p:nvCxnSpPr>
        <p:spPr>
          <a:xfrm>
            <a:off x="5073080" y="3246466"/>
            <a:ext cx="774218" cy="1243614"/>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8E32237-67C3-74B4-F1C8-3AEA09D5C2FC}"/>
              </a:ext>
            </a:extLst>
          </p:cNvPr>
          <p:cNvSpPr txBox="1"/>
          <p:nvPr/>
        </p:nvSpPr>
        <p:spPr>
          <a:xfrm>
            <a:off x="4537500" y="3702964"/>
            <a:ext cx="1845377" cy="369332"/>
          </a:xfrm>
          <a:prstGeom prst="rect">
            <a:avLst/>
          </a:prstGeom>
          <a:solidFill>
            <a:schemeClr val="bg1"/>
          </a:solidFill>
        </p:spPr>
        <p:txBody>
          <a:bodyPr wrap="none" rtlCol="0">
            <a:spAutoFit/>
          </a:bodyPr>
          <a:lstStyle/>
          <a:p>
            <a:r>
              <a:rPr lang="en-IN">
                <a:latin typeface="Times New Roman" panose="02020603050405020304" pitchFamily="18" charset="0"/>
                <a:ea typeface="Tahoma" panose="020B0604030504040204" pitchFamily="34" charset="0"/>
                <a:cs typeface="Times New Roman" panose="02020603050405020304" pitchFamily="18" charset="0"/>
              </a:rPr>
              <a:t>Reactive Pathway</a:t>
            </a:r>
          </a:p>
        </p:txBody>
      </p:sp>
      <p:sp>
        <p:nvSpPr>
          <p:cNvPr id="12" name="TextBox 11">
            <a:extLst>
              <a:ext uri="{FF2B5EF4-FFF2-40B4-BE49-F238E27FC236}">
                <a16:creationId xmlns:a16="http://schemas.microsoft.com/office/drawing/2014/main" id="{96B0A88D-B60F-776E-DD4B-C9FF767A9D3B}"/>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Idea of an “</a:t>
            </a:r>
            <a:r>
              <a:rPr lang="en-IN" sz="2800" b="1">
                <a:latin typeface="Times New Roman" panose="02020603050405020304" pitchFamily="18" charset="0"/>
                <a:cs typeface="Times New Roman" panose="02020603050405020304" pitchFamily="18" charset="0"/>
              </a:rPr>
              <a:t>ALNEB-guided Swarm AIMD</a:t>
            </a:r>
            <a:r>
              <a:rPr lang="en-IN" sz="280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5096098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66AB5-FF1C-AFA6-E42D-5E06925DFD95}"/>
            </a:ext>
          </a:extLst>
        </p:cNvPr>
        <p:cNvGrpSpPr/>
        <p:nvPr/>
      </p:nvGrpSpPr>
      <p:grpSpPr>
        <a:xfrm>
          <a:off x="0" y="0"/>
          <a:ext cx="0" cy="0"/>
          <a:chOff x="0" y="0"/>
          <a:chExt cx="0" cy="0"/>
        </a:xfrm>
      </p:grpSpPr>
      <p:pic>
        <p:nvPicPr>
          <p:cNvPr id="8" name="Picture 7" descr="सञ्चिका:IIT Kanpur Logo.png - विकिपीडिया">
            <a:extLst>
              <a:ext uri="{FF2B5EF4-FFF2-40B4-BE49-F238E27FC236}">
                <a16:creationId xmlns:a16="http://schemas.microsoft.com/office/drawing/2014/main" id="{C562DCC5-0BA9-46E8-A737-D90FFB6FC62E}"/>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25D15D04-24C3-47B5-A738-C6471E090878}"/>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B0F356D-B463-BD11-A5EC-F7B6CE1BAD64}"/>
              </a:ext>
            </a:extLst>
          </p:cNvPr>
          <p:cNvCxnSpPr/>
          <p:nvPr/>
        </p:nvCxnSpPr>
        <p:spPr>
          <a:xfrm>
            <a:off x="857250" y="6019800"/>
            <a:ext cx="8924925"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4915EDD-0E5D-E932-4E29-6807C5E17F47}"/>
              </a:ext>
            </a:extLst>
          </p:cNvPr>
          <p:cNvCxnSpPr>
            <a:cxnSpLocks/>
          </p:cNvCxnSpPr>
          <p:nvPr/>
        </p:nvCxnSpPr>
        <p:spPr>
          <a:xfrm>
            <a:off x="1200150" y="2343150"/>
            <a:ext cx="0" cy="417195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Isosceles Triangle 18">
            <a:extLst>
              <a:ext uri="{FF2B5EF4-FFF2-40B4-BE49-F238E27FC236}">
                <a16:creationId xmlns:a16="http://schemas.microsoft.com/office/drawing/2014/main" id="{DB15762A-1543-D253-2D9B-D195E314EC48}"/>
              </a:ext>
            </a:extLst>
          </p:cNvPr>
          <p:cNvSpPr/>
          <p:nvPr/>
        </p:nvSpPr>
        <p:spPr>
          <a:xfrm>
            <a:off x="2667414" y="4717905"/>
            <a:ext cx="332957" cy="312878"/>
          </a:xfrm>
          <a:prstGeom prst="triangle">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endParaRPr>
          </a:p>
        </p:txBody>
      </p:sp>
      <p:sp>
        <p:nvSpPr>
          <p:cNvPr id="20" name="Isosceles Triangle 19">
            <a:extLst>
              <a:ext uri="{FF2B5EF4-FFF2-40B4-BE49-F238E27FC236}">
                <a16:creationId xmlns:a16="http://schemas.microsoft.com/office/drawing/2014/main" id="{1F768935-8B11-29CA-83D6-AE558FDCB58D}"/>
              </a:ext>
            </a:extLst>
          </p:cNvPr>
          <p:cNvSpPr/>
          <p:nvPr/>
        </p:nvSpPr>
        <p:spPr>
          <a:xfrm>
            <a:off x="8172449" y="2850626"/>
            <a:ext cx="371471" cy="334807"/>
          </a:xfrm>
          <a:prstGeom prst="triangl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Flowchart: Sort 20">
            <a:extLst>
              <a:ext uri="{FF2B5EF4-FFF2-40B4-BE49-F238E27FC236}">
                <a16:creationId xmlns:a16="http://schemas.microsoft.com/office/drawing/2014/main" id="{E2A1602F-1F10-FB1E-BAFD-DC8D921AB67C}"/>
              </a:ext>
            </a:extLst>
          </p:cNvPr>
          <p:cNvSpPr/>
          <p:nvPr/>
        </p:nvSpPr>
        <p:spPr>
          <a:xfrm>
            <a:off x="3378260" y="3264782"/>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lowchart: Sort 21">
            <a:extLst>
              <a:ext uri="{FF2B5EF4-FFF2-40B4-BE49-F238E27FC236}">
                <a16:creationId xmlns:a16="http://schemas.microsoft.com/office/drawing/2014/main" id="{81FC3686-F9BA-0E9B-4F00-FEB1FC4BD6C8}"/>
              </a:ext>
            </a:extLst>
          </p:cNvPr>
          <p:cNvSpPr/>
          <p:nvPr/>
        </p:nvSpPr>
        <p:spPr>
          <a:xfrm>
            <a:off x="4338639" y="3323369"/>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Flowchart: Sort 22">
            <a:extLst>
              <a:ext uri="{FF2B5EF4-FFF2-40B4-BE49-F238E27FC236}">
                <a16:creationId xmlns:a16="http://schemas.microsoft.com/office/drawing/2014/main" id="{EE8A5592-5C22-157D-7E65-12706F791CD7}"/>
              </a:ext>
            </a:extLst>
          </p:cNvPr>
          <p:cNvSpPr/>
          <p:nvPr/>
        </p:nvSpPr>
        <p:spPr>
          <a:xfrm>
            <a:off x="3993445" y="4553381"/>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Flowchart: Sort 23">
            <a:extLst>
              <a:ext uri="{FF2B5EF4-FFF2-40B4-BE49-F238E27FC236}">
                <a16:creationId xmlns:a16="http://schemas.microsoft.com/office/drawing/2014/main" id="{F2FE48D3-CD75-E0AF-6515-3E6141891D91}"/>
              </a:ext>
            </a:extLst>
          </p:cNvPr>
          <p:cNvSpPr/>
          <p:nvPr/>
        </p:nvSpPr>
        <p:spPr>
          <a:xfrm>
            <a:off x="4953824" y="4611968"/>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Flowchart: Sort 24">
            <a:extLst>
              <a:ext uri="{FF2B5EF4-FFF2-40B4-BE49-F238E27FC236}">
                <a16:creationId xmlns:a16="http://schemas.microsoft.com/office/drawing/2014/main" id="{2025EFB0-7E17-3F04-AEDE-629843ECD3FC}"/>
              </a:ext>
            </a:extLst>
          </p:cNvPr>
          <p:cNvSpPr/>
          <p:nvPr/>
        </p:nvSpPr>
        <p:spPr>
          <a:xfrm>
            <a:off x="5135621" y="4082069"/>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Flowchart: Sort 25">
            <a:extLst>
              <a:ext uri="{FF2B5EF4-FFF2-40B4-BE49-F238E27FC236}">
                <a16:creationId xmlns:a16="http://schemas.microsoft.com/office/drawing/2014/main" id="{552491AE-0971-3221-600F-95A9C82C5AED}"/>
              </a:ext>
            </a:extLst>
          </p:cNvPr>
          <p:cNvSpPr/>
          <p:nvPr/>
        </p:nvSpPr>
        <p:spPr>
          <a:xfrm>
            <a:off x="6096000" y="4140656"/>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Flowchart: Sort 26">
            <a:extLst>
              <a:ext uri="{FF2B5EF4-FFF2-40B4-BE49-F238E27FC236}">
                <a16:creationId xmlns:a16="http://schemas.microsoft.com/office/drawing/2014/main" id="{A9B81017-3E7A-065A-5E02-E7543EC7B6FA}"/>
              </a:ext>
            </a:extLst>
          </p:cNvPr>
          <p:cNvSpPr/>
          <p:nvPr/>
        </p:nvSpPr>
        <p:spPr>
          <a:xfrm>
            <a:off x="5334823" y="2729523"/>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Flowchart: Sort 27">
            <a:extLst>
              <a:ext uri="{FF2B5EF4-FFF2-40B4-BE49-F238E27FC236}">
                <a16:creationId xmlns:a16="http://schemas.microsoft.com/office/drawing/2014/main" id="{A7E8263B-B4EB-57A8-EB1C-A63EF3445A28}"/>
              </a:ext>
            </a:extLst>
          </p:cNvPr>
          <p:cNvSpPr/>
          <p:nvPr/>
        </p:nvSpPr>
        <p:spPr>
          <a:xfrm>
            <a:off x="6626284" y="3185435"/>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Flowchart: Sort 28">
            <a:extLst>
              <a:ext uri="{FF2B5EF4-FFF2-40B4-BE49-F238E27FC236}">
                <a16:creationId xmlns:a16="http://schemas.microsoft.com/office/drawing/2014/main" id="{F9042363-3678-D7AF-A80A-A93139D4CF0D}"/>
              </a:ext>
            </a:extLst>
          </p:cNvPr>
          <p:cNvSpPr/>
          <p:nvPr/>
        </p:nvSpPr>
        <p:spPr>
          <a:xfrm>
            <a:off x="5876927" y="3541011"/>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Flowchart: Sort 29">
            <a:extLst>
              <a:ext uri="{FF2B5EF4-FFF2-40B4-BE49-F238E27FC236}">
                <a16:creationId xmlns:a16="http://schemas.microsoft.com/office/drawing/2014/main" id="{9EB42126-63E8-6BDA-7EC0-53BA290074CD}"/>
              </a:ext>
            </a:extLst>
          </p:cNvPr>
          <p:cNvSpPr/>
          <p:nvPr/>
        </p:nvSpPr>
        <p:spPr>
          <a:xfrm>
            <a:off x="7340662" y="4449035"/>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Flowchart: Sort 30">
            <a:extLst>
              <a:ext uri="{FF2B5EF4-FFF2-40B4-BE49-F238E27FC236}">
                <a16:creationId xmlns:a16="http://schemas.microsoft.com/office/drawing/2014/main" id="{EB665A34-E1B4-4685-EF93-694670279738}"/>
              </a:ext>
            </a:extLst>
          </p:cNvPr>
          <p:cNvSpPr/>
          <p:nvPr/>
        </p:nvSpPr>
        <p:spPr>
          <a:xfrm>
            <a:off x="5934899" y="4822099"/>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Flowchart: Sort 31">
            <a:extLst>
              <a:ext uri="{FF2B5EF4-FFF2-40B4-BE49-F238E27FC236}">
                <a16:creationId xmlns:a16="http://schemas.microsoft.com/office/drawing/2014/main" id="{D5F7441E-8DAB-6AA3-EC55-A59C1AFE942B}"/>
              </a:ext>
            </a:extLst>
          </p:cNvPr>
          <p:cNvSpPr/>
          <p:nvPr/>
        </p:nvSpPr>
        <p:spPr>
          <a:xfrm>
            <a:off x="7226361" y="3640773"/>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Flowchart: Sort 32">
            <a:extLst>
              <a:ext uri="{FF2B5EF4-FFF2-40B4-BE49-F238E27FC236}">
                <a16:creationId xmlns:a16="http://schemas.microsoft.com/office/drawing/2014/main" id="{D5583446-358B-EE7B-61F2-598BA294E807}"/>
              </a:ext>
            </a:extLst>
          </p:cNvPr>
          <p:cNvSpPr/>
          <p:nvPr/>
        </p:nvSpPr>
        <p:spPr>
          <a:xfrm>
            <a:off x="6231000" y="2583749"/>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Box 34">
            <a:extLst>
              <a:ext uri="{FF2B5EF4-FFF2-40B4-BE49-F238E27FC236}">
                <a16:creationId xmlns:a16="http://schemas.microsoft.com/office/drawing/2014/main" id="{1D0CAEF4-A83C-DC14-F14B-8BA88E812F27}"/>
              </a:ext>
            </a:extLst>
          </p:cNvPr>
          <p:cNvSpPr txBox="1"/>
          <p:nvPr/>
        </p:nvSpPr>
        <p:spPr>
          <a:xfrm>
            <a:off x="2105230" y="5049833"/>
            <a:ext cx="1457323" cy="646331"/>
          </a:xfrm>
          <a:prstGeom prst="rect">
            <a:avLst/>
          </a:prstGeom>
          <a:noFill/>
        </p:spPr>
        <p:txBody>
          <a:bodyPr wrap="square" rtlCol="0">
            <a:spAutoFit/>
          </a:bodyPr>
          <a:lstStyle/>
          <a:p>
            <a:pPr algn="ctr"/>
            <a:r>
              <a:rPr lang="en-IN">
                <a:latin typeface="Times New Roman" panose="02020603050405020304" pitchFamily="18" charset="0"/>
                <a:cs typeface="Times New Roman" panose="02020603050405020304" pitchFamily="18" charset="0"/>
              </a:rPr>
              <a:t>R</a:t>
            </a:r>
            <a:br>
              <a:rPr lang="en-IN">
                <a:latin typeface="Times New Roman" panose="02020603050405020304" pitchFamily="18" charset="0"/>
                <a:cs typeface="Times New Roman" panose="02020603050405020304" pitchFamily="18" charset="0"/>
              </a:rPr>
            </a:br>
            <a:r>
              <a:rPr lang="en-IN">
                <a:latin typeface="Times New Roman" panose="02020603050405020304" pitchFamily="18" charset="0"/>
                <a:cs typeface="Times New Roman" panose="02020603050405020304" pitchFamily="18" charset="0"/>
              </a:rPr>
              <a:t>[Initial Point]</a:t>
            </a:r>
          </a:p>
        </p:txBody>
      </p:sp>
      <p:sp>
        <p:nvSpPr>
          <p:cNvPr id="37" name="TextBox 36">
            <a:extLst>
              <a:ext uri="{FF2B5EF4-FFF2-40B4-BE49-F238E27FC236}">
                <a16:creationId xmlns:a16="http://schemas.microsoft.com/office/drawing/2014/main" id="{A654043A-2FDC-0011-4F8A-E8FE13D19C01}"/>
              </a:ext>
            </a:extLst>
          </p:cNvPr>
          <p:cNvSpPr txBox="1"/>
          <p:nvPr/>
        </p:nvSpPr>
        <p:spPr>
          <a:xfrm>
            <a:off x="7629522" y="2204295"/>
            <a:ext cx="1457323" cy="646331"/>
          </a:xfrm>
          <a:prstGeom prst="rect">
            <a:avLst/>
          </a:prstGeom>
          <a:noFill/>
        </p:spPr>
        <p:txBody>
          <a:bodyPr wrap="square" rtlCol="0">
            <a:spAutoFit/>
          </a:bodyPr>
          <a:lstStyle/>
          <a:p>
            <a:pPr algn="ctr"/>
            <a:r>
              <a:rPr lang="en-IN">
                <a:latin typeface="Times New Roman" panose="02020603050405020304" pitchFamily="18" charset="0"/>
                <a:cs typeface="Times New Roman" panose="02020603050405020304" pitchFamily="18" charset="0"/>
              </a:rPr>
              <a:t>P</a:t>
            </a:r>
            <a:br>
              <a:rPr lang="en-IN">
                <a:latin typeface="Times New Roman" panose="02020603050405020304" pitchFamily="18" charset="0"/>
                <a:cs typeface="Times New Roman" panose="02020603050405020304" pitchFamily="18" charset="0"/>
              </a:rPr>
            </a:br>
            <a:r>
              <a:rPr lang="en-IN">
                <a:latin typeface="Times New Roman" panose="02020603050405020304" pitchFamily="18" charset="0"/>
                <a:cs typeface="Times New Roman" panose="02020603050405020304" pitchFamily="18" charset="0"/>
              </a:rPr>
              <a:t>[Final Point]</a:t>
            </a:r>
          </a:p>
        </p:txBody>
      </p:sp>
      <p:sp>
        <p:nvSpPr>
          <p:cNvPr id="38" name="TextBox 37">
            <a:extLst>
              <a:ext uri="{FF2B5EF4-FFF2-40B4-BE49-F238E27FC236}">
                <a16:creationId xmlns:a16="http://schemas.microsoft.com/office/drawing/2014/main" id="{C8179BC3-0936-3C20-CEBF-80C435E31897}"/>
              </a:ext>
            </a:extLst>
          </p:cNvPr>
          <p:cNvSpPr txBox="1"/>
          <p:nvPr/>
        </p:nvSpPr>
        <p:spPr>
          <a:xfrm>
            <a:off x="1404705" y="1881485"/>
            <a:ext cx="3526361" cy="923330"/>
          </a:xfrm>
          <a:prstGeom prst="rect">
            <a:avLst/>
          </a:prstGeom>
          <a:noFill/>
        </p:spPr>
        <p:txBody>
          <a:bodyPr wrap="square" rtlCol="0">
            <a:spAutoFit/>
          </a:bodyPr>
          <a:lstStyle/>
          <a:p>
            <a:r>
              <a:rPr lang="en-IN">
                <a:latin typeface="Times New Roman" panose="02020603050405020304" pitchFamily="18" charset="0"/>
                <a:cs typeface="Times New Roman" panose="02020603050405020304" pitchFamily="18" charset="0"/>
              </a:rPr>
              <a:t>Seeds lying along the </a:t>
            </a:r>
            <a:br>
              <a:rPr lang="en-IN">
                <a:latin typeface="Times New Roman" panose="02020603050405020304" pitchFamily="18" charset="0"/>
                <a:cs typeface="Times New Roman" panose="02020603050405020304" pitchFamily="18" charset="0"/>
              </a:rPr>
            </a:br>
            <a:r>
              <a:rPr lang="en-IN">
                <a:latin typeface="Times New Roman" panose="02020603050405020304" pitchFamily="18" charset="0"/>
                <a:cs typeface="Times New Roman" panose="02020603050405020304" pitchFamily="18" charset="0"/>
              </a:rPr>
              <a:t>transition manifold </a:t>
            </a:r>
            <a:br>
              <a:rPr lang="en-IN">
                <a:latin typeface="Times New Roman" panose="02020603050405020304" pitchFamily="18" charset="0"/>
                <a:cs typeface="Times New Roman" panose="02020603050405020304" pitchFamily="18" charset="0"/>
              </a:rPr>
            </a:br>
            <a:r>
              <a:rPr lang="en-IN">
                <a:latin typeface="Times New Roman" panose="02020603050405020304" pitchFamily="18" charset="0"/>
                <a:cs typeface="Times New Roman" panose="02020603050405020304" pitchFamily="18" charset="0"/>
              </a:rPr>
              <a:t>(Reactive Pathway)</a:t>
            </a:r>
          </a:p>
        </p:txBody>
      </p:sp>
      <p:sp>
        <p:nvSpPr>
          <p:cNvPr id="39" name="Flowchart: Sort 38">
            <a:extLst>
              <a:ext uri="{FF2B5EF4-FFF2-40B4-BE49-F238E27FC236}">
                <a16:creationId xmlns:a16="http://schemas.microsoft.com/office/drawing/2014/main" id="{2B726881-B2BD-9445-19B9-8E712985B126}"/>
              </a:ext>
            </a:extLst>
          </p:cNvPr>
          <p:cNvSpPr/>
          <p:nvPr/>
        </p:nvSpPr>
        <p:spPr>
          <a:xfrm>
            <a:off x="7007288" y="5297115"/>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Flowchart: Sort 39">
            <a:extLst>
              <a:ext uri="{FF2B5EF4-FFF2-40B4-BE49-F238E27FC236}">
                <a16:creationId xmlns:a16="http://schemas.microsoft.com/office/drawing/2014/main" id="{925D13D1-82AB-DD76-4ED0-3E44AD7AB4DF}"/>
              </a:ext>
            </a:extLst>
          </p:cNvPr>
          <p:cNvSpPr/>
          <p:nvPr/>
        </p:nvSpPr>
        <p:spPr>
          <a:xfrm>
            <a:off x="6788215" y="4697470"/>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Flowchart: Sort 40">
            <a:extLst>
              <a:ext uri="{FF2B5EF4-FFF2-40B4-BE49-F238E27FC236}">
                <a16:creationId xmlns:a16="http://schemas.microsoft.com/office/drawing/2014/main" id="{8314B625-2D4B-648F-B497-3086E754C9AF}"/>
              </a:ext>
            </a:extLst>
          </p:cNvPr>
          <p:cNvSpPr/>
          <p:nvPr/>
        </p:nvSpPr>
        <p:spPr>
          <a:xfrm>
            <a:off x="2731292" y="3993996"/>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Flowchart: Sort 41">
            <a:extLst>
              <a:ext uri="{FF2B5EF4-FFF2-40B4-BE49-F238E27FC236}">
                <a16:creationId xmlns:a16="http://schemas.microsoft.com/office/drawing/2014/main" id="{BA814284-A5A6-D0AE-CD32-F8BFECDBCD50}"/>
              </a:ext>
            </a:extLst>
          </p:cNvPr>
          <p:cNvSpPr/>
          <p:nvPr/>
        </p:nvSpPr>
        <p:spPr>
          <a:xfrm>
            <a:off x="3584608" y="3869367"/>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Flowchart: Sort 42">
            <a:extLst>
              <a:ext uri="{FF2B5EF4-FFF2-40B4-BE49-F238E27FC236}">
                <a16:creationId xmlns:a16="http://schemas.microsoft.com/office/drawing/2014/main" id="{17486209-1FCA-2DF3-5E58-5BEB1B60EAE9}"/>
              </a:ext>
            </a:extLst>
          </p:cNvPr>
          <p:cNvSpPr/>
          <p:nvPr/>
        </p:nvSpPr>
        <p:spPr>
          <a:xfrm>
            <a:off x="8263765" y="4418164"/>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Flowchart: Sort 43">
            <a:extLst>
              <a:ext uri="{FF2B5EF4-FFF2-40B4-BE49-F238E27FC236}">
                <a16:creationId xmlns:a16="http://schemas.microsoft.com/office/drawing/2014/main" id="{19B58C03-FBE9-6A05-EFB3-FCC1D79D458A}"/>
              </a:ext>
            </a:extLst>
          </p:cNvPr>
          <p:cNvSpPr/>
          <p:nvPr/>
        </p:nvSpPr>
        <p:spPr>
          <a:xfrm>
            <a:off x="8044692" y="3818519"/>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1FBD345-2C8C-B4D2-6C5C-F2CF41579F5B}"/>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Idea of an “</a:t>
            </a:r>
            <a:r>
              <a:rPr lang="en-IN" sz="2800" b="1">
                <a:latin typeface="Times New Roman" panose="02020603050405020304" pitchFamily="18" charset="0"/>
                <a:cs typeface="Times New Roman" panose="02020603050405020304" pitchFamily="18" charset="0"/>
              </a:rPr>
              <a:t>ALNEB-guided Swarm AIMD</a:t>
            </a:r>
            <a:r>
              <a:rPr lang="en-IN" sz="280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9539238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509D3-C2C7-AEED-7E22-EB683410AA0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E5C9F1-D6E6-CBDC-4B9D-5830FC298908}"/>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Idea of an “</a:t>
            </a:r>
            <a:r>
              <a:rPr lang="en-IN" sz="2800" b="1">
                <a:latin typeface="Times New Roman" panose="02020603050405020304" pitchFamily="18" charset="0"/>
                <a:cs typeface="Times New Roman" panose="02020603050405020304" pitchFamily="18" charset="0"/>
              </a:rPr>
              <a:t>ALNEB-guided Swarm AIMD</a:t>
            </a:r>
            <a:r>
              <a:rPr lang="en-IN" sz="2800">
                <a:latin typeface="Times New Roman" panose="02020603050405020304" pitchFamily="18" charset="0"/>
                <a:cs typeface="Times New Roman" panose="02020603050405020304" pitchFamily="18" charset="0"/>
              </a:rPr>
              <a:t>”</a:t>
            </a:r>
          </a:p>
        </p:txBody>
      </p:sp>
      <p:pic>
        <p:nvPicPr>
          <p:cNvPr id="8" name="Picture 7" descr="सञ्चिका:IIT Kanpur Logo.png - विकिपीडिया">
            <a:extLst>
              <a:ext uri="{FF2B5EF4-FFF2-40B4-BE49-F238E27FC236}">
                <a16:creationId xmlns:a16="http://schemas.microsoft.com/office/drawing/2014/main" id="{CEC51590-1D29-64BE-59D5-931A12167235}"/>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BDC5AF85-54B5-17FC-4A61-27296DD3E791}"/>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92BF54B0-AC3B-2882-F82D-A56FFF48FFC0}"/>
              </a:ext>
            </a:extLst>
          </p:cNvPr>
          <p:cNvCxnSpPr/>
          <p:nvPr/>
        </p:nvCxnSpPr>
        <p:spPr>
          <a:xfrm>
            <a:off x="857250" y="6019800"/>
            <a:ext cx="8924925"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97DA756-0514-09F6-82AD-64EA4E61DC29}"/>
              </a:ext>
            </a:extLst>
          </p:cNvPr>
          <p:cNvCxnSpPr>
            <a:cxnSpLocks/>
          </p:cNvCxnSpPr>
          <p:nvPr/>
        </p:nvCxnSpPr>
        <p:spPr>
          <a:xfrm>
            <a:off x="1200150" y="2343150"/>
            <a:ext cx="0" cy="417195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Isosceles Triangle 6">
            <a:extLst>
              <a:ext uri="{FF2B5EF4-FFF2-40B4-BE49-F238E27FC236}">
                <a16:creationId xmlns:a16="http://schemas.microsoft.com/office/drawing/2014/main" id="{122EA778-4B81-4D31-6A67-4956C234D74F}"/>
              </a:ext>
            </a:extLst>
          </p:cNvPr>
          <p:cNvSpPr/>
          <p:nvPr/>
        </p:nvSpPr>
        <p:spPr>
          <a:xfrm>
            <a:off x="2667414" y="4717905"/>
            <a:ext cx="332957" cy="312878"/>
          </a:xfrm>
          <a:prstGeom prst="triangle">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endParaRPr>
          </a:p>
        </p:txBody>
      </p:sp>
      <p:sp>
        <p:nvSpPr>
          <p:cNvPr id="9" name="Isosceles Triangle 8">
            <a:extLst>
              <a:ext uri="{FF2B5EF4-FFF2-40B4-BE49-F238E27FC236}">
                <a16:creationId xmlns:a16="http://schemas.microsoft.com/office/drawing/2014/main" id="{D0387308-AEAA-D660-AAB7-97B867D41413}"/>
              </a:ext>
            </a:extLst>
          </p:cNvPr>
          <p:cNvSpPr/>
          <p:nvPr/>
        </p:nvSpPr>
        <p:spPr>
          <a:xfrm>
            <a:off x="8172449" y="2850626"/>
            <a:ext cx="371471" cy="334807"/>
          </a:xfrm>
          <a:prstGeom prst="triangl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Flowchart: Sort 10">
            <a:extLst>
              <a:ext uri="{FF2B5EF4-FFF2-40B4-BE49-F238E27FC236}">
                <a16:creationId xmlns:a16="http://schemas.microsoft.com/office/drawing/2014/main" id="{DB972389-4E39-9D1D-DB99-54CF9940A64D}"/>
              </a:ext>
            </a:extLst>
          </p:cNvPr>
          <p:cNvSpPr/>
          <p:nvPr/>
        </p:nvSpPr>
        <p:spPr>
          <a:xfrm>
            <a:off x="3378260" y="3264782"/>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Flowchart: Sort 11">
            <a:extLst>
              <a:ext uri="{FF2B5EF4-FFF2-40B4-BE49-F238E27FC236}">
                <a16:creationId xmlns:a16="http://schemas.microsoft.com/office/drawing/2014/main" id="{F2C65000-A9CB-D61A-5B8A-652157DE7BF9}"/>
              </a:ext>
            </a:extLst>
          </p:cNvPr>
          <p:cNvSpPr/>
          <p:nvPr/>
        </p:nvSpPr>
        <p:spPr>
          <a:xfrm>
            <a:off x="4338639" y="3323369"/>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Flowchart: Sort 12">
            <a:extLst>
              <a:ext uri="{FF2B5EF4-FFF2-40B4-BE49-F238E27FC236}">
                <a16:creationId xmlns:a16="http://schemas.microsoft.com/office/drawing/2014/main" id="{7C827EA7-8B41-E763-3E83-D54D552CDAC5}"/>
              </a:ext>
            </a:extLst>
          </p:cNvPr>
          <p:cNvSpPr/>
          <p:nvPr/>
        </p:nvSpPr>
        <p:spPr>
          <a:xfrm>
            <a:off x="3993445" y="4553381"/>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Flowchart: Sort 13">
            <a:extLst>
              <a:ext uri="{FF2B5EF4-FFF2-40B4-BE49-F238E27FC236}">
                <a16:creationId xmlns:a16="http://schemas.microsoft.com/office/drawing/2014/main" id="{0E0581E1-FE27-5EC0-B4EE-909D86225A31}"/>
              </a:ext>
            </a:extLst>
          </p:cNvPr>
          <p:cNvSpPr/>
          <p:nvPr/>
        </p:nvSpPr>
        <p:spPr>
          <a:xfrm>
            <a:off x="4953824" y="4611968"/>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Flowchart: Sort 14">
            <a:extLst>
              <a:ext uri="{FF2B5EF4-FFF2-40B4-BE49-F238E27FC236}">
                <a16:creationId xmlns:a16="http://schemas.microsoft.com/office/drawing/2014/main" id="{B8B655A9-2FEA-9BC5-404A-69DB22645387}"/>
              </a:ext>
            </a:extLst>
          </p:cNvPr>
          <p:cNvSpPr/>
          <p:nvPr/>
        </p:nvSpPr>
        <p:spPr>
          <a:xfrm>
            <a:off x="5135621" y="4082069"/>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Flowchart: Sort 15">
            <a:extLst>
              <a:ext uri="{FF2B5EF4-FFF2-40B4-BE49-F238E27FC236}">
                <a16:creationId xmlns:a16="http://schemas.microsoft.com/office/drawing/2014/main" id="{F5910278-717B-F70E-1AB8-14DF1BFA5776}"/>
              </a:ext>
            </a:extLst>
          </p:cNvPr>
          <p:cNvSpPr/>
          <p:nvPr/>
        </p:nvSpPr>
        <p:spPr>
          <a:xfrm>
            <a:off x="6096000" y="4140656"/>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Flowchart: Sort 16">
            <a:extLst>
              <a:ext uri="{FF2B5EF4-FFF2-40B4-BE49-F238E27FC236}">
                <a16:creationId xmlns:a16="http://schemas.microsoft.com/office/drawing/2014/main" id="{D4CF870A-BA51-C49D-0039-2A7A5422F043}"/>
              </a:ext>
            </a:extLst>
          </p:cNvPr>
          <p:cNvSpPr/>
          <p:nvPr/>
        </p:nvSpPr>
        <p:spPr>
          <a:xfrm>
            <a:off x="5334823" y="2729523"/>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Flowchart: Sort 17">
            <a:extLst>
              <a:ext uri="{FF2B5EF4-FFF2-40B4-BE49-F238E27FC236}">
                <a16:creationId xmlns:a16="http://schemas.microsoft.com/office/drawing/2014/main" id="{D8386449-1A48-CC29-29D2-787584AB0A15}"/>
              </a:ext>
            </a:extLst>
          </p:cNvPr>
          <p:cNvSpPr/>
          <p:nvPr/>
        </p:nvSpPr>
        <p:spPr>
          <a:xfrm>
            <a:off x="6626284" y="3185435"/>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Flowchart: Sort 18">
            <a:extLst>
              <a:ext uri="{FF2B5EF4-FFF2-40B4-BE49-F238E27FC236}">
                <a16:creationId xmlns:a16="http://schemas.microsoft.com/office/drawing/2014/main" id="{D3D2382A-D008-D4F2-62FC-0DF8E2D7F59E}"/>
              </a:ext>
            </a:extLst>
          </p:cNvPr>
          <p:cNvSpPr/>
          <p:nvPr/>
        </p:nvSpPr>
        <p:spPr>
          <a:xfrm>
            <a:off x="5876927" y="3541011"/>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Flowchart: Sort 19">
            <a:extLst>
              <a:ext uri="{FF2B5EF4-FFF2-40B4-BE49-F238E27FC236}">
                <a16:creationId xmlns:a16="http://schemas.microsoft.com/office/drawing/2014/main" id="{2C0D2365-0B07-3B15-938E-A0ABE95FED3D}"/>
              </a:ext>
            </a:extLst>
          </p:cNvPr>
          <p:cNvSpPr/>
          <p:nvPr/>
        </p:nvSpPr>
        <p:spPr>
          <a:xfrm>
            <a:off x="7340662" y="4449035"/>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Flowchart: Sort 20">
            <a:extLst>
              <a:ext uri="{FF2B5EF4-FFF2-40B4-BE49-F238E27FC236}">
                <a16:creationId xmlns:a16="http://schemas.microsoft.com/office/drawing/2014/main" id="{EEFEA3E5-A4EA-E2B1-EF4C-50484914E4B0}"/>
              </a:ext>
            </a:extLst>
          </p:cNvPr>
          <p:cNvSpPr/>
          <p:nvPr/>
        </p:nvSpPr>
        <p:spPr>
          <a:xfrm>
            <a:off x="5934899" y="4822099"/>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lowchart: Sort 21">
            <a:extLst>
              <a:ext uri="{FF2B5EF4-FFF2-40B4-BE49-F238E27FC236}">
                <a16:creationId xmlns:a16="http://schemas.microsoft.com/office/drawing/2014/main" id="{E4F5A80A-056A-C5FD-CFD5-BAA5B19BFDC8}"/>
              </a:ext>
            </a:extLst>
          </p:cNvPr>
          <p:cNvSpPr/>
          <p:nvPr/>
        </p:nvSpPr>
        <p:spPr>
          <a:xfrm>
            <a:off x="7226361" y="3640773"/>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Flowchart: Sort 22">
            <a:extLst>
              <a:ext uri="{FF2B5EF4-FFF2-40B4-BE49-F238E27FC236}">
                <a16:creationId xmlns:a16="http://schemas.microsoft.com/office/drawing/2014/main" id="{DBC3263A-F91C-2EB6-F7BA-12D55690C519}"/>
              </a:ext>
            </a:extLst>
          </p:cNvPr>
          <p:cNvSpPr/>
          <p:nvPr/>
        </p:nvSpPr>
        <p:spPr>
          <a:xfrm>
            <a:off x="6231000" y="2583749"/>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CA73B986-7BDE-BC06-AD69-43A2285FD18E}"/>
              </a:ext>
            </a:extLst>
          </p:cNvPr>
          <p:cNvSpPr txBox="1"/>
          <p:nvPr/>
        </p:nvSpPr>
        <p:spPr>
          <a:xfrm>
            <a:off x="2105230" y="5049833"/>
            <a:ext cx="1457323" cy="646331"/>
          </a:xfrm>
          <a:prstGeom prst="rect">
            <a:avLst/>
          </a:prstGeom>
          <a:noFill/>
        </p:spPr>
        <p:txBody>
          <a:bodyPr wrap="square" rtlCol="0">
            <a:spAutoFit/>
          </a:bodyPr>
          <a:lstStyle/>
          <a:p>
            <a:pPr algn="ctr"/>
            <a:r>
              <a:rPr lang="en-IN">
                <a:latin typeface="Times New Roman" panose="02020603050405020304" pitchFamily="18" charset="0"/>
                <a:cs typeface="Times New Roman" panose="02020603050405020304" pitchFamily="18" charset="0"/>
              </a:rPr>
              <a:t>R</a:t>
            </a:r>
            <a:br>
              <a:rPr lang="en-IN">
                <a:latin typeface="Times New Roman" panose="02020603050405020304" pitchFamily="18" charset="0"/>
                <a:cs typeface="Times New Roman" panose="02020603050405020304" pitchFamily="18" charset="0"/>
              </a:rPr>
            </a:br>
            <a:r>
              <a:rPr lang="en-IN">
                <a:latin typeface="Times New Roman" panose="02020603050405020304" pitchFamily="18" charset="0"/>
                <a:cs typeface="Times New Roman" panose="02020603050405020304" pitchFamily="18" charset="0"/>
              </a:rPr>
              <a:t>[Initial Point]</a:t>
            </a:r>
          </a:p>
        </p:txBody>
      </p:sp>
      <p:sp>
        <p:nvSpPr>
          <p:cNvPr id="25" name="TextBox 24">
            <a:extLst>
              <a:ext uri="{FF2B5EF4-FFF2-40B4-BE49-F238E27FC236}">
                <a16:creationId xmlns:a16="http://schemas.microsoft.com/office/drawing/2014/main" id="{6F09F7FE-3704-51D9-7A22-7E08C182E4D3}"/>
              </a:ext>
            </a:extLst>
          </p:cNvPr>
          <p:cNvSpPr txBox="1"/>
          <p:nvPr/>
        </p:nvSpPr>
        <p:spPr>
          <a:xfrm>
            <a:off x="7629522" y="2204295"/>
            <a:ext cx="1457323" cy="646331"/>
          </a:xfrm>
          <a:prstGeom prst="rect">
            <a:avLst/>
          </a:prstGeom>
          <a:noFill/>
        </p:spPr>
        <p:txBody>
          <a:bodyPr wrap="square" rtlCol="0">
            <a:spAutoFit/>
          </a:bodyPr>
          <a:lstStyle/>
          <a:p>
            <a:pPr algn="ctr"/>
            <a:r>
              <a:rPr lang="en-IN">
                <a:latin typeface="Times New Roman" panose="02020603050405020304" pitchFamily="18" charset="0"/>
                <a:cs typeface="Times New Roman" panose="02020603050405020304" pitchFamily="18" charset="0"/>
              </a:rPr>
              <a:t>P</a:t>
            </a:r>
            <a:br>
              <a:rPr lang="en-IN">
                <a:latin typeface="Times New Roman" panose="02020603050405020304" pitchFamily="18" charset="0"/>
                <a:cs typeface="Times New Roman" panose="02020603050405020304" pitchFamily="18" charset="0"/>
              </a:rPr>
            </a:br>
            <a:r>
              <a:rPr lang="en-IN">
                <a:latin typeface="Times New Roman" panose="02020603050405020304" pitchFamily="18" charset="0"/>
                <a:cs typeface="Times New Roman" panose="02020603050405020304" pitchFamily="18" charset="0"/>
              </a:rPr>
              <a:t>[Final Point]</a:t>
            </a:r>
          </a:p>
        </p:txBody>
      </p:sp>
      <p:sp>
        <p:nvSpPr>
          <p:cNvPr id="27" name="Flowchart: Sort 26">
            <a:extLst>
              <a:ext uri="{FF2B5EF4-FFF2-40B4-BE49-F238E27FC236}">
                <a16:creationId xmlns:a16="http://schemas.microsoft.com/office/drawing/2014/main" id="{250F3AD5-D5A9-D6EB-E4CB-D725A17BD187}"/>
              </a:ext>
            </a:extLst>
          </p:cNvPr>
          <p:cNvSpPr/>
          <p:nvPr/>
        </p:nvSpPr>
        <p:spPr>
          <a:xfrm>
            <a:off x="7007288" y="5297115"/>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Flowchart: Sort 27">
            <a:extLst>
              <a:ext uri="{FF2B5EF4-FFF2-40B4-BE49-F238E27FC236}">
                <a16:creationId xmlns:a16="http://schemas.microsoft.com/office/drawing/2014/main" id="{2CC8C0D3-DD14-6EB5-A674-E0D4A5656477}"/>
              </a:ext>
            </a:extLst>
          </p:cNvPr>
          <p:cNvSpPr/>
          <p:nvPr/>
        </p:nvSpPr>
        <p:spPr>
          <a:xfrm>
            <a:off x="6788215" y="4697470"/>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Flowchart: Sort 28">
            <a:extLst>
              <a:ext uri="{FF2B5EF4-FFF2-40B4-BE49-F238E27FC236}">
                <a16:creationId xmlns:a16="http://schemas.microsoft.com/office/drawing/2014/main" id="{6DEAD4A0-760A-154B-2CE0-D39ED999A981}"/>
              </a:ext>
            </a:extLst>
          </p:cNvPr>
          <p:cNvSpPr/>
          <p:nvPr/>
        </p:nvSpPr>
        <p:spPr>
          <a:xfrm>
            <a:off x="2731292" y="3993996"/>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Flowchart: Sort 29">
            <a:extLst>
              <a:ext uri="{FF2B5EF4-FFF2-40B4-BE49-F238E27FC236}">
                <a16:creationId xmlns:a16="http://schemas.microsoft.com/office/drawing/2014/main" id="{0A53D80F-AB23-2835-27D3-A0F35E803419}"/>
              </a:ext>
            </a:extLst>
          </p:cNvPr>
          <p:cNvSpPr/>
          <p:nvPr/>
        </p:nvSpPr>
        <p:spPr>
          <a:xfrm>
            <a:off x="3584608" y="3869367"/>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Flowchart: Sort 30">
            <a:extLst>
              <a:ext uri="{FF2B5EF4-FFF2-40B4-BE49-F238E27FC236}">
                <a16:creationId xmlns:a16="http://schemas.microsoft.com/office/drawing/2014/main" id="{8EC32FCD-1A1D-388E-C0A6-EE7D0207FA05}"/>
              </a:ext>
            </a:extLst>
          </p:cNvPr>
          <p:cNvSpPr/>
          <p:nvPr/>
        </p:nvSpPr>
        <p:spPr>
          <a:xfrm>
            <a:off x="8263765" y="4418164"/>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Flowchart: Sort 31">
            <a:extLst>
              <a:ext uri="{FF2B5EF4-FFF2-40B4-BE49-F238E27FC236}">
                <a16:creationId xmlns:a16="http://schemas.microsoft.com/office/drawing/2014/main" id="{D0323BCB-C3D5-2726-A0B0-E971EB2E5405}"/>
              </a:ext>
            </a:extLst>
          </p:cNvPr>
          <p:cNvSpPr/>
          <p:nvPr/>
        </p:nvSpPr>
        <p:spPr>
          <a:xfrm>
            <a:off x="8044692" y="3818519"/>
            <a:ext cx="219073" cy="208692"/>
          </a:xfrm>
          <a:prstGeom prst="flowChartSor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16B395FD-3E98-C832-15BA-D462D5677376}"/>
              </a:ext>
            </a:extLst>
          </p:cNvPr>
          <p:cNvSpPr/>
          <p:nvPr/>
        </p:nvSpPr>
        <p:spPr>
          <a:xfrm rot="20382277">
            <a:off x="7576678" y="2111179"/>
            <a:ext cx="1501287" cy="1569385"/>
          </a:xfrm>
          <a:prstGeom prst="ellipse">
            <a:avLst/>
          </a:prstGeom>
          <a:solidFill>
            <a:srgbClr val="00B050">
              <a:alpha val="21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76049379-6E52-DB44-EEA4-F50DB651036F}"/>
              </a:ext>
            </a:extLst>
          </p:cNvPr>
          <p:cNvSpPr/>
          <p:nvPr/>
        </p:nvSpPr>
        <p:spPr>
          <a:xfrm rot="20382277">
            <a:off x="1961964" y="4283964"/>
            <a:ext cx="1724833" cy="1700863"/>
          </a:xfrm>
          <a:prstGeom prst="ellipse">
            <a:avLst/>
          </a:prstGeom>
          <a:solidFill>
            <a:srgbClr val="7030A0">
              <a:alpha val="21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17D1DC67-3C4E-AF1D-098F-CAC1F2DAF497}"/>
              </a:ext>
            </a:extLst>
          </p:cNvPr>
          <p:cNvSpPr/>
          <p:nvPr/>
        </p:nvSpPr>
        <p:spPr>
          <a:xfrm rot="4352414">
            <a:off x="2247361" y="3536281"/>
            <a:ext cx="1126031" cy="1071872"/>
          </a:xfrm>
          <a:prstGeom prst="ellipse">
            <a:avLst/>
          </a:prstGeom>
          <a:solidFill>
            <a:srgbClr val="00B0F0">
              <a:alpha val="21000"/>
            </a:srgb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46E1D0B3-4664-6284-CF38-9D0329DF565C}"/>
              </a:ext>
            </a:extLst>
          </p:cNvPr>
          <p:cNvSpPr/>
          <p:nvPr/>
        </p:nvSpPr>
        <p:spPr>
          <a:xfrm rot="4352414">
            <a:off x="2940952" y="2833191"/>
            <a:ext cx="1126031" cy="1071872"/>
          </a:xfrm>
          <a:prstGeom prst="ellipse">
            <a:avLst/>
          </a:prstGeom>
          <a:solidFill>
            <a:srgbClr val="00B0F0">
              <a:alpha val="21000"/>
            </a:srgb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82F7B222-8668-CCB0-2AEE-B1AACDE809A3}"/>
              </a:ext>
            </a:extLst>
          </p:cNvPr>
          <p:cNvSpPr/>
          <p:nvPr/>
        </p:nvSpPr>
        <p:spPr>
          <a:xfrm rot="4352414">
            <a:off x="3123476" y="3557805"/>
            <a:ext cx="1126031" cy="1071872"/>
          </a:xfrm>
          <a:prstGeom prst="ellipse">
            <a:avLst/>
          </a:prstGeom>
          <a:solidFill>
            <a:srgbClr val="00B0F0">
              <a:alpha val="21000"/>
            </a:srgb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08BFD179-A673-F925-222C-799C0B2C49C9}"/>
              </a:ext>
            </a:extLst>
          </p:cNvPr>
          <p:cNvSpPr/>
          <p:nvPr/>
        </p:nvSpPr>
        <p:spPr>
          <a:xfrm rot="4352414">
            <a:off x="3558535" y="4051926"/>
            <a:ext cx="1126031" cy="1071872"/>
          </a:xfrm>
          <a:prstGeom prst="ellipse">
            <a:avLst/>
          </a:prstGeom>
          <a:solidFill>
            <a:srgbClr val="00B0F0">
              <a:alpha val="21000"/>
            </a:srgb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CC1AD4FB-0815-A031-2C2B-4D969DD7359D}"/>
              </a:ext>
            </a:extLst>
          </p:cNvPr>
          <p:cNvSpPr/>
          <p:nvPr/>
        </p:nvSpPr>
        <p:spPr>
          <a:xfrm rot="4352414">
            <a:off x="3896071" y="2872933"/>
            <a:ext cx="1126031" cy="1071872"/>
          </a:xfrm>
          <a:prstGeom prst="ellipse">
            <a:avLst/>
          </a:prstGeom>
          <a:solidFill>
            <a:srgbClr val="00B0F0">
              <a:alpha val="21000"/>
            </a:srgb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9A63176F-F5B0-DCE8-F31C-17DF8D9D6381}"/>
              </a:ext>
            </a:extLst>
          </p:cNvPr>
          <p:cNvSpPr/>
          <p:nvPr/>
        </p:nvSpPr>
        <p:spPr>
          <a:xfrm rot="4352414">
            <a:off x="4684787" y="3624033"/>
            <a:ext cx="1126031" cy="1071872"/>
          </a:xfrm>
          <a:prstGeom prst="ellipse">
            <a:avLst/>
          </a:prstGeom>
          <a:solidFill>
            <a:srgbClr val="00B0F0">
              <a:alpha val="21000"/>
            </a:srgb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63B1E626-24A4-6934-6F84-2DA3615E1A21}"/>
              </a:ext>
            </a:extLst>
          </p:cNvPr>
          <p:cNvSpPr/>
          <p:nvPr/>
        </p:nvSpPr>
        <p:spPr>
          <a:xfrm rot="4352414">
            <a:off x="4473333" y="4193797"/>
            <a:ext cx="1126031" cy="1071872"/>
          </a:xfrm>
          <a:prstGeom prst="ellipse">
            <a:avLst/>
          </a:prstGeom>
          <a:solidFill>
            <a:srgbClr val="00B0F0">
              <a:alpha val="21000"/>
            </a:srgb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B6538460-9848-CBDC-941E-34C5398594BB}"/>
              </a:ext>
            </a:extLst>
          </p:cNvPr>
          <p:cNvSpPr/>
          <p:nvPr/>
        </p:nvSpPr>
        <p:spPr>
          <a:xfrm rot="4352414">
            <a:off x="4851190" y="2375503"/>
            <a:ext cx="1126031" cy="1071872"/>
          </a:xfrm>
          <a:prstGeom prst="ellipse">
            <a:avLst/>
          </a:prstGeom>
          <a:solidFill>
            <a:srgbClr val="00B0F0">
              <a:alpha val="21000"/>
            </a:srgb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9D7E483D-E3EF-E23E-FD5F-4BC57DF9C574}"/>
              </a:ext>
            </a:extLst>
          </p:cNvPr>
          <p:cNvSpPr/>
          <p:nvPr/>
        </p:nvSpPr>
        <p:spPr>
          <a:xfrm rot="4352414">
            <a:off x="5366335" y="3110216"/>
            <a:ext cx="1126031" cy="1071872"/>
          </a:xfrm>
          <a:prstGeom prst="ellipse">
            <a:avLst/>
          </a:prstGeom>
          <a:solidFill>
            <a:srgbClr val="00B0F0">
              <a:alpha val="21000"/>
            </a:srgb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952C7EA9-38A7-1C8E-7B2F-D9C0575F425D}"/>
              </a:ext>
            </a:extLst>
          </p:cNvPr>
          <p:cNvSpPr/>
          <p:nvPr/>
        </p:nvSpPr>
        <p:spPr>
          <a:xfrm rot="4352414">
            <a:off x="5620189" y="3742686"/>
            <a:ext cx="1126031" cy="1071872"/>
          </a:xfrm>
          <a:prstGeom prst="ellipse">
            <a:avLst/>
          </a:prstGeom>
          <a:solidFill>
            <a:srgbClr val="00B0F0">
              <a:alpha val="21000"/>
            </a:srgb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88B5573C-037B-28A9-7CDC-13AE5AB27CD8}"/>
              </a:ext>
            </a:extLst>
          </p:cNvPr>
          <p:cNvSpPr/>
          <p:nvPr/>
        </p:nvSpPr>
        <p:spPr>
          <a:xfrm rot="4352414">
            <a:off x="5471847" y="4363447"/>
            <a:ext cx="1126031" cy="1071872"/>
          </a:xfrm>
          <a:prstGeom prst="ellipse">
            <a:avLst/>
          </a:prstGeom>
          <a:solidFill>
            <a:srgbClr val="00B0F0">
              <a:alpha val="21000"/>
            </a:srgb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1E18714A-1E5F-BEA8-5320-F55EAE4C0A21}"/>
              </a:ext>
            </a:extLst>
          </p:cNvPr>
          <p:cNvSpPr/>
          <p:nvPr/>
        </p:nvSpPr>
        <p:spPr>
          <a:xfrm rot="4352414">
            <a:off x="6377383" y="4247186"/>
            <a:ext cx="1126031" cy="1071872"/>
          </a:xfrm>
          <a:prstGeom prst="ellipse">
            <a:avLst/>
          </a:prstGeom>
          <a:solidFill>
            <a:srgbClr val="00B0F0">
              <a:alpha val="21000"/>
            </a:srgb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C82CD407-90B4-532D-EA44-51AEEFA2C054}"/>
              </a:ext>
            </a:extLst>
          </p:cNvPr>
          <p:cNvSpPr/>
          <p:nvPr/>
        </p:nvSpPr>
        <p:spPr>
          <a:xfrm rot="4352414">
            <a:off x="6598098" y="4878255"/>
            <a:ext cx="1126031" cy="1071872"/>
          </a:xfrm>
          <a:prstGeom prst="ellipse">
            <a:avLst/>
          </a:prstGeom>
          <a:solidFill>
            <a:srgbClr val="00B0F0">
              <a:alpha val="21000"/>
            </a:srgb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47C9EDD5-A046-A7A4-08D6-06F54EC77A5C}"/>
              </a:ext>
            </a:extLst>
          </p:cNvPr>
          <p:cNvSpPr/>
          <p:nvPr/>
        </p:nvSpPr>
        <p:spPr>
          <a:xfrm rot="4352414">
            <a:off x="6860300" y="4037699"/>
            <a:ext cx="1126031" cy="1071872"/>
          </a:xfrm>
          <a:prstGeom prst="ellipse">
            <a:avLst/>
          </a:prstGeom>
          <a:solidFill>
            <a:srgbClr val="00B0F0">
              <a:alpha val="21000"/>
            </a:srgb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3D2F0C2D-9A81-79D4-8ECA-F5AA8D2FAB3D}"/>
              </a:ext>
            </a:extLst>
          </p:cNvPr>
          <p:cNvSpPr/>
          <p:nvPr/>
        </p:nvSpPr>
        <p:spPr>
          <a:xfrm rot="4352414">
            <a:off x="6777646" y="3177222"/>
            <a:ext cx="1126031" cy="1071872"/>
          </a:xfrm>
          <a:prstGeom prst="ellipse">
            <a:avLst/>
          </a:prstGeom>
          <a:solidFill>
            <a:srgbClr val="00B0F0">
              <a:alpha val="21000"/>
            </a:srgb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6FA5730E-8D2E-108A-4ACC-0D9F9682AEB1}"/>
              </a:ext>
            </a:extLst>
          </p:cNvPr>
          <p:cNvSpPr/>
          <p:nvPr/>
        </p:nvSpPr>
        <p:spPr>
          <a:xfrm rot="4352414">
            <a:off x="6186725" y="2820188"/>
            <a:ext cx="1126031" cy="1071872"/>
          </a:xfrm>
          <a:prstGeom prst="ellipse">
            <a:avLst/>
          </a:prstGeom>
          <a:solidFill>
            <a:srgbClr val="00B0F0">
              <a:alpha val="21000"/>
            </a:srgb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Oval 53">
            <a:extLst>
              <a:ext uri="{FF2B5EF4-FFF2-40B4-BE49-F238E27FC236}">
                <a16:creationId xmlns:a16="http://schemas.microsoft.com/office/drawing/2014/main" id="{AF7D98B4-7D0C-EEE9-2D22-78B3BDD4FE11}"/>
              </a:ext>
            </a:extLst>
          </p:cNvPr>
          <p:cNvSpPr/>
          <p:nvPr/>
        </p:nvSpPr>
        <p:spPr>
          <a:xfrm rot="4352414">
            <a:off x="5767374" y="2170375"/>
            <a:ext cx="1126031" cy="1071872"/>
          </a:xfrm>
          <a:prstGeom prst="ellipse">
            <a:avLst/>
          </a:prstGeom>
          <a:solidFill>
            <a:srgbClr val="00B0F0">
              <a:alpha val="21000"/>
            </a:srgb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Oval 54">
            <a:extLst>
              <a:ext uri="{FF2B5EF4-FFF2-40B4-BE49-F238E27FC236}">
                <a16:creationId xmlns:a16="http://schemas.microsoft.com/office/drawing/2014/main" id="{5F22460F-9166-25C8-ECBF-7E50200104B5}"/>
              </a:ext>
            </a:extLst>
          </p:cNvPr>
          <p:cNvSpPr/>
          <p:nvPr/>
        </p:nvSpPr>
        <p:spPr>
          <a:xfrm rot="4352414">
            <a:off x="7575528" y="3391594"/>
            <a:ext cx="1126031" cy="1071872"/>
          </a:xfrm>
          <a:prstGeom prst="ellipse">
            <a:avLst/>
          </a:prstGeom>
          <a:solidFill>
            <a:srgbClr val="00B0F0">
              <a:alpha val="21000"/>
            </a:srgb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5B24AEDC-9398-1039-FA58-49F1528EF229}"/>
              </a:ext>
            </a:extLst>
          </p:cNvPr>
          <p:cNvSpPr/>
          <p:nvPr/>
        </p:nvSpPr>
        <p:spPr>
          <a:xfrm rot="4352414">
            <a:off x="7807486" y="4030453"/>
            <a:ext cx="1126031" cy="1071872"/>
          </a:xfrm>
          <a:prstGeom prst="ellipse">
            <a:avLst/>
          </a:prstGeom>
          <a:solidFill>
            <a:srgbClr val="00B0F0">
              <a:alpha val="21000"/>
            </a:srgb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TextBox 57">
            <a:extLst>
              <a:ext uri="{FF2B5EF4-FFF2-40B4-BE49-F238E27FC236}">
                <a16:creationId xmlns:a16="http://schemas.microsoft.com/office/drawing/2014/main" id="{9B637081-C905-3DE5-EA12-809F3D87012A}"/>
              </a:ext>
            </a:extLst>
          </p:cNvPr>
          <p:cNvSpPr txBox="1"/>
          <p:nvPr/>
        </p:nvSpPr>
        <p:spPr>
          <a:xfrm>
            <a:off x="330259" y="865313"/>
            <a:ext cx="961252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a:latin typeface="Times New Roman"/>
                <a:cs typeface="Arial"/>
              </a:rPr>
              <a:t>Short AIMD trajectories running with different initial velocity states covering the configurations around the seeds like a swarm.</a:t>
            </a:r>
          </a:p>
          <a:p>
            <a:pPr marL="285750" indent="-285750">
              <a:buFont typeface="Arial,Sans-Serif"/>
              <a:buChar char="•"/>
            </a:pPr>
            <a:endParaRPr lang="en-US">
              <a:latin typeface="Times New Roman"/>
              <a:cs typeface="Arial"/>
            </a:endParaRPr>
          </a:p>
          <a:p>
            <a:pPr marL="285750" indent="-285750">
              <a:buFont typeface="Arial,Sans-Serif"/>
              <a:buChar char="•"/>
            </a:pPr>
            <a:r>
              <a:rPr lang="en-US">
                <a:latin typeface="Times New Roman"/>
                <a:cs typeface="Arial"/>
              </a:rPr>
              <a:t>All seeds from the ALNEB run are used and data from the transition manifold is covered.</a:t>
            </a:r>
          </a:p>
        </p:txBody>
      </p:sp>
    </p:spTree>
    <p:extLst>
      <p:ext uri="{BB962C8B-B14F-4D97-AF65-F5344CB8AC3E}">
        <p14:creationId xmlns:p14="http://schemas.microsoft.com/office/powerpoint/2010/main" val="26213888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A790D-3D29-A071-D0A5-E62BD3AC975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87DA71D-D551-EAE0-8723-E5A27326949B}"/>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How does ALNEB work in our favour?</a:t>
            </a:r>
          </a:p>
        </p:txBody>
      </p:sp>
      <p:pic>
        <p:nvPicPr>
          <p:cNvPr id="8" name="Picture 7" descr="सञ्चिका:IIT Kanpur Logo.png - विकिपीडिया">
            <a:extLst>
              <a:ext uri="{FF2B5EF4-FFF2-40B4-BE49-F238E27FC236}">
                <a16:creationId xmlns:a16="http://schemas.microsoft.com/office/drawing/2014/main" id="{7E65434C-4CC6-35BE-5EA0-D0247EEDE1B5}"/>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23B5E99C-4AD6-EF89-A961-3915321CEABD}"/>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AC2BDAA-1CDE-57BE-D0DB-478D257F67CC}"/>
              </a:ext>
            </a:extLst>
          </p:cNvPr>
          <p:cNvPicPr>
            <a:picLocks noChangeAspect="1"/>
          </p:cNvPicPr>
          <p:nvPr/>
        </p:nvPicPr>
        <p:blipFill>
          <a:blip r:embed="rId4"/>
          <a:stretch>
            <a:fillRect/>
          </a:stretch>
        </p:blipFill>
        <p:spPr>
          <a:xfrm>
            <a:off x="4427190" y="1245460"/>
            <a:ext cx="7500634" cy="4735178"/>
          </a:xfrm>
          <a:prstGeom prst="rect">
            <a:avLst/>
          </a:prstGeom>
        </p:spPr>
      </p:pic>
      <p:sp>
        <p:nvSpPr>
          <p:cNvPr id="15" name="TextBox 14">
            <a:extLst>
              <a:ext uri="{FF2B5EF4-FFF2-40B4-BE49-F238E27FC236}">
                <a16:creationId xmlns:a16="http://schemas.microsoft.com/office/drawing/2014/main" id="{B25175EB-1D85-AFE8-E64A-81490C60DB24}"/>
              </a:ext>
            </a:extLst>
          </p:cNvPr>
          <p:cNvSpPr txBox="1"/>
          <p:nvPr/>
        </p:nvSpPr>
        <p:spPr>
          <a:xfrm>
            <a:off x="26382" y="1390640"/>
            <a:ext cx="691486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a:latin typeface="Times New Roman"/>
                <a:cs typeface="Arial"/>
              </a:rPr>
              <a:t>Active learning framework using GPR.</a:t>
            </a:r>
          </a:p>
          <a:p>
            <a:pPr marL="285750" indent="-285750">
              <a:buFont typeface="Arial,Sans-Serif"/>
              <a:buChar char="•"/>
            </a:pPr>
            <a:endParaRPr lang="en-US">
              <a:latin typeface="Times New Roman"/>
              <a:cs typeface="Arial"/>
            </a:endParaRPr>
          </a:p>
          <a:p>
            <a:pPr marL="285750" indent="-285750">
              <a:buFont typeface="Arial,Sans-Serif"/>
              <a:buChar char="•"/>
            </a:pPr>
            <a:r>
              <a:rPr lang="en-US">
                <a:latin typeface="Times New Roman"/>
                <a:cs typeface="Arial"/>
              </a:rPr>
              <a:t>Constructs surrogate PES.</a:t>
            </a:r>
          </a:p>
          <a:p>
            <a:pPr marL="285750" indent="-285750">
              <a:buFont typeface="Arial,Sans-Serif"/>
              <a:buChar char="•"/>
            </a:pPr>
            <a:endParaRPr lang="en-US"/>
          </a:p>
          <a:p>
            <a:pPr marL="285750" indent="-285750">
              <a:buFont typeface="Arial,Sans-Serif"/>
              <a:buChar char="•"/>
            </a:pPr>
            <a:r>
              <a:rPr lang="en-US">
                <a:latin typeface="Times New Roman"/>
                <a:cs typeface="Arial"/>
              </a:rPr>
              <a:t>Selects training points in two phases.</a:t>
            </a:r>
          </a:p>
          <a:p>
            <a:pPr marL="285750" indent="-285750">
              <a:buFont typeface="Arial,Sans-Serif"/>
              <a:buChar char="•"/>
            </a:pPr>
            <a:endParaRPr lang="en-US">
              <a:latin typeface="Times New Roman"/>
              <a:cs typeface="Arial"/>
            </a:endParaRPr>
          </a:p>
          <a:p>
            <a:pPr marL="285750" indent="-285750">
              <a:buFont typeface="Arial,Sans-Serif"/>
              <a:buChar char="•"/>
            </a:pPr>
            <a:r>
              <a:rPr lang="en-US">
                <a:latin typeface="Times New Roman"/>
                <a:cs typeface="Arial"/>
              </a:rPr>
              <a:t>Reduces expensive QM evaluations.</a:t>
            </a:r>
          </a:p>
        </p:txBody>
      </p:sp>
      <p:cxnSp>
        <p:nvCxnSpPr>
          <p:cNvPr id="4" name="Straight Connector 3">
            <a:extLst>
              <a:ext uri="{FF2B5EF4-FFF2-40B4-BE49-F238E27FC236}">
                <a16:creationId xmlns:a16="http://schemas.microsoft.com/office/drawing/2014/main" id="{915A06E1-1A8B-A582-60B0-2FA9975A5C73}"/>
              </a:ext>
            </a:extLst>
          </p:cNvPr>
          <p:cNvCxnSpPr>
            <a:cxnSpLocks/>
          </p:cNvCxnSpPr>
          <p:nvPr/>
        </p:nvCxnSpPr>
        <p:spPr>
          <a:xfrm>
            <a:off x="195021" y="6349233"/>
            <a:ext cx="11732803"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76209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5A58A-6B9E-3FFE-B5A2-7BD2394DDC8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955F3CC-F24F-382A-C24F-B5767448E560}"/>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How does ALNEB work in our favour?</a:t>
            </a:r>
          </a:p>
        </p:txBody>
      </p:sp>
      <p:pic>
        <p:nvPicPr>
          <p:cNvPr id="8" name="Picture 7" descr="सञ्चिका:IIT Kanpur Logo.png - विकिपीडिया">
            <a:extLst>
              <a:ext uri="{FF2B5EF4-FFF2-40B4-BE49-F238E27FC236}">
                <a16:creationId xmlns:a16="http://schemas.microsoft.com/office/drawing/2014/main" id="{9441ADC5-19A8-40E6-F49F-43F7177D022B}"/>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2CF482AC-68B6-E8D8-D18C-8E50DEA45A8C}"/>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2A7BFFC-2EBC-6B22-090F-E44F72549134}"/>
              </a:ext>
            </a:extLst>
          </p:cNvPr>
          <p:cNvPicPr>
            <a:picLocks noChangeAspect="1"/>
          </p:cNvPicPr>
          <p:nvPr/>
        </p:nvPicPr>
        <p:blipFill>
          <a:blip r:embed="rId4"/>
          <a:stretch>
            <a:fillRect/>
          </a:stretch>
        </p:blipFill>
        <p:spPr>
          <a:xfrm>
            <a:off x="328664" y="1784937"/>
            <a:ext cx="3819817" cy="2996175"/>
          </a:xfrm>
          <a:prstGeom prst="rect">
            <a:avLst/>
          </a:prstGeom>
        </p:spPr>
      </p:pic>
      <p:pic>
        <p:nvPicPr>
          <p:cNvPr id="11" name="Picture 10">
            <a:extLst>
              <a:ext uri="{FF2B5EF4-FFF2-40B4-BE49-F238E27FC236}">
                <a16:creationId xmlns:a16="http://schemas.microsoft.com/office/drawing/2014/main" id="{CE0E72D3-F301-FB41-A0BB-E2D879053487}"/>
              </a:ext>
            </a:extLst>
          </p:cNvPr>
          <p:cNvPicPr>
            <a:picLocks noChangeAspect="1"/>
          </p:cNvPicPr>
          <p:nvPr/>
        </p:nvPicPr>
        <p:blipFill>
          <a:blip r:embed="rId5"/>
          <a:stretch>
            <a:fillRect/>
          </a:stretch>
        </p:blipFill>
        <p:spPr>
          <a:xfrm>
            <a:off x="4219345" y="1771735"/>
            <a:ext cx="3480866" cy="2926417"/>
          </a:xfrm>
          <a:prstGeom prst="rect">
            <a:avLst/>
          </a:prstGeom>
        </p:spPr>
      </p:pic>
      <p:pic>
        <p:nvPicPr>
          <p:cNvPr id="13" name="Picture 12">
            <a:extLst>
              <a:ext uri="{FF2B5EF4-FFF2-40B4-BE49-F238E27FC236}">
                <a16:creationId xmlns:a16="http://schemas.microsoft.com/office/drawing/2014/main" id="{16F3BB94-4573-1286-148C-701C60213ED0}"/>
              </a:ext>
            </a:extLst>
          </p:cNvPr>
          <p:cNvPicPr>
            <a:picLocks noChangeAspect="1"/>
          </p:cNvPicPr>
          <p:nvPr/>
        </p:nvPicPr>
        <p:blipFill>
          <a:blip r:embed="rId6"/>
          <a:srcRect l="689"/>
          <a:stretch>
            <a:fillRect/>
          </a:stretch>
        </p:blipFill>
        <p:spPr>
          <a:xfrm>
            <a:off x="7950467" y="1771734"/>
            <a:ext cx="3551722" cy="2961643"/>
          </a:xfrm>
          <a:prstGeom prst="rect">
            <a:avLst/>
          </a:prstGeom>
        </p:spPr>
      </p:pic>
      <p:cxnSp>
        <p:nvCxnSpPr>
          <p:cNvPr id="4" name="Straight Connector 3">
            <a:extLst>
              <a:ext uri="{FF2B5EF4-FFF2-40B4-BE49-F238E27FC236}">
                <a16:creationId xmlns:a16="http://schemas.microsoft.com/office/drawing/2014/main" id="{98E50FB1-5A97-6890-A6B8-E10A3905BAFD}"/>
              </a:ext>
            </a:extLst>
          </p:cNvPr>
          <p:cNvCxnSpPr>
            <a:cxnSpLocks/>
          </p:cNvCxnSpPr>
          <p:nvPr/>
        </p:nvCxnSpPr>
        <p:spPr>
          <a:xfrm>
            <a:off x="195021" y="6349233"/>
            <a:ext cx="11732803"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15206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FB1A3-E182-C741-9E83-C670954F844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8741AEF-83E2-715E-3AAD-C9822A8348CF}"/>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Descriptor Space Visualisation of a Toy Dataset: CH</a:t>
            </a:r>
            <a:r>
              <a:rPr lang="en-IN" sz="2800" baseline="-25000">
                <a:latin typeface="Times New Roman" panose="02020603050405020304" pitchFamily="18" charset="0"/>
                <a:cs typeface="Times New Roman" panose="02020603050405020304" pitchFamily="18" charset="0"/>
              </a:rPr>
              <a:t>4</a:t>
            </a:r>
            <a:r>
              <a:rPr lang="en-IN" sz="2800">
                <a:latin typeface="Times New Roman" panose="02020603050405020304" pitchFamily="18" charset="0"/>
                <a:cs typeface="Times New Roman" panose="02020603050405020304" pitchFamily="18" charset="0"/>
              </a:rPr>
              <a:t> </a:t>
            </a:r>
            <a:r>
              <a:rPr lang="en-IN" sz="2800">
                <a:latin typeface="Times New Roman" panose="02020603050405020304" pitchFamily="18" charset="0"/>
                <a:cs typeface="Times New Roman" panose="02020603050405020304" pitchFamily="18" charset="0"/>
                <a:sym typeface="Wingdings" panose="05000000000000000000" pitchFamily="2" charset="2"/>
              </a:rPr>
              <a:t> CH</a:t>
            </a:r>
            <a:r>
              <a:rPr lang="en-IN" sz="2800" baseline="-25000">
                <a:latin typeface="Times New Roman" panose="02020603050405020304" pitchFamily="18" charset="0"/>
                <a:cs typeface="Times New Roman" panose="02020603050405020304" pitchFamily="18" charset="0"/>
                <a:sym typeface="Wingdings" panose="05000000000000000000" pitchFamily="2" charset="2"/>
              </a:rPr>
              <a:t>3</a:t>
            </a:r>
            <a:r>
              <a:rPr lang="en-IN" sz="2800">
                <a:latin typeface="Times New Roman" panose="02020603050405020304" pitchFamily="18" charset="0"/>
                <a:cs typeface="Times New Roman" panose="02020603050405020304" pitchFamily="18" charset="0"/>
                <a:sym typeface="Wingdings" panose="05000000000000000000" pitchFamily="2" charset="2"/>
              </a:rPr>
              <a:t> + H</a:t>
            </a:r>
            <a:endParaRPr lang="en-IN" sz="2800">
              <a:latin typeface="Times New Roman" panose="02020603050405020304" pitchFamily="18" charset="0"/>
              <a:cs typeface="Times New Roman" panose="02020603050405020304" pitchFamily="18" charset="0"/>
            </a:endParaRPr>
          </a:p>
        </p:txBody>
      </p:sp>
      <p:pic>
        <p:nvPicPr>
          <p:cNvPr id="8" name="Picture 7" descr="सञ्चिका:IIT Kanpur Logo.png - विकिपीडिया">
            <a:extLst>
              <a:ext uri="{FF2B5EF4-FFF2-40B4-BE49-F238E27FC236}">
                <a16:creationId xmlns:a16="http://schemas.microsoft.com/office/drawing/2014/main" id="{AC284B33-8507-3C91-85D6-92400ADEFA74}"/>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C12D2075-D8B4-AA4B-5FAC-8281F5582348}"/>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832A1A12-1EAE-BFA1-4145-0886CAC389DB}"/>
              </a:ext>
            </a:extLst>
          </p:cNvPr>
          <p:cNvPicPr>
            <a:picLocks noChangeAspect="1"/>
          </p:cNvPicPr>
          <p:nvPr/>
        </p:nvPicPr>
        <p:blipFill>
          <a:blip r:embed="rId4"/>
          <a:stretch>
            <a:fillRect/>
          </a:stretch>
        </p:blipFill>
        <p:spPr>
          <a:xfrm>
            <a:off x="1030599" y="1041293"/>
            <a:ext cx="6263652" cy="5394971"/>
          </a:xfrm>
          <a:prstGeom prst="rect">
            <a:avLst/>
          </a:prstGeom>
        </p:spPr>
      </p:pic>
      <p:sp>
        <p:nvSpPr>
          <p:cNvPr id="6" name="TextBox 5">
            <a:extLst>
              <a:ext uri="{FF2B5EF4-FFF2-40B4-BE49-F238E27FC236}">
                <a16:creationId xmlns:a16="http://schemas.microsoft.com/office/drawing/2014/main" id="{707CE9B1-5CC5-9B02-91BA-C92EB75F21C7}"/>
              </a:ext>
            </a:extLst>
          </p:cNvPr>
          <p:cNvSpPr txBox="1"/>
          <p:nvPr/>
        </p:nvSpPr>
        <p:spPr>
          <a:xfrm>
            <a:off x="7700490" y="1285875"/>
            <a:ext cx="3781426" cy="1200329"/>
          </a:xfrm>
          <a:prstGeom prst="rect">
            <a:avLst/>
          </a:prstGeom>
          <a:noFill/>
        </p:spPr>
        <p:txBody>
          <a:bodyPr wrap="square" rtlCol="0">
            <a:spAutoFit/>
          </a:bodyPr>
          <a:lstStyle/>
          <a:p>
            <a:pPr marL="28575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Generated by random perturbations of the CH</a:t>
            </a:r>
            <a:r>
              <a:rPr lang="en-IN" baseline="-25000">
                <a:latin typeface="Times New Roman" panose="02020603050405020304" pitchFamily="18" charset="0"/>
                <a:cs typeface="Times New Roman" panose="02020603050405020304" pitchFamily="18" charset="0"/>
              </a:rPr>
              <a:t>4 </a:t>
            </a:r>
            <a:r>
              <a:rPr lang="en-IN">
                <a:latin typeface="Times New Roman" panose="02020603050405020304" pitchFamily="18" charset="0"/>
                <a:cs typeface="Times New Roman" panose="02020603050405020304" pitchFamily="18" charset="0"/>
              </a:rPr>
              <a:t>bonds.</a:t>
            </a:r>
            <a:br>
              <a:rPr lang="en-IN">
                <a:latin typeface="Times New Roman" panose="02020603050405020304" pitchFamily="18" charset="0"/>
                <a:cs typeface="Times New Roman" panose="02020603050405020304" pitchFamily="18" charset="0"/>
              </a:rPr>
            </a:br>
            <a:endParaRPr lang="en-IN">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 psi4 based DFT labelling.</a:t>
            </a:r>
          </a:p>
        </p:txBody>
      </p:sp>
    </p:spTree>
    <p:extLst>
      <p:ext uri="{BB962C8B-B14F-4D97-AF65-F5344CB8AC3E}">
        <p14:creationId xmlns:p14="http://schemas.microsoft.com/office/powerpoint/2010/main" val="14151893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1C7D9-A93A-7C11-6B6C-D110F872D7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952363-633E-334C-689D-2A1204F98083}"/>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Descriptor Space Visualisation of a Toy Dataset: CH</a:t>
            </a:r>
            <a:r>
              <a:rPr lang="en-IN" sz="2800" baseline="-25000">
                <a:latin typeface="Times New Roman" panose="02020603050405020304" pitchFamily="18" charset="0"/>
                <a:cs typeface="Times New Roman" panose="02020603050405020304" pitchFamily="18" charset="0"/>
              </a:rPr>
              <a:t>4</a:t>
            </a:r>
            <a:r>
              <a:rPr lang="en-IN" sz="2800">
                <a:latin typeface="Times New Roman" panose="02020603050405020304" pitchFamily="18" charset="0"/>
                <a:cs typeface="Times New Roman" panose="02020603050405020304" pitchFamily="18" charset="0"/>
              </a:rPr>
              <a:t> </a:t>
            </a:r>
            <a:r>
              <a:rPr lang="en-IN" sz="2800">
                <a:latin typeface="Times New Roman" panose="02020603050405020304" pitchFamily="18" charset="0"/>
                <a:cs typeface="Times New Roman" panose="02020603050405020304" pitchFamily="18" charset="0"/>
                <a:sym typeface="Wingdings" panose="05000000000000000000" pitchFamily="2" charset="2"/>
              </a:rPr>
              <a:t> CH</a:t>
            </a:r>
            <a:r>
              <a:rPr lang="en-IN" sz="2800" baseline="-25000">
                <a:latin typeface="Times New Roman" panose="02020603050405020304" pitchFamily="18" charset="0"/>
                <a:cs typeface="Times New Roman" panose="02020603050405020304" pitchFamily="18" charset="0"/>
                <a:sym typeface="Wingdings" panose="05000000000000000000" pitchFamily="2" charset="2"/>
              </a:rPr>
              <a:t>3</a:t>
            </a:r>
            <a:r>
              <a:rPr lang="en-IN" sz="2800">
                <a:latin typeface="Times New Roman" panose="02020603050405020304" pitchFamily="18" charset="0"/>
                <a:cs typeface="Times New Roman" panose="02020603050405020304" pitchFamily="18" charset="0"/>
                <a:sym typeface="Wingdings" panose="05000000000000000000" pitchFamily="2" charset="2"/>
              </a:rPr>
              <a:t> + H</a:t>
            </a:r>
            <a:endParaRPr lang="en-IN" sz="2800">
              <a:latin typeface="Times New Roman" panose="02020603050405020304" pitchFamily="18" charset="0"/>
              <a:cs typeface="Times New Roman" panose="02020603050405020304" pitchFamily="18" charset="0"/>
            </a:endParaRPr>
          </a:p>
        </p:txBody>
      </p:sp>
      <p:pic>
        <p:nvPicPr>
          <p:cNvPr id="8" name="Picture 7" descr="सञ्चिका:IIT Kanpur Logo.png - विकिपीडिया">
            <a:extLst>
              <a:ext uri="{FF2B5EF4-FFF2-40B4-BE49-F238E27FC236}">
                <a16:creationId xmlns:a16="http://schemas.microsoft.com/office/drawing/2014/main" id="{1A7E62D7-C507-16BC-E000-1F829E207842}"/>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63E45CFF-E334-ED70-6F83-633151A88942}"/>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2C183D35-56A7-FCB5-E59D-4AB350F87194}"/>
              </a:ext>
            </a:extLst>
          </p:cNvPr>
          <p:cNvPicPr>
            <a:picLocks noChangeAspect="1"/>
          </p:cNvPicPr>
          <p:nvPr/>
        </p:nvPicPr>
        <p:blipFill>
          <a:blip r:embed="rId4"/>
          <a:stretch>
            <a:fillRect/>
          </a:stretch>
        </p:blipFill>
        <p:spPr>
          <a:xfrm>
            <a:off x="1030599" y="1041293"/>
            <a:ext cx="6263652" cy="5394971"/>
          </a:xfrm>
          <a:prstGeom prst="rect">
            <a:avLst/>
          </a:prstGeom>
        </p:spPr>
      </p:pic>
      <p:sp>
        <p:nvSpPr>
          <p:cNvPr id="4" name="Oval 3">
            <a:extLst>
              <a:ext uri="{FF2B5EF4-FFF2-40B4-BE49-F238E27FC236}">
                <a16:creationId xmlns:a16="http://schemas.microsoft.com/office/drawing/2014/main" id="{E14F0D5F-827A-4FDB-BDB9-B89F382C165D}"/>
              </a:ext>
            </a:extLst>
          </p:cNvPr>
          <p:cNvSpPr/>
          <p:nvPr/>
        </p:nvSpPr>
        <p:spPr>
          <a:xfrm rot="20382277">
            <a:off x="1908393" y="2513746"/>
            <a:ext cx="1297659" cy="2450062"/>
          </a:xfrm>
          <a:prstGeom prst="ellipse">
            <a:avLst/>
          </a:prstGeom>
          <a:solidFill>
            <a:srgbClr val="00B050">
              <a:alpha val="21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CFD2F110-6346-C4D1-008B-47030919FE64}"/>
              </a:ext>
            </a:extLst>
          </p:cNvPr>
          <p:cNvSpPr/>
          <p:nvPr/>
        </p:nvSpPr>
        <p:spPr>
          <a:xfrm rot="20382277">
            <a:off x="4271854" y="2122113"/>
            <a:ext cx="1513344" cy="2731952"/>
          </a:xfrm>
          <a:prstGeom prst="ellipse">
            <a:avLst/>
          </a:prstGeom>
          <a:solidFill>
            <a:srgbClr val="7030A0">
              <a:alpha val="21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F039CB14-F56B-DBC8-929A-C8CECED8E366}"/>
              </a:ext>
            </a:extLst>
          </p:cNvPr>
          <p:cNvSpPr/>
          <p:nvPr/>
        </p:nvSpPr>
        <p:spPr>
          <a:xfrm rot="4352414">
            <a:off x="2838993" y="1344552"/>
            <a:ext cx="1513344" cy="2411689"/>
          </a:xfrm>
          <a:prstGeom prst="ellipse">
            <a:avLst/>
          </a:prstGeom>
          <a:solidFill>
            <a:srgbClr val="00B0F0">
              <a:alpha val="21000"/>
            </a:srgb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603D435C-2A54-6AF6-4EEA-0AE704215BCA}"/>
              </a:ext>
            </a:extLst>
          </p:cNvPr>
          <p:cNvSpPr txBox="1"/>
          <p:nvPr/>
        </p:nvSpPr>
        <p:spPr>
          <a:xfrm>
            <a:off x="7700490" y="1285875"/>
            <a:ext cx="3900960" cy="2862322"/>
          </a:xfrm>
          <a:prstGeom prst="rect">
            <a:avLst/>
          </a:prstGeom>
          <a:noFill/>
        </p:spPr>
        <p:txBody>
          <a:bodyPr wrap="square" rtlCol="0">
            <a:spAutoFit/>
          </a:bodyPr>
          <a:lstStyle/>
          <a:p>
            <a:pPr marL="28575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Generated by random perturbations of the CH</a:t>
            </a:r>
            <a:r>
              <a:rPr lang="en-IN" baseline="-25000">
                <a:latin typeface="Times New Roman" panose="02020603050405020304" pitchFamily="18" charset="0"/>
                <a:cs typeface="Times New Roman" panose="02020603050405020304" pitchFamily="18" charset="0"/>
              </a:rPr>
              <a:t>4 </a:t>
            </a:r>
            <a:r>
              <a:rPr lang="en-IN">
                <a:latin typeface="Times New Roman" panose="02020603050405020304" pitchFamily="18" charset="0"/>
                <a:cs typeface="Times New Roman" panose="02020603050405020304" pitchFamily="18" charset="0"/>
              </a:rPr>
              <a:t>bonds.</a:t>
            </a:r>
            <a:br>
              <a:rPr lang="en-IN">
                <a:latin typeface="Times New Roman" panose="02020603050405020304" pitchFamily="18" charset="0"/>
                <a:cs typeface="Times New Roman" panose="02020603050405020304" pitchFamily="18" charset="0"/>
              </a:rPr>
            </a:br>
            <a:endParaRPr lang="en-IN">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 psi4 based DFT labelling.</a:t>
            </a:r>
          </a:p>
          <a:p>
            <a:pPr marL="285750" indent="-285750">
              <a:buFont typeface="Arial" panose="020B0604020202020204" pitchFamily="34" charset="0"/>
              <a:buChar char="•"/>
            </a:pPr>
            <a:endParaRPr lang="en-IN">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a:solidFill>
                  <a:srgbClr val="7030A0"/>
                </a:solidFill>
                <a:latin typeface="Times New Roman" panose="02020603050405020304" pitchFamily="18" charset="0"/>
                <a:cs typeface="Times New Roman" panose="02020603050405020304" pitchFamily="18" charset="0"/>
              </a:rPr>
              <a:t>CH</a:t>
            </a:r>
            <a:r>
              <a:rPr lang="en-IN" baseline="-25000">
                <a:solidFill>
                  <a:srgbClr val="7030A0"/>
                </a:solidFill>
                <a:latin typeface="Times New Roman" panose="02020603050405020304" pitchFamily="18" charset="0"/>
                <a:cs typeface="Times New Roman" panose="02020603050405020304" pitchFamily="18" charset="0"/>
              </a:rPr>
              <a:t>4 </a:t>
            </a:r>
            <a:r>
              <a:rPr lang="en-IN">
                <a:solidFill>
                  <a:srgbClr val="7030A0"/>
                </a:solidFill>
                <a:latin typeface="Times New Roman" panose="02020603050405020304" pitchFamily="18" charset="0"/>
                <a:cs typeface="Times New Roman" panose="02020603050405020304" pitchFamily="18" charset="0"/>
              </a:rPr>
              <a:t>cluster</a:t>
            </a:r>
          </a:p>
          <a:p>
            <a:pPr marL="285750" indent="-285750">
              <a:buFont typeface="Arial" panose="020B0604020202020204" pitchFamily="34" charset="0"/>
              <a:buChar char="•"/>
            </a:pPr>
            <a:r>
              <a:rPr lang="en-IN">
                <a:solidFill>
                  <a:srgbClr val="00B050"/>
                </a:solidFill>
                <a:latin typeface="Times New Roman" panose="02020603050405020304" pitchFamily="18" charset="0"/>
                <a:cs typeface="Times New Roman" panose="02020603050405020304" pitchFamily="18" charset="0"/>
              </a:rPr>
              <a:t>CH</a:t>
            </a:r>
            <a:r>
              <a:rPr lang="en-IN" baseline="-25000">
                <a:solidFill>
                  <a:srgbClr val="00B050"/>
                </a:solidFill>
                <a:latin typeface="Times New Roman" panose="02020603050405020304" pitchFamily="18" charset="0"/>
                <a:cs typeface="Times New Roman" panose="02020603050405020304" pitchFamily="18" charset="0"/>
              </a:rPr>
              <a:t>3 </a:t>
            </a:r>
            <a:r>
              <a:rPr lang="en-IN">
                <a:solidFill>
                  <a:srgbClr val="00B050"/>
                </a:solidFill>
                <a:latin typeface="Times New Roman" panose="02020603050405020304" pitchFamily="18" charset="0"/>
                <a:cs typeface="Times New Roman" panose="02020603050405020304" pitchFamily="18" charset="0"/>
              </a:rPr>
              <a:t>cluster</a:t>
            </a:r>
          </a:p>
          <a:p>
            <a:pPr marL="285750" indent="-285750">
              <a:buFont typeface="Arial" panose="020B0604020202020204" pitchFamily="34" charset="0"/>
              <a:buChar char="•"/>
            </a:pPr>
            <a:r>
              <a:rPr lang="en-IN">
                <a:solidFill>
                  <a:srgbClr val="0070C0"/>
                </a:solidFill>
                <a:latin typeface="Times New Roman" panose="02020603050405020304" pitchFamily="18" charset="0"/>
                <a:cs typeface="Times New Roman" panose="02020603050405020304" pitchFamily="18" charset="0"/>
              </a:rPr>
              <a:t>Transition manifold </a:t>
            </a:r>
            <a:br>
              <a:rPr lang="en-IN">
                <a:latin typeface="Times New Roman" panose="02020603050405020304" pitchFamily="18" charset="0"/>
                <a:cs typeface="Times New Roman" panose="02020603050405020304" pitchFamily="18" charset="0"/>
              </a:rPr>
            </a:br>
            <a:r>
              <a:rPr lang="en-IN">
                <a:latin typeface="Times New Roman" panose="02020603050405020304" pitchFamily="18" charset="0"/>
                <a:cs typeface="Times New Roman" panose="02020603050405020304" pitchFamily="18" charset="0"/>
              </a:rPr>
              <a:t>(irrespective of the presence of a defined TS)</a:t>
            </a:r>
          </a:p>
        </p:txBody>
      </p:sp>
    </p:spTree>
    <p:extLst>
      <p:ext uri="{BB962C8B-B14F-4D97-AF65-F5344CB8AC3E}">
        <p14:creationId xmlns:p14="http://schemas.microsoft.com/office/powerpoint/2010/main" val="38885304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527A2-A8D8-5043-ED31-D6E0ACD055D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3DA5FB6-75C4-6BEE-DCEE-FB3C20D31F8C}"/>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Descriptor Space Visualisation of the Training Dataset: DeepCNT-22</a:t>
            </a:r>
          </a:p>
        </p:txBody>
      </p:sp>
      <p:pic>
        <p:nvPicPr>
          <p:cNvPr id="8" name="Picture 7" descr="सञ्चिका:IIT Kanpur Logo.png - विकिपीडिया">
            <a:extLst>
              <a:ext uri="{FF2B5EF4-FFF2-40B4-BE49-F238E27FC236}">
                <a16:creationId xmlns:a16="http://schemas.microsoft.com/office/drawing/2014/main" id="{96EF540E-0934-4879-FDF0-A377A3C9B1CE}"/>
              </a:ext>
            </a:extLst>
          </p:cNvPr>
          <p:cNvPicPr>
            <a:picLocks noChangeAspect="1"/>
          </p:cNvPicPr>
          <p:nvPr/>
        </p:nvPicPr>
        <p:blipFill>
          <a:blip r:embed="rId3"/>
          <a:stretch>
            <a:fillRect/>
          </a:stretch>
        </p:blipFill>
        <p:spPr>
          <a:xfrm>
            <a:off x="11036009" y="149478"/>
            <a:ext cx="891815" cy="891815"/>
          </a:xfrm>
          <a:prstGeom prst="rect">
            <a:avLst/>
          </a:prstGeom>
        </p:spPr>
      </p:pic>
      <p:pic>
        <p:nvPicPr>
          <p:cNvPr id="4" name="Picture 3" descr="Sketch-map visualization of the DeepCNT-22 dataset&#10;A sketch-map consisting of 22,975 structures where each colored dot represents an individual atomic configuration (structure). The position of each dot is determined by principal component analysis of the learned descriptors of the structures and its color indicates the corresponding energy of the structure. Examples of atomic configurations from different regions of the sketch map are shown to provide insight into the diversity of the data set. Here orange and grey spheres represent Fe and C atoms, respectively. Source data for this figure is provided in the Source Data file.">
            <a:extLst>
              <a:ext uri="{FF2B5EF4-FFF2-40B4-BE49-F238E27FC236}">
                <a16:creationId xmlns:a16="http://schemas.microsoft.com/office/drawing/2014/main" id="{F0A47824-ABA8-7465-4B81-E306F494156B}"/>
              </a:ext>
            </a:extLst>
          </p:cNvPr>
          <p:cNvPicPr>
            <a:picLocks noChangeAspect="1"/>
          </p:cNvPicPr>
          <p:nvPr/>
        </p:nvPicPr>
        <p:blipFill>
          <a:blip r:embed="rId4"/>
          <a:stretch>
            <a:fillRect/>
          </a:stretch>
        </p:blipFill>
        <p:spPr>
          <a:xfrm>
            <a:off x="2875147" y="1044483"/>
            <a:ext cx="5354048" cy="5139885"/>
          </a:xfrm>
          <a:prstGeom prst="rect">
            <a:avLst/>
          </a:prstGeom>
        </p:spPr>
      </p:pic>
      <p:cxnSp>
        <p:nvCxnSpPr>
          <p:cNvPr id="3" name="Straight Connector 2">
            <a:extLst>
              <a:ext uri="{FF2B5EF4-FFF2-40B4-BE49-F238E27FC236}">
                <a16:creationId xmlns:a16="http://schemas.microsoft.com/office/drawing/2014/main" id="{F0979D8B-1D08-2AAC-5EF1-9B56022ACCEF}"/>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CAB85EB-51D0-373C-EE9A-DF229E1BA9F0}"/>
              </a:ext>
            </a:extLst>
          </p:cNvPr>
          <p:cNvCxnSpPr>
            <a:cxnSpLocks/>
          </p:cNvCxnSpPr>
          <p:nvPr/>
        </p:nvCxnSpPr>
        <p:spPr>
          <a:xfrm>
            <a:off x="195021" y="6349233"/>
            <a:ext cx="11732803"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41178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C905E-242A-9D0A-A535-FACAA3F08E06}"/>
            </a:ext>
          </a:extLst>
        </p:cNvPr>
        <p:cNvGrpSpPr/>
        <p:nvPr/>
      </p:nvGrpSpPr>
      <p:grpSpPr>
        <a:xfrm>
          <a:off x="0" y="0"/>
          <a:ext cx="0" cy="0"/>
          <a:chOff x="0" y="0"/>
          <a:chExt cx="0" cy="0"/>
        </a:xfrm>
      </p:grpSpPr>
      <p:pic>
        <p:nvPicPr>
          <p:cNvPr id="8" name="Picture 7" descr="सञ्चिका:IIT Kanpur Logo.png - विकिपीडिया">
            <a:extLst>
              <a:ext uri="{FF2B5EF4-FFF2-40B4-BE49-F238E27FC236}">
                <a16:creationId xmlns:a16="http://schemas.microsoft.com/office/drawing/2014/main" id="{40E279C1-CBCF-AE7C-3938-33F30CCB54A5}"/>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6A3178EB-9D41-B6D1-B54F-B583D8F4F754}"/>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A157818-9DE5-B7C1-63D3-539C2A806026}"/>
              </a:ext>
            </a:extLst>
          </p:cNvPr>
          <p:cNvPicPr>
            <a:picLocks noChangeAspect="1"/>
          </p:cNvPicPr>
          <p:nvPr/>
        </p:nvPicPr>
        <p:blipFill>
          <a:blip r:embed="rId4"/>
          <a:stretch>
            <a:fillRect/>
          </a:stretch>
        </p:blipFill>
        <p:spPr>
          <a:xfrm>
            <a:off x="596613" y="1041293"/>
            <a:ext cx="10439396" cy="5467293"/>
          </a:xfrm>
          <a:prstGeom prst="rect">
            <a:avLst/>
          </a:prstGeom>
        </p:spPr>
      </p:pic>
      <p:sp>
        <p:nvSpPr>
          <p:cNvPr id="5" name="TextBox 4">
            <a:extLst>
              <a:ext uri="{FF2B5EF4-FFF2-40B4-BE49-F238E27FC236}">
                <a16:creationId xmlns:a16="http://schemas.microsoft.com/office/drawing/2014/main" id="{271C3048-A521-B5EC-3A61-73E518DC7E3D}"/>
              </a:ext>
            </a:extLst>
          </p:cNvPr>
          <p:cNvSpPr txBox="1"/>
          <p:nvPr/>
        </p:nvSpPr>
        <p:spPr>
          <a:xfrm>
            <a:off x="97225" y="149478"/>
            <a:ext cx="12192000"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Data Processing: Farthest Point Sampling</a:t>
            </a:r>
          </a:p>
        </p:txBody>
      </p:sp>
    </p:spTree>
    <p:extLst>
      <p:ext uri="{BB962C8B-B14F-4D97-AF65-F5344CB8AC3E}">
        <p14:creationId xmlns:p14="http://schemas.microsoft.com/office/powerpoint/2010/main" val="31811057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5AEAF067-7384-1063-46B3-A0EFCA71EF4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46A41C1-052F-978A-14BB-838A9C5F02EC}"/>
              </a:ext>
            </a:extLst>
          </p:cNvPr>
          <p:cNvSpPr txBox="1"/>
          <p:nvPr/>
        </p:nvSpPr>
        <p:spPr>
          <a:xfrm>
            <a:off x="97225" y="149478"/>
            <a:ext cx="12192000"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MLFF Model Ensemble Training</a:t>
            </a:r>
          </a:p>
        </p:txBody>
      </p:sp>
      <p:pic>
        <p:nvPicPr>
          <p:cNvPr id="8" name="Picture 7" descr="सञ्चिका:IIT Kanpur Logo.png - विकिपीडिया">
            <a:extLst>
              <a:ext uri="{FF2B5EF4-FFF2-40B4-BE49-F238E27FC236}">
                <a16:creationId xmlns:a16="http://schemas.microsoft.com/office/drawing/2014/main" id="{BC6767FD-0834-0533-ACFE-A3E6E167DF51}"/>
              </a:ext>
            </a:extLst>
          </p:cNvPr>
          <p:cNvPicPr>
            <a:picLocks noChangeAspect="1"/>
          </p:cNvPicPr>
          <p:nvPr/>
        </p:nvPicPr>
        <p:blipFill>
          <a:blip r:embed="rId4"/>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611FB22B-5CF2-A78F-1CCE-C24A16FE2848}"/>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35ED11A4-BBE0-8D1B-25F4-EB6866ADBA91}"/>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Effect>
                      <a14:saturation sat="400000"/>
                    </a14:imgEffect>
                  </a14:imgLayer>
                </a14:imgProps>
              </a:ext>
              <a:ext uri="{28A0092B-C50C-407E-A947-70E740481C1C}">
                <a14:useLocalDpi xmlns:a14="http://schemas.microsoft.com/office/drawing/2010/main" val="0"/>
              </a:ext>
            </a:extLst>
          </a:blip>
          <a:srcRect l="1324" t="-1543"/>
          <a:stretch>
            <a:fillRect/>
          </a:stretch>
        </p:blipFill>
        <p:spPr>
          <a:xfrm>
            <a:off x="2139912" y="1030550"/>
            <a:ext cx="8118281" cy="4794765"/>
          </a:xfrm>
          <a:prstGeom prst="rect">
            <a:avLst/>
          </a:prstGeom>
        </p:spPr>
      </p:pic>
      <p:cxnSp>
        <p:nvCxnSpPr>
          <p:cNvPr id="7" name="Straight Connector 6">
            <a:extLst>
              <a:ext uri="{FF2B5EF4-FFF2-40B4-BE49-F238E27FC236}">
                <a16:creationId xmlns:a16="http://schemas.microsoft.com/office/drawing/2014/main" id="{15FD2EB2-A3F0-B11F-1A56-7855470A7F6E}"/>
              </a:ext>
            </a:extLst>
          </p:cNvPr>
          <p:cNvCxnSpPr>
            <a:cxnSpLocks/>
          </p:cNvCxnSpPr>
          <p:nvPr/>
        </p:nvCxnSpPr>
        <p:spPr>
          <a:xfrm>
            <a:off x="195021" y="6349233"/>
            <a:ext cx="11732803"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1496125"/>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8E958-5C6F-D72F-E5A2-CA2BFC1DD3E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E67C1BA-F860-891D-30D9-9B4892D9D6F5}"/>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Implementation of Delta Learning in MLIP Development</a:t>
            </a:r>
          </a:p>
        </p:txBody>
      </p:sp>
      <p:pic>
        <p:nvPicPr>
          <p:cNvPr id="8" name="Picture 7" descr="सञ्चिका:IIT Kanpur Logo.png - विकिपीडिया">
            <a:extLst>
              <a:ext uri="{FF2B5EF4-FFF2-40B4-BE49-F238E27FC236}">
                <a16:creationId xmlns:a16="http://schemas.microsoft.com/office/drawing/2014/main" id="{0CA42846-E165-20D4-E403-D0D783143F56}"/>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F37491D1-3E7A-8FFE-5599-3A089FF359D0}"/>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56A02C81-83C8-9315-438F-04CCCC19D413}"/>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saturation sat="400000"/>
                    </a14:imgEffect>
                  </a14:imgLayer>
                </a14:imgProps>
              </a:ext>
            </a:extLst>
          </a:blip>
          <a:srcRect t="44807"/>
          <a:stretch>
            <a:fillRect/>
          </a:stretch>
        </p:blipFill>
        <p:spPr>
          <a:xfrm>
            <a:off x="400603" y="1531482"/>
            <a:ext cx="11081313" cy="4608063"/>
          </a:xfrm>
          <a:prstGeom prst="rect">
            <a:avLst/>
          </a:prstGeom>
        </p:spPr>
      </p:pic>
      <p:cxnSp>
        <p:nvCxnSpPr>
          <p:cNvPr id="4" name="Straight Connector 3">
            <a:extLst>
              <a:ext uri="{FF2B5EF4-FFF2-40B4-BE49-F238E27FC236}">
                <a16:creationId xmlns:a16="http://schemas.microsoft.com/office/drawing/2014/main" id="{97B4E995-89D6-92A0-24E3-EDF254DDCF24}"/>
              </a:ext>
            </a:extLst>
          </p:cNvPr>
          <p:cNvCxnSpPr>
            <a:cxnSpLocks/>
          </p:cNvCxnSpPr>
          <p:nvPr/>
        </p:nvCxnSpPr>
        <p:spPr>
          <a:xfrm>
            <a:off x="195021" y="6349233"/>
            <a:ext cx="11732803"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BB4CEEE-6E68-DA30-AE7F-3AD64109C022}"/>
              </a:ext>
            </a:extLst>
          </p:cNvPr>
          <p:cNvSpPr txBox="1"/>
          <p:nvPr/>
        </p:nvSpPr>
        <p:spPr>
          <a:xfrm>
            <a:off x="8137236" y="2918691"/>
            <a:ext cx="1293091" cy="369332"/>
          </a:xfrm>
          <a:prstGeom prst="rect">
            <a:avLst/>
          </a:prstGeom>
          <a:noFill/>
        </p:spPr>
        <p:txBody>
          <a:bodyPr wrap="square" rtlCol="0">
            <a:spAutoFit/>
          </a:bodyPr>
          <a:lstStyle/>
          <a:p>
            <a:r>
              <a:rPr lang="en-IN"/>
              <a:t>Anmol</a:t>
            </a:r>
          </a:p>
        </p:txBody>
      </p:sp>
    </p:spTree>
    <p:extLst>
      <p:ext uri="{BB962C8B-B14F-4D97-AF65-F5344CB8AC3E}">
        <p14:creationId xmlns:p14="http://schemas.microsoft.com/office/powerpoint/2010/main" val="13004262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41A8F-83D7-1107-9F0C-4255D2794C9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FE28DF9-90DD-5251-F0A7-DAB066D27B9A}"/>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Development Milestones</a:t>
            </a:r>
          </a:p>
        </p:txBody>
      </p:sp>
      <p:pic>
        <p:nvPicPr>
          <p:cNvPr id="8" name="Picture 7" descr="सञ्चिका:IIT Kanpur Logo.png - विकिपीडिया">
            <a:extLst>
              <a:ext uri="{FF2B5EF4-FFF2-40B4-BE49-F238E27FC236}">
                <a16:creationId xmlns:a16="http://schemas.microsoft.com/office/drawing/2014/main" id="{66E796C1-753B-5363-E2BA-19065116C84E}"/>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0A7A0020-7A05-DCE9-057B-36118C849B0D}"/>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330CEF5-A8A7-1C89-EF9D-2044901CE27D}"/>
              </a:ext>
            </a:extLst>
          </p:cNvPr>
          <p:cNvSpPr txBox="1"/>
          <p:nvPr/>
        </p:nvSpPr>
        <p:spPr>
          <a:xfrm>
            <a:off x="97225" y="967129"/>
            <a:ext cx="6914865"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mj-lt"/>
              <a:buAutoNum type="arabicPeriod"/>
            </a:pPr>
            <a:r>
              <a:rPr lang="en-US">
                <a:latin typeface="Times New Roman"/>
                <a:cs typeface="Arial"/>
              </a:rPr>
              <a:t>Toy Problem: HCN </a:t>
            </a:r>
            <a:r>
              <a:rPr lang="en-US">
                <a:latin typeface="Times New Roman"/>
                <a:cs typeface="Arial"/>
                <a:sym typeface="Wingdings" panose="05000000000000000000" pitchFamily="2" charset="2"/>
              </a:rPr>
              <a:t> HNC </a:t>
            </a:r>
            <a:r>
              <a:rPr lang="en-US" err="1">
                <a:latin typeface="Times New Roman"/>
                <a:cs typeface="Arial"/>
                <a:sym typeface="Wingdings" panose="05000000000000000000" pitchFamily="2" charset="2"/>
              </a:rPr>
              <a:t>Isomerisation</a:t>
            </a:r>
            <a:r>
              <a:rPr lang="en-US">
                <a:latin typeface="Times New Roman"/>
                <a:cs typeface="Arial"/>
                <a:sym typeface="Wingdings" panose="05000000000000000000" pitchFamily="2" charset="2"/>
              </a:rPr>
              <a:t>.</a:t>
            </a:r>
          </a:p>
          <a:p>
            <a:pPr marL="800100" lvl="1" indent="-342900">
              <a:buFont typeface="+mj-lt"/>
              <a:buAutoNum type="alphaLcPeriod"/>
            </a:pPr>
            <a:r>
              <a:rPr lang="en-US">
                <a:latin typeface="Times New Roman"/>
                <a:cs typeface="Arial"/>
                <a:sym typeface="Wingdings" panose="05000000000000000000" pitchFamily="2" charset="2"/>
              </a:rPr>
              <a:t>Randomly generated data + single-pass training</a:t>
            </a:r>
          </a:p>
          <a:p>
            <a:pPr marL="800100" lvl="1" indent="-342900">
              <a:buFont typeface="+mj-lt"/>
              <a:buAutoNum type="alphaLcPeriod"/>
            </a:pPr>
            <a:r>
              <a:rPr lang="en-US">
                <a:latin typeface="Times New Roman"/>
                <a:cs typeface="Arial"/>
                <a:sym typeface="Wingdings" panose="05000000000000000000" pitchFamily="2" charset="2"/>
              </a:rPr>
              <a:t>ALNEB seed data + single-pass training</a:t>
            </a:r>
          </a:p>
          <a:p>
            <a:pPr marL="800100" lvl="1" indent="-342900">
              <a:buFont typeface="+mj-lt"/>
              <a:buAutoNum type="alphaLcPeriod"/>
            </a:pPr>
            <a:r>
              <a:rPr lang="en-US">
                <a:latin typeface="Times New Roman"/>
                <a:cs typeface="Arial"/>
                <a:sym typeface="Wingdings" panose="05000000000000000000" pitchFamily="2" charset="2"/>
              </a:rPr>
              <a:t>ALNEB seed data + AL loop training</a:t>
            </a:r>
          </a:p>
          <a:p>
            <a:pPr marL="800100" lvl="1" indent="-342900">
              <a:buFont typeface="+mj-lt"/>
              <a:buAutoNum type="alphaLcPeriod"/>
            </a:pPr>
            <a:r>
              <a:rPr lang="en-US">
                <a:latin typeface="Times New Roman"/>
                <a:cs typeface="Arial"/>
                <a:sym typeface="Wingdings" panose="05000000000000000000" pitchFamily="2" charset="2"/>
              </a:rPr>
              <a:t>ALNEB guided swarm AIMD data + single-pass training</a:t>
            </a:r>
          </a:p>
          <a:p>
            <a:pPr marL="800100" lvl="1" indent="-342900">
              <a:buFont typeface="+mj-lt"/>
              <a:buAutoNum type="alphaLcPeriod"/>
            </a:pPr>
            <a:r>
              <a:rPr lang="en-US">
                <a:latin typeface="Times New Roman"/>
                <a:cs typeface="Arial"/>
                <a:sym typeface="Wingdings" panose="05000000000000000000" pitchFamily="2" charset="2"/>
              </a:rPr>
              <a:t>ALNEB guided swarm AIMD data + AL loop training</a:t>
            </a:r>
          </a:p>
          <a:p>
            <a:pPr marL="800100" lvl="1" indent="-342900">
              <a:buFont typeface="+mj-lt"/>
              <a:buAutoNum type="alphaLcPeriod"/>
            </a:pPr>
            <a:r>
              <a:rPr lang="en-US" err="1">
                <a:latin typeface="Times New Roman"/>
                <a:cs typeface="Arial"/>
                <a:sym typeface="Wingdings" panose="05000000000000000000" pitchFamily="2" charset="2"/>
              </a:rPr>
              <a:t>Generalisation</a:t>
            </a:r>
            <a:r>
              <a:rPr lang="en-US">
                <a:latin typeface="Times New Roman"/>
                <a:cs typeface="Arial"/>
                <a:sym typeface="Wingdings" panose="05000000000000000000" pitchFamily="2" charset="2"/>
              </a:rPr>
              <a:t> and HPC-compatible script preparation</a:t>
            </a:r>
          </a:p>
          <a:p>
            <a:pPr marL="800100" lvl="1" indent="-342900">
              <a:buFont typeface="+mj-lt"/>
              <a:buAutoNum type="alphaLcPeriod"/>
            </a:pPr>
            <a:endParaRPr lang="en-US">
              <a:latin typeface="Times New Roman"/>
              <a:cs typeface="Arial"/>
              <a:sym typeface="Wingdings" panose="05000000000000000000" pitchFamily="2" charset="2"/>
            </a:endParaRPr>
          </a:p>
          <a:p>
            <a:pPr marL="342900" indent="-342900">
              <a:buFont typeface="+mj-lt"/>
              <a:buAutoNum type="arabicPeriod"/>
            </a:pPr>
            <a:r>
              <a:rPr lang="en-US">
                <a:latin typeface="Times New Roman"/>
                <a:cs typeface="Arial"/>
                <a:sym typeface="Wingdings" panose="05000000000000000000" pitchFamily="2" charset="2"/>
              </a:rPr>
              <a:t>Toy Problem: CH</a:t>
            </a:r>
            <a:r>
              <a:rPr lang="en-US" baseline="-25000">
                <a:latin typeface="Times New Roman"/>
                <a:cs typeface="Arial"/>
                <a:sym typeface="Wingdings" panose="05000000000000000000" pitchFamily="2" charset="2"/>
              </a:rPr>
              <a:t>4 </a:t>
            </a:r>
            <a:r>
              <a:rPr lang="en-US">
                <a:latin typeface="Times New Roman"/>
                <a:cs typeface="Arial"/>
                <a:sym typeface="Wingdings" panose="05000000000000000000" pitchFamily="2" charset="2"/>
              </a:rPr>
              <a:t> CH</a:t>
            </a:r>
            <a:r>
              <a:rPr lang="en-US" baseline="-25000">
                <a:latin typeface="Times New Roman"/>
                <a:cs typeface="Arial"/>
                <a:sym typeface="Wingdings" panose="05000000000000000000" pitchFamily="2" charset="2"/>
              </a:rPr>
              <a:t>3 </a:t>
            </a:r>
            <a:r>
              <a:rPr lang="en-US">
                <a:latin typeface="Times New Roman"/>
                <a:cs typeface="Arial"/>
                <a:sym typeface="Wingdings" panose="05000000000000000000" pitchFamily="2" charset="2"/>
              </a:rPr>
              <a:t>+ H</a:t>
            </a:r>
          </a:p>
          <a:p>
            <a:pPr marL="800100" lvl="1" indent="-342900">
              <a:buFont typeface="+mj-lt"/>
              <a:buAutoNum type="alphaLcPeriod"/>
            </a:pPr>
            <a:r>
              <a:rPr lang="en-US">
                <a:latin typeface="Times New Roman"/>
                <a:cs typeface="Arial"/>
                <a:sym typeface="Wingdings" panose="05000000000000000000" pitchFamily="2" charset="2"/>
              </a:rPr>
              <a:t>Similar milestones as the HCN toy problem</a:t>
            </a:r>
          </a:p>
          <a:p>
            <a:pPr marL="342900" indent="-342900">
              <a:buFont typeface="+mj-lt"/>
              <a:buAutoNum type="arabicPeriod"/>
            </a:pPr>
            <a:endParaRPr lang="en-US">
              <a:latin typeface="Times New Roman"/>
              <a:cs typeface="Arial"/>
              <a:sym typeface="Wingdings" panose="05000000000000000000" pitchFamily="2" charset="2"/>
            </a:endParaRPr>
          </a:p>
          <a:p>
            <a:pPr marL="342900" indent="-342900">
              <a:buFont typeface="+mj-lt"/>
              <a:buAutoNum type="arabicPeriod"/>
            </a:pPr>
            <a:r>
              <a:rPr lang="en-US">
                <a:latin typeface="Times New Roman"/>
                <a:cs typeface="Arial"/>
                <a:sym typeface="Wingdings" panose="05000000000000000000" pitchFamily="2" charset="2"/>
              </a:rPr>
              <a:t>Result Benchmarking: GAP-20</a:t>
            </a:r>
          </a:p>
          <a:p>
            <a:pPr marL="342900" indent="-342900">
              <a:buFont typeface="+mj-lt"/>
              <a:buAutoNum type="arabicPeriod"/>
            </a:pPr>
            <a:endParaRPr lang="en-US">
              <a:latin typeface="Times New Roman"/>
              <a:cs typeface="Arial"/>
              <a:sym typeface="Wingdings" panose="05000000000000000000" pitchFamily="2" charset="2"/>
            </a:endParaRPr>
          </a:p>
          <a:p>
            <a:pPr marL="342900" indent="-342900">
              <a:buFont typeface="+mj-lt"/>
              <a:buAutoNum type="arabicPeriod"/>
            </a:pPr>
            <a:r>
              <a:rPr lang="en-US">
                <a:latin typeface="Times New Roman"/>
                <a:cs typeface="Arial"/>
                <a:sym typeface="Wingdings" panose="05000000000000000000" pitchFamily="2" charset="2"/>
              </a:rPr>
              <a:t>Result Benchmarking: DeepCNT-22</a:t>
            </a:r>
          </a:p>
          <a:p>
            <a:pPr marL="342900" indent="-342900">
              <a:buFont typeface="+mj-lt"/>
              <a:buAutoNum type="arabicPeriod"/>
            </a:pPr>
            <a:endParaRPr lang="en-US">
              <a:latin typeface="Times New Roman"/>
              <a:cs typeface="Arial"/>
              <a:sym typeface="Wingdings" panose="05000000000000000000" pitchFamily="2" charset="2"/>
            </a:endParaRPr>
          </a:p>
          <a:p>
            <a:pPr marL="342900" indent="-342900">
              <a:buFont typeface="+mj-lt"/>
              <a:buAutoNum type="arabicPeriod"/>
            </a:pPr>
            <a:r>
              <a:rPr lang="en-US">
                <a:latin typeface="Times New Roman"/>
                <a:cs typeface="Arial"/>
                <a:sym typeface="Wingdings" panose="05000000000000000000" pitchFamily="2" charset="2"/>
              </a:rPr>
              <a:t>Production: Pure Metal + Alloy (Cu-In) MLIP</a:t>
            </a:r>
          </a:p>
          <a:p>
            <a:pPr marL="342900" indent="-342900">
              <a:buFont typeface="+mj-lt"/>
              <a:buAutoNum type="arabicPeriod"/>
            </a:pPr>
            <a:endParaRPr lang="en-US">
              <a:latin typeface="Times New Roman"/>
              <a:cs typeface="Arial"/>
              <a:sym typeface="Wingdings" panose="05000000000000000000" pitchFamily="2" charset="2"/>
            </a:endParaRPr>
          </a:p>
          <a:p>
            <a:pPr marL="342900" indent="-342900">
              <a:buFont typeface="+mj-lt"/>
              <a:buAutoNum type="arabicPeriod"/>
            </a:pPr>
            <a:r>
              <a:rPr lang="en-US">
                <a:latin typeface="Times New Roman"/>
                <a:cs typeface="Arial"/>
              </a:rPr>
              <a:t>Production: CNT Growth on Molten Alloy Nanoparticle MLIP</a:t>
            </a:r>
          </a:p>
        </p:txBody>
      </p:sp>
      <p:sp>
        <p:nvSpPr>
          <p:cNvPr id="6" name="TextBox 5">
            <a:extLst>
              <a:ext uri="{FF2B5EF4-FFF2-40B4-BE49-F238E27FC236}">
                <a16:creationId xmlns:a16="http://schemas.microsoft.com/office/drawing/2014/main" id="{7BB2C2E2-6FB3-532A-C880-71142C1DDD87}"/>
              </a:ext>
            </a:extLst>
          </p:cNvPr>
          <p:cNvSpPr txBox="1"/>
          <p:nvPr/>
        </p:nvSpPr>
        <p:spPr>
          <a:xfrm>
            <a:off x="8137236" y="2918691"/>
            <a:ext cx="1293091" cy="369332"/>
          </a:xfrm>
          <a:prstGeom prst="rect">
            <a:avLst/>
          </a:prstGeom>
          <a:noFill/>
        </p:spPr>
        <p:txBody>
          <a:bodyPr wrap="square" rtlCol="0">
            <a:spAutoFit/>
          </a:bodyPr>
          <a:lstStyle/>
          <a:p>
            <a:r>
              <a:rPr lang="en-IN"/>
              <a:t>Anmol</a:t>
            </a:r>
          </a:p>
        </p:txBody>
      </p:sp>
    </p:spTree>
    <p:extLst>
      <p:ext uri="{BB962C8B-B14F-4D97-AF65-F5344CB8AC3E}">
        <p14:creationId xmlns:p14="http://schemas.microsoft.com/office/powerpoint/2010/main" val="603295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CFBAC-E74E-C070-8257-D5E40266A99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C3B5858-61CB-75A3-1E6E-EE761BA00ABD}"/>
              </a:ext>
            </a:extLst>
          </p:cNvPr>
          <p:cNvSpPr txBox="1"/>
          <p:nvPr/>
        </p:nvSpPr>
        <p:spPr>
          <a:xfrm>
            <a:off x="0" y="2305615"/>
            <a:ext cx="12192000" cy="2246769"/>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Part 4:</a:t>
            </a:r>
          </a:p>
          <a:p>
            <a:pPr algn="ctr"/>
            <a:r>
              <a:rPr lang="en-IN" sz="2800" dirty="0">
                <a:latin typeface="Times New Roman" panose="02020603050405020304" pitchFamily="18" charset="0"/>
                <a:cs typeface="Times New Roman" panose="02020603050405020304" pitchFamily="18" charset="0"/>
              </a:rPr>
              <a:t>Toy Problems</a:t>
            </a:r>
            <a:br>
              <a:rPr lang="en-IN" sz="2800" dirty="0">
                <a:latin typeface="Times New Roman" panose="02020603050405020304" pitchFamily="18" charset="0"/>
                <a:cs typeface="Times New Roman" panose="02020603050405020304" pitchFamily="18" charset="0"/>
              </a:rPr>
            </a:b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HCN </a:t>
            </a:r>
            <a:r>
              <a:rPr lang="en-IN" sz="2800" dirty="0">
                <a:latin typeface="Times New Roman" panose="02020603050405020304" pitchFamily="18" charset="0"/>
                <a:cs typeface="Times New Roman" panose="02020603050405020304" pitchFamily="18" charset="0"/>
                <a:sym typeface="Wingdings" panose="05000000000000000000" pitchFamily="2" charset="2"/>
              </a:rPr>
              <a:t> HNC </a:t>
            </a:r>
            <a:r>
              <a:rPr lang="en-IN" sz="2800" dirty="0">
                <a:latin typeface="Times New Roman" panose="02020603050405020304" pitchFamily="18" charset="0"/>
                <a:cs typeface="Times New Roman" panose="02020603050405020304" pitchFamily="18" charset="0"/>
              </a:rPr>
              <a:t> Isomerisation</a:t>
            </a:r>
          </a:p>
          <a:p>
            <a:pPr algn="ctr"/>
            <a:r>
              <a:rPr lang="en-IN" sz="2800" dirty="0">
                <a:latin typeface="Times New Roman" panose="02020603050405020304" pitchFamily="18" charset="0"/>
                <a:cs typeface="Times New Roman" panose="02020603050405020304" pitchFamily="18" charset="0"/>
              </a:rPr>
              <a:t>CH</a:t>
            </a:r>
            <a:r>
              <a:rPr lang="en-IN" sz="2800" baseline="-25000" dirty="0">
                <a:latin typeface="Times New Roman" panose="02020603050405020304" pitchFamily="18" charset="0"/>
                <a:cs typeface="Times New Roman" panose="02020603050405020304" pitchFamily="18" charset="0"/>
              </a:rPr>
              <a:t>4 </a:t>
            </a:r>
            <a:r>
              <a:rPr lang="en-IN" sz="2800" dirty="0">
                <a:latin typeface="Times New Roman" panose="02020603050405020304" pitchFamily="18" charset="0"/>
                <a:cs typeface="Times New Roman" panose="02020603050405020304" pitchFamily="18" charset="0"/>
              </a:rPr>
              <a:t>Dissociation</a:t>
            </a:r>
            <a:endParaRPr lang="en-IN" dirty="0"/>
          </a:p>
        </p:txBody>
      </p:sp>
      <p:pic>
        <p:nvPicPr>
          <p:cNvPr id="8" name="Picture 7" descr="सञ्चिका:IIT Kanpur Logo.png - विकिपीडिया">
            <a:extLst>
              <a:ext uri="{FF2B5EF4-FFF2-40B4-BE49-F238E27FC236}">
                <a16:creationId xmlns:a16="http://schemas.microsoft.com/office/drawing/2014/main" id="{83C443D5-BEC0-85CD-21B0-9B872DE19CF7}"/>
              </a:ext>
            </a:extLst>
          </p:cNvPr>
          <p:cNvPicPr>
            <a:picLocks noChangeAspect="1"/>
          </p:cNvPicPr>
          <p:nvPr/>
        </p:nvPicPr>
        <p:blipFill>
          <a:blip r:embed="rId3"/>
          <a:stretch>
            <a:fillRect/>
          </a:stretch>
        </p:blipFill>
        <p:spPr>
          <a:xfrm>
            <a:off x="11036009" y="149478"/>
            <a:ext cx="891815" cy="891815"/>
          </a:xfrm>
          <a:prstGeom prst="rect">
            <a:avLst/>
          </a:prstGeom>
        </p:spPr>
      </p:pic>
    </p:spTree>
    <p:extLst>
      <p:ext uri="{BB962C8B-B14F-4D97-AF65-F5344CB8AC3E}">
        <p14:creationId xmlns:p14="http://schemas.microsoft.com/office/powerpoint/2010/main" val="14232275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807CF-77AE-3120-CBEE-8B17295B09E6}"/>
            </a:ext>
          </a:extLst>
        </p:cNvPr>
        <p:cNvGrpSpPr/>
        <p:nvPr/>
      </p:nvGrpSpPr>
      <p:grpSpPr>
        <a:xfrm>
          <a:off x="0" y="0"/>
          <a:ext cx="0" cy="0"/>
          <a:chOff x="0" y="0"/>
          <a:chExt cx="0" cy="0"/>
        </a:xfrm>
      </p:grpSpPr>
      <p:pic>
        <p:nvPicPr>
          <p:cNvPr id="8" name="Picture 7" descr="सञ्चिका:IIT Kanpur Logo.png - विकिपीडिया">
            <a:extLst>
              <a:ext uri="{FF2B5EF4-FFF2-40B4-BE49-F238E27FC236}">
                <a16:creationId xmlns:a16="http://schemas.microsoft.com/office/drawing/2014/main" id="{29BA3BAB-4A6B-8E81-D11E-A1C9CC8539A4}"/>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53C8B3C2-CF69-5D71-2953-0A7E81404AAD}"/>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7A0D37C-282C-8DD7-B35B-AB2EB03EE7A7}"/>
              </a:ext>
            </a:extLst>
          </p:cNvPr>
          <p:cNvSpPr txBox="1"/>
          <p:nvPr/>
        </p:nvSpPr>
        <p:spPr>
          <a:xfrm>
            <a:off x="7700490" y="1285875"/>
            <a:ext cx="3900960" cy="147732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IN">
                <a:latin typeface="Times New Roman"/>
                <a:cs typeface="Times New Roman"/>
              </a:rPr>
              <a:t>Generated by random perturbations of the HCN bonds.</a:t>
            </a:r>
            <a:br>
              <a:rPr lang="en-IN">
                <a:latin typeface="Times New Roman" panose="02020603050405020304" pitchFamily="18" charset="0"/>
                <a:cs typeface="Times New Roman" panose="02020603050405020304" pitchFamily="18" charset="0"/>
              </a:rPr>
            </a:br>
            <a:endParaRPr lang="en-IN">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 psi4 based DFT labelling.</a:t>
            </a:r>
          </a:p>
          <a:p>
            <a:endParaRPr lang="en-IN">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C63E956-34B0-B63B-E922-42D8DE873D76}"/>
              </a:ext>
            </a:extLst>
          </p:cNvPr>
          <p:cNvPicPr>
            <a:picLocks noChangeAspect="1"/>
          </p:cNvPicPr>
          <p:nvPr/>
        </p:nvPicPr>
        <p:blipFill>
          <a:blip r:embed="rId4"/>
          <a:stretch>
            <a:fillRect/>
          </a:stretch>
        </p:blipFill>
        <p:spPr>
          <a:xfrm>
            <a:off x="448980" y="1047098"/>
            <a:ext cx="6534150" cy="5619750"/>
          </a:xfrm>
          <a:prstGeom prst="rect">
            <a:avLst/>
          </a:prstGeom>
        </p:spPr>
      </p:pic>
      <p:sp>
        <p:nvSpPr>
          <p:cNvPr id="5" name="TextBox 4">
            <a:extLst>
              <a:ext uri="{FF2B5EF4-FFF2-40B4-BE49-F238E27FC236}">
                <a16:creationId xmlns:a16="http://schemas.microsoft.com/office/drawing/2014/main" id="{CD7FFDCA-369C-E89B-9E6D-00E0734108CA}"/>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Toy Problem: HCN </a:t>
            </a:r>
            <a:r>
              <a:rPr lang="en-IN" sz="2800">
                <a:latin typeface="Times New Roman" panose="02020603050405020304" pitchFamily="18" charset="0"/>
                <a:cs typeface="Times New Roman" panose="02020603050405020304" pitchFamily="18" charset="0"/>
                <a:sym typeface="Wingdings" panose="05000000000000000000" pitchFamily="2" charset="2"/>
              </a:rPr>
              <a:t> HNC Isomerisation</a:t>
            </a:r>
            <a:endParaRPr lang="en-IN"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39189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05B6A-608C-B548-A939-D258056B1282}"/>
            </a:ext>
          </a:extLst>
        </p:cNvPr>
        <p:cNvGrpSpPr/>
        <p:nvPr/>
      </p:nvGrpSpPr>
      <p:grpSpPr>
        <a:xfrm>
          <a:off x="0" y="0"/>
          <a:ext cx="0" cy="0"/>
          <a:chOff x="0" y="0"/>
          <a:chExt cx="0" cy="0"/>
        </a:xfrm>
      </p:grpSpPr>
      <p:pic>
        <p:nvPicPr>
          <p:cNvPr id="8" name="Picture 7" descr="सञ्चिका:IIT Kanpur Logo.png - विकिपीडिया">
            <a:extLst>
              <a:ext uri="{FF2B5EF4-FFF2-40B4-BE49-F238E27FC236}">
                <a16:creationId xmlns:a16="http://schemas.microsoft.com/office/drawing/2014/main" id="{A6815561-728C-5052-840F-CB7BF8BB2196}"/>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1DEA5697-F5EE-77AF-3C72-BBD57BB05D83}"/>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CA58AD87-AD12-CAA3-3040-D0E87C291705}"/>
              </a:ext>
            </a:extLst>
          </p:cNvPr>
          <p:cNvPicPr>
            <a:picLocks noChangeAspect="1"/>
          </p:cNvPicPr>
          <p:nvPr/>
        </p:nvPicPr>
        <p:blipFill>
          <a:blip r:embed="rId4"/>
          <a:stretch>
            <a:fillRect/>
          </a:stretch>
        </p:blipFill>
        <p:spPr>
          <a:xfrm>
            <a:off x="1133475" y="1301338"/>
            <a:ext cx="9925050" cy="5153025"/>
          </a:xfrm>
          <a:prstGeom prst="rect">
            <a:avLst/>
          </a:prstGeom>
        </p:spPr>
      </p:pic>
      <p:sp>
        <p:nvSpPr>
          <p:cNvPr id="6" name="TextBox 5">
            <a:extLst>
              <a:ext uri="{FF2B5EF4-FFF2-40B4-BE49-F238E27FC236}">
                <a16:creationId xmlns:a16="http://schemas.microsoft.com/office/drawing/2014/main" id="{FC8B9F48-02C5-1DEB-91B3-7BC1B0A5697B}"/>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Toy Problem: HCN </a:t>
            </a:r>
            <a:r>
              <a:rPr lang="en-IN" sz="2800">
                <a:latin typeface="Times New Roman" panose="02020603050405020304" pitchFamily="18" charset="0"/>
                <a:cs typeface="Times New Roman" panose="02020603050405020304" pitchFamily="18" charset="0"/>
                <a:sym typeface="Wingdings" panose="05000000000000000000" pitchFamily="2" charset="2"/>
              </a:rPr>
              <a:t> HNC Isomerisation</a:t>
            </a:r>
            <a:endParaRPr lang="en-IN"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30186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B852B-6A56-0FFB-5061-6E4E74C186D9}"/>
            </a:ext>
          </a:extLst>
        </p:cNvPr>
        <p:cNvGrpSpPr/>
        <p:nvPr/>
      </p:nvGrpSpPr>
      <p:grpSpPr>
        <a:xfrm>
          <a:off x="0" y="0"/>
          <a:ext cx="0" cy="0"/>
          <a:chOff x="0" y="0"/>
          <a:chExt cx="0" cy="0"/>
        </a:xfrm>
      </p:grpSpPr>
      <p:pic>
        <p:nvPicPr>
          <p:cNvPr id="8" name="Picture 7" descr="सञ्चिका:IIT Kanpur Logo.png - विकिपीडिया">
            <a:extLst>
              <a:ext uri="{FF2B5EF4-FFF2-40B4-BE49-F238E27FC236}">
                <a16:creationId xmlns:a16="http://schemas.microsoft.com/office/drawing/2014/main" id="{ACBE8CA4-5E6D-8AC9-CDA0-E50165D2717B}"/>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402D6C93-433C-993D-E488-B52C923E287C}"/>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DA826C57-7ECA-2F89-5803-FFB653FEE637}"/>
              </a:ext>
            </a:extLst>
          </p:cNvPr>
          <p:cNvPicPr>
            <a:picLocks noChangeAspect="1"/>
          </p:cNvPicPr>
          <p:nvPr/>
        </p:nvPicPr>
        <p:blipFill>
          <a:blip r:embed="rId4"/>
          <a:stretch>
            <a:fillRect/>
          </a:stretch>
        </p:blipFill>
        <p:spPr>
          <a:xfrm>
            <a:off x="2427570" y="894919"/>
            <a:ext cx="7336860" cy="5939425"/>
          </a:xfrm>
          <a:prstGeom prst="rect">
            <a:avLst/>
          </a:prstGeom>
        </p:spPr>
      </p:pic>
      <p:sp>
        <p:nvSpPr>
          <p:cNvPr id="6" name="TextBox 5">
            <a:extLst>
              <a:ext uri="{FF2B5EF4-FFF2-40B4-BE49-F238E27FC236}">
                <a16:creationId xmlns:a16="http://schemas.microsoft.com/office/drawing/2014/main" id="{9A9DA8E3-62FA-3465-6CD8-8DC39DEE80D1}"/>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Toy Problem: HCN </a:t>
            </a:r>
            <a:r>
              <a:rPr lang="en-IN" sz="2800">
                <a:latin typeface="Times New Roman" panose="02020603050405020304" pitchFamily="18" charset="0"/>
                <a:cs typeface="Times New Roman" panose="02020603050405020304" pitchFamily="18" charset="0"/>
                <a:sym typeface="Wingdings" panose="05000000000000000000" pitchFamily="2" charset="2"/>
              </a:rPr>
              <a:t> HNC Isomerisation</a:t>
            </a:r>
            <a:endParaRPr lang="en-IN"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08246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78801-2328-DD16-AFAA-05C25B9FCC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1EFA73F-F8E6-04C7-47BF-1E8F0059975D}"/>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Toy Problem: HCN </a:t>
            </a:r>
            <a:r>
              <a:rPr lang="en-IN" sz="2800">
                <a:latin typeface="Times New Roman" panose="02020603050405020304" pitchFamily="18" charset="0"/>
                <a:cs typeface="Times New Roman" panose="02020603050405020304" pitchFamily="18" charset="0"/>
                <a:sym typeface="Wingdings" panose="05000000000000000000" pitchFamily="2" charset="2"/>
              </a:rPr>
              <a:t> HNC Isomerisation</a:t>
            </a:r>
            <a:endParaRPr lang="en-IN" sz="2800">
              <a:latin typeface="Times New Roman" panose="02020603050405020304" pitchFamily="18" charset="0"/>
              <a:cs typeface="Times New Roman" panose="02020603050405020304" pitchFamily="18" charset="0"/>
            </a:endParaRPr>
          </a:p>
        </p:txBody>
      </p:sp>
      <p:pic>
        <p:nvPicPr>
          <p:cNvPr id="8" name="Picture 7" descr="सञ्चिका:IIT Kanpur Logo.png - विकिपीडिया">
            <a:extLst>
              <a:ext uri="{FF2B5EF4-FFF2-40B4-BE49-F238E27FC236}">
                <a16:creationId xmlns:a16="http://schemas.microsoft.com/office/drawing/2014/main" id="{079E9FC3-1833-12A1-942A-AE6BA67CAD28}"/>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F191DD99-7D35-BCC2-52D7-69DF8DC2DDB1}"/>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3318965-69BE-9C07-5A34-E3FB8823EEA3}"/>
              </a:ext>
            </a:extLst>
          </p:cNvPr>
          <p:cNvSpPr txBox="1"/>
          <p:nvPr/>
        </p:nvSpPr>
        <p:spPr>
          <a:xfrm>
            <a:off x="295564" y="1041293"/>
            <a:ext cx="5800436" cy="369332"/>
          </a:xfrm>
          <a:prstGeom prst="rect">
            <a:avLst/>
          </a:prstGeom>
          <a:noFill/>
        </p:spPr>
        <p:txBody>
          <a:bodyPr wrap="square" rtlCol="0">
            <a:spAutoFit/>
          </a:bodyPr>
          <a:lstStyle/>
          <a:p>
            <a:r>
              <a:rPr lang="en-IN" u="sng">
                <a:latin typeface="Times New Roman" panose="02020603050405020304" pitchFamily="18" charset="0"/>
                <a:cs typeface="Times New Roman" panose="02020603050405020304" pitchFamily="18" charset="0"/>
              </a:rPr>
              <a:t>Learning Curves &amp; RMSE values</a:t>
            </a:r>
          </a:p>
        </p:txBody>
      </p:sp>
      <p:pic>
        <p:nvPicPr>
          <p:cNvPr id="6" name="Picture 5">
            <a:extLst>
              <a:ext uri="{FF2B5EF4-FFF2-40B4-BE49-F238E27FC236}">
                <a16:creationId xmlns:a16="http://schemas.microsoft.com/office/drawing/2014/main" id="{B2C9EF13-2261-9283-CACC-43015652AB38}"/>
              </a:ext>
            </a:extLst>
          </p:cNvPr>
          <p:cNvPicPr>
            <a:picLocks noChangeAspect="1"/>
          </p:cNvPicPr>
          <p:nvPr/>
        </p:nvPicPr>
        <p:blipFill>
          <a:blip r:embed="rId4"/>
          <a:stretch>
            <a:fillRect/>
          </a:stretch>
        </p:blipFill>
        <p:spPr>
          <a:xfrm>
            <a:off x="0" y="1713314"/>
            <a:ext cx="12192000" cy="4433455"/>
          </a:xfrm>
          <a:prstGeom prst="rect">
            <a:avLst/>
          </a:prstGeom>
        </p:spPr>
      </p:pic>
    </p:spTree>
    <p:extLst>
      <p:ext uri="{BB962C8B-B14F-4D97-AF65-F5344CB8AC3E}">
        <p14:creationId xmlns:p14="http://schemas.microsoft.com/office/powerpoint/2010/main" val="19189706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9B342-37E1-321F-A7D7-E2F431A8A64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FF87DDE-8B8F-3298-6C80-F6348BFC8C40}"/>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Toy Problem: HCN </a:t>
            </a:r>
            <a:r>
              <a:rPr lang="en-IN" sz="2800">
                <a:latin typeface="Times New Roman" panose="02020603050405020304" pitchFamily="18" charset="0"/>
                <a:cs typeface="Times New Roman" panose="02020603050405020304" pitchFamily="18" charset="0"/>
                <a:sym typeface="Wingdings" panose="05000000000000000000" pitchFamily="2" charset="2"/>
              </a:rPr>
              <a:t> HNC Isomerisation</a:t>
            </a:r>
            <a:endParaRPr lang="en-IN" sz="2800">
              <a:latin typeface="Times New Roman" panose="02020603050405020304" pitchFamily="18" charset="0"/>
              <a:cs typeface="Times New Roman" panose="02020603050405020304" pitchFamily="18" charset="0"/>
            </a:endParaRPr>
          </a:p>
        </p:txBody>
      </p:sp>
      <p:pic>
        <p:nvPicPr>
          <p:cNvPr id="8" name="Picture 7" descr="सञ्चिका:IIT Kanpur Logo.png - विकिपीडिया">
            <a:extLst>
              <a:ext uri="{FF2B5EF4-FFF2-40B4-BE49-F238E27FC236}">
                <a16:creationId xmlns:a16="http://schemas.microsoft.com/office/drawing/2014/main" id="{EC20825D-1BC4-8E00-7B90-EEF5D10D9204}"/>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BD0F0D42-CD39-51E1-642A-D441B8EA94A4}"/>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2FA4059-71F7-1BA0-4927-897053DFBBB8}"/>
              </a:ext>
            </a:extLst>
          </p:cNvPr>
          <p:cNvSpPr txBox="1"/>
          <p:nvPr/>
        </p:nvSpPr>
        <p:spPr>
          <a:xfrm>
            <a:off x="295564" y="1041293"/>
            <a:ext cx="5800436" cy="369332"/>
          </a:xfrm>
          <a:prstGeom prst="rect">
            <a:avLst/>
          </a:prstGeom>
          <a:noFill/>
        </p:spPr>
        <p:txBody>
          <a:bodyPr wrap="square" lIns="91440" tIns="45720" rIns="91440" bIns="45720" rtlCol="0" anchor="t">
            <a:spAutoFit/>
          </a:bodyPr>
          <a:lstStyle/>
          <a:p>
            <a:r>
              <a:rPr lang="en-IN" u="sng">
                <a:latin typeface="Times New Roman"/>
                <a:cs typeface="Times New Roman"/>
              </a:rPr>
              <a:t>Energy Parity Plots: Training and Validation</a:t>
            </a:r>
            <a:endParaRPr lang="en-IN" u="sng">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4C7FB7C-F411-2B89-C1E6-02AE3B04381B}"/>
              </a:ext>
            </a:extLst>
          </p:cNvPr>
          <p:cNvPicPr>
            <a:picLocks noChangeAspect="1"/>
          </p:cNvPicPr>
          <p:nvPr/>
        </p:nvPicPr>
        <p:blipFill>
          <a:blip r:embed="rId4"/>
          <a:stretch>
            <a:fillRect/>
          </a:stretch>
        </p:blipFill>
        <p:spPr>
          <a:xfrm>
            <a:off x="0" y="2118225"/>
            <a:ext cx="12192000" cy="2621549"/>
          </a:xfrm>
          <a:prstGeom prst="rect">
            <a:avLst/>
          </a:prstGeom>
        </p:spPr>
      </p:pic>
    </p:spTree>
    <p:extLst>
      <p:ext uri="{BB962C8B-B14F-4D97-AF65-F5344CB8AC3E}">
        <p14:creationId xmlns:p14="http://schemas.microsoft.com/office/powerpoint/2010/main" val="34234382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630BE-5576-6CA3-034F-9211B8AF412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36FC96B-3E5F-BCE5-258E-3516D8FB8000}"/>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Toy Problem: HCN </a:t>
            </a:r>
            <a:r>
              <a:rPr lang="en-IN" sz="2800">
                <a:latin typeface="Times New Roman" panose="02020603050405020304" pitchFamily="18" charset="0"/>
                <a:cs typeface="Times New Roman" panose="02020603050405020304" pitchFamily="18" charset="0"/>
                <a:sym typeface="Wingdings" panose="05000000000000000000" pitchFamily="2" charset="2"/>
              </a:rPr>
              <a:t> HNC Isomerisation</a:t>
            </a:r>
            <a:endParaRPr lang="en-IN" sz="2800">
              <a:latin typeface="Times New Roman" panose="02020603050405020304" pitchFamily="18" charset="0"/>
              <a:cs typeface="Times New Roman" panose="02020603050405020304" pitchFamily="18" charset="0"/>
            </a:endParaRPr>
          </a:p>
        </p:txBody>
      </p:sp>
      <p:pic>
        <p:nvPicPr>
          <p:cNvPr id="8" name="Picture 7" descr="सञ्चिका:IIT Kanpur Logo.png - विकिपीडिया">
            <a:extLst>
              <a:ext uri="{FF2B5EF4-FFF2-40B4-BE49-F238E27FC236}">
                <a16:creationId xmlns:a16="http://schemas.microsoft.com/office/drawing/2014/main" id="{35044C01-A5D8-23F6-37BB-F922204217DF}"/>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A1E06F64-7D79-C1D2-1F7F-E352CD21565E}"/>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29260DE-D49E-65F4-3E4C-7296DA0CE2C7}"/>
              </a:ext>
            </a:extLst>
          </p:cNvPr>
          <p:cNvSpPr txBox="1"/>
          <p:nvPr/>
        </p:nvSpPr>
        <p:spPr>
          <a:xfrm>
            <a:off x="295564" y="1041293"/>
            <a:ext cx="5800436" cy="369332"/>
          </a:xfrm>
          <a:prstGeom prst="rect">
            <a:avLst/>
          </a:prstGeom>
          <a:noFill/>
        </p:spPr>
        <p:txBody>
          <a:bodyPr wrap="square" lIns="91440" tIns="45720" rIns="91440" bIns="45720" rtlCol="0" anchor="t">
            <a:spAutoFit/>
          </a:bodyPr>
          <a:lstStyle/>
          <a:p>
            <a:r>
              <a:rPr lang="en-IN" u="sng">
                <a:latin typeface="Times New Roman"/>
                <a:cs typeface="Times New Roman"/>
              </a:rPr>
              <a:t>Force Parity Plots: Training and Validation</a:t>
            </a:r>
            <a:endParaRPr lang="en-IN" u="sng">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0F3CA40-0154-D2DC-8D26-5DDB64BDE95D}"/>
              </a:ext>
            </a:extLst>
          </p:cNvPr>
          <p:cNvPicPr>
            <a:picLocks noChangeAspect="1"/>
          </p:cNvPicPr>
          <p:nvPr/>
        </p:nvPicPr>
        <p:blipFill>
          <a:blip r:embed="rId4"/>
          <a:stretch>
            <a:fillRect/>
          </a:stretch>
        </p:blipFill>
        <p:spPr>
          <a:xfrm>
            <a:off x="0" y="1463291"/>
            <a:ext cx="12192000" cy="5392788"/>
          </a:xfrm>
          <a:prstGeom prst="rect">
            <a:avLst/>
          </a:prstGeom>
        </p:spPr>
      </p:pic>
    </p:spTree>
    <p:extLst>
      <p:ext uri="{BB962C8B-B14F-4D97-AF65-F5344CB8AC3E}">
        <p14:creationId xmlns:p14="http://schemas.microsoft.com/office/powerpoint/2010/main" val="6123376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EC990-1B06-3449-2583-B019E197BA5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739841-8120-F9D6-5563-A1113B756F3D}"/>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Toy Problem: HCN </a:t>
            </a:r>
            <a:r>
              <a:rPr lang="en-IN" sz="2800">
                <a:latin typeface="Times New Roman" panose="02020603050405020304" pitchFamily="18" charset="0"/>
                <a:cs typeface="Times New Roman" panose="02020603050405020304" pitchFamily="18" charset="0"/>
                <a:sym typeface="Wingdings" panose="05000000000000000000" pitchFamily="2" charset="2"/>
              </a:rPr>
              <a:t> HNC Isomerisation</a:t>
            </a:r>
            <a:endParaRPr lang="en-IN" sz="2800">
              <a:latin typeface="Times New Roman" panose="02020603050405020304" pitchFamily="18" charset="0"/>
              <a:cs typeface="Times New Roman" panose="02020603050405020304" pitchFamily="18" charset="0"/>
            </a:endParaRPr>
          </a:p>
        </p:txBody>
      </p:sp>
      <p:pic>
        <p:nvPicPr>
          <p:cNvPr id="8" name="Picture 7" descr="सञ्चिका:IIT Kanpur Logo.png - विकिपीडिया">
            <a:extLst>
              <a:ext uri="{FF2B5EF4-FFF2-40B4-BE49-F238E27FC236}">
                <a16:creationId xmlns:a16="http://schemas.microsoft.com/office/drawing/2014/main" id="{3DC9FDE6-C598-4DB7-0509-FB12CAAA34AE}"/>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C35B057E-4F2D-812A-433B-3A25F697BC90}"/>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5856826-7EB2-46FD-E906-094B85584CD1}"/>
              </a:ext>
            </a:extLst>
          </p:cNvPr>
          <p:cNvSpPr txBox="1"/>
          <p:nvPr/>
        </p:nvSpPr>
        <p:spPr>
          <a:xfrm>
            <a:off x="295564" y="1041293"/>
            <a:ext cx="5800436" cy="369332"/>
          </a:xfrm>
          <a:prstGeom prst="rect">
            <a:avLst/>
          </a:prstGeom>
          <a:noFill/>
        </p:spPr>
        <p:txBody>
          <a:bodyPr wrap="square" rtlCol="0">
            <a:spAutoFit/>
          </a:bodyPr>
          <a:lstStyle/>
          <a:p>
            <a:r>
              <a:rPr lang="en-IN" u="sng">
                <a:latin typeface="Times New Roman" panose="02020603050405020304" pitchFamily="18" charset="0"/>
                <a:cs typeface="Times New Roman" panose="02020603050405020304" pitchFamily="18" charset="0"/>
              </a:rPr>
              <a:t>Committee Uncertainty Histogram</a:t>
            </a:r>
          </a:p>
        </p:txBody>
      </p:sp>
      <p:pic>
        <p:nvPicPr>
          <p:cNvPr id="5" name="Picture 4">
            <a:extLst>
              <a:ext uri="{FF2B5EF4-FFF2-40B4-BE49-F238E27FC236}">
                <a16:creationId xmlns:a16="http://schemas.microsoft.com/office/drawing/2014/main" id="{294B5DF4-68D0-12B1-A90C-B44C77AE80CB}"/>
              </a:ext>
            </a:extLst>
          </p:cNvPr>
          <p:cNvPicPr>
            <a:picLocks noChangeAspect="1"/>
          </p:cNvPicPr>
          <p:nvPr/>
        </p:nvPicPr>
        <p:blipFill>
          <a:blip r:embed="rId4"/>
          <a:stretch>
            <a:fillRect/>
          </a:stretch>
        </p:blipFill>
        <p:spPr>
          <a:xfrm>
            <a:off x="2105938" y="1524000"/>
            <a:ext cx="8001000" cy="5334000"/>
          </a:xfrm>
          <a:prstGeom prst="rect">
            <a:avLst/>
          </a:prstGeom>
        </p:spPr>
      </p:pic>
    </p:spTree>
    <p:extLst>
      <p:ext uri="{BB962C8B-B14F-4D97-AF65-F5344CB8AC3E}">
        <p14:creationId xmlns:p14="http://schemas.microsoft.com/office/powerpoint/2010/main" val="5235008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C34E3-7D47-42CE-9C16-DF3B774B66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218F014-AE40-332E-19B0-CC5B912BBB9A}"/>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Toy Problem: HCN </a:t>
            </a:r>
            <a:r>
              <a:rPr lang="en-IN" sz="2800">
                <a:latin typeface="Times New Roman" panose="02020603050405020304" pitchFamily="18" charset="0"/>
                <a:cs typeface="Times New Roman" panose="02020603050405020304" pitchFamily="18" charset="0"/>
                <a:sym typeface="Wingdings" panose="05000000000000000000" pitchFamily="2" charset="2"/>
              </a:rPr>
              <a:t> HNC Isomerisation</a:t>
            </a:r>
            <a:endParaRPr lang="en-IN" sz="2800">
              <a:latin typeface="Times New Roman" panose="02020603050405020304" pitchFamily="18" charset="0"/>
              <a:cs typeface="Times New Roman" panose="02020603050405020304" pitchFamily="18" charset="0"/>
            </a:endParaRPr>
          </a:p>
        </p:txBody>
      </p:sp>
      <p:pic>
        <p:nvPicPr>
          <p:cNvPr id="8" name="Picture 7" descr="सञ्चिका:IIT Kanpur Logo.png - विकिपीडिया">
            <a:extLst>
              <a:ext uri="{FF2B5EF4-FFF2-40B4-BE49-F238E27FC236}">
                <a16:creationId xmlns:a16="http://schemas.microsoft.com/office/drawing/2014/main" id="{0202C11D-67D6-8D45-4C7F-D484CEC70A3C}"/>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0BB47F3B-28DE-D0A3-6F8A-66204FE259D4}"/>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576E80C-A595-2528-87E9-9CDB7C5FFFC9}"/>
              </a:ext>
            </a:extLst>
          </p:cNvPr>
          <p:cNvSpPr txBox="1"/>
          <p:nvPr/>
        </p:nvSpPr>
        <p:spPr>
          <a:xfrm>
            <a:off x="295564" y="1041293"/>
            <a:ext cx="5800436" cy="369332"/>
          </a:xfrm>
          <a:prstGeom prst="rect">
            <a:avLst/>
          </a:prstGeom>
          <a:noFill/>
        </p:spPr>
        <p:txBody>
          <a:bodyPr wrap="square" lIns="91440" tIns="45720" rIns="91440" bIns="45720" rtlCol="0" anchor="t">
            <a:spAutoFit/>
          </a:bodyPr>
          <a:lstStyle/>
          <a:p>
            <a:r>
              <a:rPr lang="en-IN" u="sng">
                <a:latin typeface="Times New Roman"/>
                <a:cs typeface="Times New Roman"/>
              </a:rPr>
              <a:t>Parity Plots: Testing</a:t>
            </a:r>
            <a:endParaRPr lang="en-IN" u="sng">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71A6B1C-4F80-EE2E-5B3F-963C2AC30228}"/>
              </a:ext>
            </a:extLst>
          </p:cNvPr>
          <p:cNvPicPr>
            <a:picLocks noChangeAspect="1"/>
          </p:cNvPicPr>
          <p:nvPr/>
        </p:nvPicPr>
        <p:blipFill>
          <a:blip r:embed="rId4"/>
          <a:stretch>
            <a:fillRect/>
          </a:stretch>
        </p:blipFill>
        <p:spPr>
          <a:xfrm>
            <a:off x="0" y="1524000"/>
            <a:ext cx="12192000" cy="5334000"/>
          </a:xfrm>
          <a:prstGeom prst="rect">
            <a:avLst/>
          </a:prstGeom>
        </p:spPr>
      </p:pic>
    </p:spTree>
    <p:extLst>
      <p:ext uri="{BB962C8B-B14F-4D97-AF65-F5344CB8AC3E}">
        <p14:creationId xmlns:p14="http://schemas.microsoft.com/office/powerpoint/2010/main" val="30585001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9BC6B-25BD-3DB1-E0CE-5D4238B64DD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D239A21-D4AB-24B2-0A5E-60AA7BC98502}"/>
              </a:ext>
            </a:extLst>
          </p:cNvPr>
          <p:cNvSpPr txBox="1"/>
          <p:nvPr/>
        </p:nvSpPr>
        <p:spPr>
          <a:xfrm>
            <a:off x="97225" y="149478"/>
            <a:ext cx="121920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Toy Problem: HCN </a:t>
            </a:r>
            <a:r>
              <a:rPr lang="en-IN" sz="2800">
                <a:latin typeface="Times New Roman" panose="02020603050405020304" pitchFamily="18" charset="0"/>
                <a:cs typeface="Times New Roman" panose="02020603050405020304" pitchFamily="18" charset="0"/>
                <a:sym typeface="Wingdings" panose="05000000000000000000" pitchFamily="2" charset="2"/>
              </a:rPr>
              <a:t> HNC Isomerisation</a:t>
            </a:r>
            <a:endParaRPr lang="en-IN" sz="2800">
              <a:latin typeface="Times New Roman" panose="02020603050405020304" pitchFamily="18" charset="0"/>
              <a:cs typeface="Times New Roman" panose="02020603050405020304" pitchFamily="18" charset="0"/>
            </a:endParaRPr>
          </a:p>
        </p:txBody>
      </p:sp>
      <p:pic>
        <p:nvPicPr>
          <p:cNvPr id="8" name="Picture 7" descr="सञ्चिका:IIT Kanpur Logo.png - विकिपीडिया">
            <a:extLst>
              <a:ext uri="{FF2B5EF4-FFF2-40B4-BE49-F238E27FC236}">
                <a16:creationId xmlns:a16="http://schemas.microsoft.com/office/drawing/2014/main" id="{76F5ADB2-E5C9-8E56-2EAE-B5D58A2557AC}"/>
              </a:ext>
            </a:extLst>
          </p:cNvPr>
          <p:cNvPicPr>
            <a:picLocks noChangeAspect="1"/>
          </p:cNvPicPr>
          <p:nvPr/>
        </p:nvPicPr>
        <p:blipFill>
          <a:blip r:embed="rId3"/>
          <a:stretch>
            <a:fillRect/>
          </a:stretch>
        </p:blipFill>
        <p:spPr>
          <a:xfrm>
            <a:off x="11036009" y="149478"/>
            <a:ext cx="891815" cy="891815"/>
          </a:xfrm>
          <a:prstGeom prst="rect">
            <a:avLst/>
          </a:prstGeom>
        </p:spPr>
      </p:pic>
      <p:cxnSp>
        <p:nvCxnSpPr>
          <p:cNvPr id="3" name="Straight Connector 2">
            <a:extLst>
              <a:ext uri="{FF2B5EF4-FFF2-40B4-BE49-F238E27FC236}">
                <a16:creationId xmlns:a16="http://schemas.microsoft.com/office/drawing/2014/main" id="{5A9FE50E-F7D1-623E-9F2C-D0F6BA915A87}"/>
              </a:ext>
            </a:extLst>
          </p:cNvPr>
          <p:cNvCxnSpPr>
            <a:cxnSpLocks/>
          </p:cNvCxnSpPr>
          <p:nvPr/>
        </p:nvCxnSpPr>
        <p:spPr>
          <a:xfrm>
            <a:off x="199859" y="718455"/>
            <a:ext cx="1068896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080CA29D-B608-7AC0-D827-AC6A9EDB56BA}"/>
              </a:ext>
            </a:extLst>
          </p:cNvPr>
          <p:cNvPicPr>
            <a:picLocks noChangeAspect="1"/>
          </p:cNvPicPr>
          <p:nvPr/>
        </p:nvPicPr>
        <p:blipFill>
          <a:blip r:embed="rId4"/>
          <a:stretch>
            <a:fillRect/>
          </a:stretch>
        </p:blipFill>
        <p:spPr>
          <a:xfrm>
            <a:off x="96383" y="1619022"/>
            <a:ext cx="6853917" cy="4026354"/>
          </a:xfrm>
          <a:prstGeom prst="rect">
            <a:avLst/>
          </a:prstGeom>
        </p:spPr>
      </p:pic>
      <p:sp>
        <p:nvSpPr>
          <p:cNvPr id="9" name="TextBox 8">
            <a:extLst>
              <a:ext uri="{FF2B5EF4-FFF2-40B4-BE49-F238E27FC236}">
                <a16:creationId xmlns:a16="http://schemas.microsoft.com/office/drawing/2014/main" id="{2AEC3905-4DAF-AF94-35CF-E6AD2C3D2BBA}"/>
              </a:ext>
            </a:extLst>
          </p:cNvPr>
          <p:cNvSpPr txBox="1"/>
          <p:nvPr/>
        </p:nvSpPr>
        <p:spPr>
          <a:xfrm>
            <a:off x="7448837" y="2689435"/>
            <a:ext cx="403497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ea typeface="Calibri"/>
                <a:cs typeface="Times New Roman"/>
              </a:rPr>
              <a:t>The MLIP reports the activation energy barrier for the </a:t>
            </a:r>
            <a:r>
              <a:rPr lang="en-US" err="1">
                <a:latin typeface="Times New Roman"/>
                <a:ea typeface="Calibri"/>
                <a:cs typeface="Times New Roman"/>
              </a:rPr>
              <a:t>forw</a:t>
            </a:r>
            <a:r>
              <a:rPr lang="en-US">
                <a:latin typeface="Times New Roman"/>
                <a:ea typeface="Calibri"/>
                <a:cs typeface="Times New Roman"/>
              </a:rPr>
              <a:t>ard reaction as 187 kJ/mol. This matches the literature benchmarked value which lies in the range of 180 kJ/mol - 190 kJ/mol.</a:t>
            </a:r>
            <a:endParaRPr lang="en-US">
              <a:latin typeface="Times New Roman"/>
              <a:cs typeface="Times New Roman"/>
            </a:endParaRPr>
          </a:p>
        </p:txBody>
      </p:sp>
      <p:sp>
        <p:nvSpPr>
          <p:cNvPr id="4" name="TextBox 3">
            <a:extLst>
              <a:ext uri="{FF2B5EF4-FFF2-40B4-BE49-F238E27FC236}">
                <a16:creationId xmlns:a16="http://schemas.microsoft.com/office/drawing/2014/main" id="{6654E5F7-617D-D273-A260-110804677735}"/>
              </a:ext>
            </a:extLst>
          </p:cNvPr>
          <p:cNvSpPr txBox="1"/>
          <p:nvPr/>
        </p:nvSpPr>
        <p:spPr>
          <a:xfrm>
            <a:off x="295564" y="1041293"/>
            <a:ext cx="5800436"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u="sng" err="1">
                <a:latin typeface="Times New Roman" panose="02020603050405020304" pitchFamily="18" charset="0"/>
                <a:cs typeface="Times New Roman" panose="02020603050405020304" pitchFamily="18" charset="0"/>
              </a:rPr>
              <a:t>Metadynamics</a:t>
            </a:r>
            <a:r>
              <a:rPr lang="en-IN" u="sng">
                <a:latin typeface="Times New Roman" panose="02020603050405020304" pitchFamily="18" charset="0"/>
                <a:cs typeface="Times New Roman" panose="02020603050405020304" pitchFamily="18" charset="0"/>
              </a:rPr>
              <a:t> Run</a:t>
            </a:r>
          </a:p>
        </p:txBody>
      </p:sp>
    </p:spTree>
    <p:extLst>
      <p:ext uri="{BB962C8B-B14F-4D97-AF65-F5344CB8AC3E}">
        <p14:creationId xmlns:p14="http://schemas.microsoft.com/office/powerpoint/2010/main" val="9628394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48937-8F13-55D0-BE30-9695F37BF1A1}"/>
            </a:ext>
          </a:extLst>
        </p:cNvPr>
        <p:cNvGrpSpPr/>
        <p:nvPr/>
      </p:nvGrpSpPr>
      <p:grpSpPr>
        <a:xfrm>
          <a:off x="0" y="0"/>
          <a:ext cx="0" cy="0"/>
          <a:chOff x="0" y="0"/>
          <a:chExt cx="0" cy="0"/>
        </a:xfrm>
      </p:grpSpPr>
      <p:pic>
        <p:nvPicPr>
          <p:cNvPr id="8" name="Picture 7" descr="सञ्चिका:IIT Kanpur Logo.png - विकिपीडिया">
            <a:extLst>
              <a:ext uri="{FF2B5EF4-FFF2-40B4-BE49-F238E27FC236}">
                <a16:creationId xmlns:a16="http://schemas.microsoft.com/office/drawing/2014/main" id="{CD03D95A-9A71-F635-BEE2-9D5CD1A5BC79}"/>
              </a:ext>
            </a:extLst>
          </p:cNvPr>
          <p:cNvPicPr>
            <a:picLocks noChangeAspect="1"/>
          </p:cNvPicPr>
          <p:nvPr/>
        </p:nvPicPr>
        <p:blipFill>
          <a:blip r:embed="rId3"/>
          <a:stretch>
            <a:fillRect/>
          </a:stretch>
        </p:blipFill>
        <p:spPr>
          <a:xfrm>
            <a:off x="11036009" y="149478"/>
            <a:ext cx="891815" cy="891815"/>
          </a:xfrm>
          <a:prstGeom prst="rect">
            <a:avLst/>
          </a:prstGeom>
        </p:spPr>
      </p:pic>
      <p:pic>
        <p:nvPicPr>
          <p:cNvPr id="3" name="Picture 2">
            <a:extLst>
              <a:ext uri="{FF2B5EF4-FFF2-40B4-BE49-F238E27FC236}">
                <a16:creationId xmlns:a16="http://schemas.microsoft.com/office/drawing/2014/main" id="{6ABCF0A3-DBE7-4110-4566-5788DC39E7F5}"/>
              </a:ext>
            </a:extLst>
          </p:cNvPr>
          <p:cNvPicPr>
            <a:picLocks noChangeAspect="1"/>
          </p:cNvPicPr>
          <p:nvPr/>
        </p:nvPicPr>
        <p:blipFill>
          <a:blip r:embed="rId4"/>
          <a:stretch>
            <a:fillRect/>
          </a:stretch>
        </p:blipFill>
        <p:spPr>
          <a:xfrm>
            <a:off x="523875" y="1157288"/>
            <a:ext cx="11144250" cy="4543425"/>
          </a:xfrm>
          <a:prstGeom prst="rect">
            <a:avLst/>
          </a:prstGeom>
        </p:spPr>
      </p:pic>
    </p:spTree>
    <p:extLst>
      <p:ext uri="{BB962C8B-B14F-4D97-AF65-F5344CB8AC3E}">
        <p14:creationId xmlns:p14="http://schemas.microsoft.com/office/powerpoint/2010/main" val="6977684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BE84A-B8DC-CD5B-6137-F3FAF1035980}"/>
            </a:ext>
          </a:extLst>
        </p:cNvPr>
        <p:cNvGrpSpPr/>
        <p:nvPr/>
      </p:nvGrpSpPr>
      <p:grpSpPr>
        <a:xfrm>
          <a:off x="0" y="0"/>
          <a:ext cx="0" cy="0"/>
          <a:chOff x="0" y="0"/>
          <a:chExt cx="0" cy="0"/>
        </a:xfrm>
      </p:grpSpPr>
      <p:pic>
        <p:nvPicPr>
          <p:cNvPr id="8" name="Picture 7" descr="सञ्चिका:IIT Kanpur Logo.png - विकिपीडिया">
            <a:extLst>
              <a:ext uri="{FF2B5EF4-FFF2-40B4-BE49-F238E27FC236}">
                <a16:creationId xmlns:a16="http://schemas.microsoft.com/office/drawing/2014/main" id="{6DA2938B-19A2-8E5C-D5A9-B1A623BD8954}"/>
              </a:ext>
            </a:extLst>
          </p:cNvPr>
          <p:cNvPicPr>
            <a:picLocks noChangeAspect="1"/>
          </p:cNvPicPr>
          <p:nvPr/>
        </p:nvPicPr>
        <p:blipFill>
          <a:blip r:embed="rId3"/>
          <a:stretch>
            <a:fillRect/>
          </a:stretch>
        </p:blipFill>
        <p:spPr>
          <a:xfrm>
            <a:off x="11036009" y="149478"/>
            <a:ext cx="891815" cy="891815"/>
          </a:xfrm>
          <a:prstGeom prst="rect">
            <a:avLst/>
          </a:prstGeom>
        </p:spPr>
      </p:pic>
      <p:pic>
        <p:nvPicPr>
          <p:cNvPr id="2" name="Picture 1">
            <a:extLst>
              <a:ext uri="{FF2B5EF4-FFF2-40B4-BE49-F238E27FC236}">
                <a16:creationId xmlns:a16="http://schemas.microsoft.com/office/drawing/2014/main" id="{F28EF603-0C59-F3E1-6765-81A09778FCA7}"/>
              </a:ext>
            </a:extLst>
          </p:cNvPr>
          <p:cNvPicPr>
            <a:picLocks noChangeAspect="1"/>
          </p:cNvPicPr>
          <p:nvPr/>
        </p:nvPicPr>
        <p:blipFill>
          <a:blip r:embed="rId4"/>
          <a:stretch>
            <a:fillRect/>
          </a:stretch>
        </p:blipFill>
        <p:spPr>
          <a:xfrm>
            <a:off x="0" y="1332731"/>
            <a:ext cx="12192000" cy="4192538"/>
          </a:xfrm>
          <a:prstGeom prst="rect">
            <a:avLst/>
          </a:prstGeom>
        </p:spPr>
      </p:pic>
    </p:spTree>
    <p:extLst>
      <p:ext uri="{BB962C8B-B14F-4D97-AF65-F5344CB8AC3E}">
        <p14:creationId xmlns:p14="http://schemas.microsoft.com/office/powerpoint/2010/main" val="5702718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727BD-6774-4991-D48D-EA4309BAE337}"/>
            </a:ext>
          </a:extLst>
        </p:cNvPr>
        <p:cNvGrpSpPr/>
        <p:nvPr/>
      </p:nvGrpSpPr>
      <p:grpSpPr>
        <a:xfrm>
          <a:off x="0" y="0"/>
          <a:ext cx="0" cy="0"/>
          <a:chOff x="0" y="0"/>
          <a:chExt cx="0" cy="0"/>
        </a:xfrm>
      </p:grpSpPr>
      <p:pic>
        <p:nvPicPr>
          <p:cNvPr id="8" name="Picture 7" descr="सञ्चिका:IIT Kanpur Logo.png - विकिपीडिया">
            <a:extLst>
              <a:ext uri="{FF2B5EF4-FFF2-40B4-BE49-F238E27FC236}">
                <a16:creationId xmlns:a16="http://schemas.microsoft.com/office/drawing/2014/main" id="{B09C6FBB-9C02-E30D-273E-84E58164C354}"/>
              </a:ext>
            </a:extLst>
          </p:cNvPr>
          <p:cNvPicPr>
            <a:picLocks noChangeAspect="1"/>
          </p:cNvPicPr>
          <p:nvPr/>
        </p:nvPicPr>
        <p:blipFill>
          <a:blip r:embed="rId3"/>
          <a:stretch>
            <a:fillRect/>
          </a:stretch>
        </p:blipFill>
        <p:spPr>
          <a:xfrm>
            <a:off x="11036009" y="149478"/>
            <a:ext cx="891815" cy="891815"/>
          </a:xfrm>
          <a:prstGeom prst="rect">
            <a:avLst/>
          </a:prstGeom>
        </p:spPr>
      </p:pic>
      <p:pic>
        <p:nvPicPr>
          <p:cNvPr id="4" name="Picture 3">
            <a:extLst>
              <a:ext uri="{FF2B5EF4-FFF2-40B4-BE49-F238E27FC236}">
                <a16:creationId xmlns:a16="http://schemas.microsoft.com/office/drawing/2014/main" id="{019E7CF5-42A5-BB14-967F-40018E403E95}"/>
              </a:ext>
            </a:extLst>
          </p:cNvPr>
          <p:cNvPicPr>
            <a:picLocks noChangeAspect="1"/>
          </p:cNvPicPr>
          <p:nvPr/>
        </p:nvPicPr>
        <p:blipFill>
          <a:blip r:embed="rId4"/>
          <a:stretch>
            <a:fillRect/>
          </a:stretch>
        </p:blipFill>
        <p:spPr>
          <a:xfrm>
            <a:off x="2569210" y="341312"/>
            <a:ext cx="7063740" cy="2944495"/>
          </a:xfrm>
          <a:prstGeom prst="rect">
            <a:avLst/>
          </a:prstGeom>
        </p:spPr>
      </p:pic>
      <p:pic>
        <p:nvPicPr>
          <p:cNvPr id="5" name="Picture 4">
            <a:extLst>
              <a:ext uri="{FF2B5EF4-FFF2-40B4-BE49-F238E27FC236}">
                <a16:creationId xmlns:a16="http://schemas.microsoft.com/office/drawing/2014/main" id="{D4C53EB9-5BD7-171A-B8F2-D7D6C7226587}"/>
              </a:ext>
            </a:extLst>
          </p:cNvPr>
          <p:cNvPicPr>
            <a:picLocks noChangeAspect="1"/>
          </p:cNvPicPr>
          <p:nvPr/>
        </p:nvPicPr>
        <p:blipFill>
          <a:blip r:embed="rId5"/>
          <a:stretch>
            <a:fillRect/>
          </a:stretch>
        </p:blipFill>
        <p:spPr>
          <a:xfrm>
            <a:off x="2189480" y="3547110"/>
            <a:ext cx="7426960" cy="3177540"/>
          </a:xfrm>
          <a:prstGeom prst="rect">
            <a:avLst/>
          </a:prstGeom>
        </p:spPr>
      </p:pic>
    </p:spTree>
    <p:extLst>
      <p:ext uri="{BB962C8B-B14F-4D97-AF65-F5344CB8AC3E}">
        <p14:creationId xmlns:p14="http://schemas.microsoft.com/office/powerpoint/2010/main" val="10237362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DAA20-CF2F-A0BC-AD4F-EE75736E8D40}"/>
            </a:ext>
          </a:extLst>
        </p:cNvPr>
        <p:cNvGrpSpPr/>
        <p:nvPr/>
      </p:nvGrpSpPr>
      <p:grpSpPr>
        <a:xfrm>
          <a:off x="0" y="0"/>
          <a:ext cx="0" cy="0"/>
          <a:chOff x="0" y="0"/>
          <a:chExt cx="0" cy="0"/>
        </a:xfrm>
      </p:grpSpPr>
      <p:pic>
        <p:nvPicPr>
          <p:cNvPr id="8" name="Picture 7" descr="सञ्चिका:IIT Kanpur Logo.png - विकिपीडिया">
            <a:extLst>
              <a:ext uri="{FF2B5EF4-FFF2-40B4-BE49-F238E27FC236}">
                <a16:creationId xmlns:a16="http://schemas.microsoft.com/office/drawing/2014/main" id="{CD3EDFE2-2D0E-47C3-AD5E-7A00E5C25299}"/>
              </a:ext>
            </a:extLst>
          </p:cNvPr>
          <p:cNvPicPr>
            <a:picLocks noChangeAspect="1"/>
          </p:cNvPicPr>
          <p:nvPr/>
        </p:nvPicPr>
        <p:blipFill>
          <a:blip r:embed="rId3"/>
          <a:stretch>
            <a:fillRect/>
          </a:stretch>
        </p:blipFill>
        <p:spPr>
          <a:xfrm>
            <a:off x="11036009" y="149478"/>
            <a:ext cx="891815" cy="891815"/>
          </a:xfrm>
          <a:prstGeom prst="rect">
            <a:avLst/>
          </a:prstGeom>
        </p:spPr>
      </p:pic>
      <p:pic>
        <p:nvPicPr>
          <p:cNvPr id="2" name="Picture 1">
            <a:extLst>
              <a:ext uri="{FF2B5EF4-FFF2-40B4-BE49-F238E27FC236}">
                <a16:creationId xmlns:a16="http://schemas.microsoft.com/office/drawing/2014/main" id="{17C324AC-C651-2A11-4BF1-C7C1CD2CB605}"/>
              </a:ext>
            </a:extLst>
          </p:cNvPr>
          <p:cNvPicPr>
            <a:picLocks noChangeAspect="1"/>
          </p:cNvPicPr>
          <p:nvPr/>
        </p:nvPicPr>
        <p:blipFill>
          <a:blip r:embed="rId4"/>
          <a:stretch>
            <a:fillRect/>
          </a:stretch>
        </p:blipFill>
        <p:spPr>
          <a:xfrm>
            <a:off x="0" y="1227089"/>
            <a:ext cx="12192000" cy="4403823"/>
          </a:xfrm>
          <a:prstGeom prst="rect">
            <a:avLst/>
          </a:prstGeom>
        </p:spPr>
      </p:pic>
    </p:spTree>
    <p:extLst>
      <p:ext uri="{BB962C8B-B14F-4D97-AF65-F5344CB8AC3E}">
        <p14:creationId xmlns:p14="http://schemas.microsoft.com/office/powerpoint/2010/main" val="19740820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08322-7E64-82CB-0FB3-91D0A5A62919}"/>
            </a:ext>
          </a:extLst>
        </p:cNvPr>
        <p:cNvGrpSpPr/>
        <p:nvPr/>
      </p:nvGrpSpPr>
      <p:grpSpPr>
        <a:xfrm>
          <a:off x="0" y="0"/>
          <a:ext cx="0" cy="0"/>
          <a:chOff x="0" y="0"/>
          <a:chExt cx="0" cy="0"/>
        </a:xfrm>
      </p:grpSpPr>
      <p:pic>
        <p:nvPicPr>
          <p:cNvPr id="8" name="Picture 7" descr="सञ्चिका:IIT Kanpur Logo.png - विकिपीडिया">
            <a:extLst>
              <a:ext uri="{FF2B5EF4-FFF2-40B4-BE49-F238E27FC236}">
                <a16:creationId xmlns:a16="http://schemas.microsoft.com/office/drawing/2014/main" id="{9F21218E-91FB-0320-AEEB-E22CA4F9A245}"/>
              </a:ext>
            </a:extLst>
          </p:cNvPr>
          <p:cNvPicPr>
            <a:picLocks noChangeAspect="1"/>
          </p:cNvPicPr>
          <p:nvPr/>
        </p:nvPicPr>
        <p:blipFill>
          <a:blip r:embed="rId3"/>
          <a:stretch>
            <a:fillRect/>
          </a:stretch>
        </p:blipFill>
        <p:spPr>
          <a:xfrm>
            <a:off x="11036009" y="149478"/>
            <a:ext cx="891815" cy="891815"/>
          </a:xfrm>
          <a:prstGeom prst="rect">
            <a:avLst/>
          </a:prstGeom>
        </p:spPr>
      </p:pic>
      <p:pic>
        <p:nvPicPr>
          <p:cNvPr id="3" name="Picture 2">
            <a:extLst>
              <a:ext uri="{FF2B5EF4-FFF2-40B4-BE49-F238E27FC236}">
                <a16:creationId xmlns:a16="http://schemas.microsoft.com/office/drawing/2014/main" id="{537AF3B1-7198-4278-CE66-3A9AA2FFC167}"/>
              </a:ext>
            </a:extLst>
          </p:cNvPr>
          <p:cNvPicPr>
            <a:picLocks noChangeAspect="1"/>
          </p:cNvPicPr>
          <p:nvPr/>
        </p:nvPicPr>
        <p:blipFill>
          <a:blip r:embed="rId4"/>
          <a:stretch>
            <a:fillRect/>
          </a:stretch>
        </p:blipFill>
        <p:spPr>
          <a:xfrm>
            <a:off x="0" y="1201763"/>
            <a:ext cx="12192000" cy="5287595"/>
          </a:xfrm>
          <a:prstGeom prst="rect">
            <a:avLst/>
          </a:prstGeom>
        </p:spPr>
      </p:pic>
    </p:spTree>
    <p:extLst>
      <p:ext uri="{BB962C8B-B14F-4D97-AF65-F5344CB8AC3E}">
        <p14:creationId xmlns:p14="http://schemas.microsoft.com/office/powerpoint/2010/main" val="21825271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6EAB0-D027-A43F-5DDA-6C28319B170A}"/>
            </a:ext>
          </a:extLst>
        </p:cNvPr>
        <p:cNvGrpSpPr/>
        <p:nvPr/>
      </p:nvGrpSpPr>
      <p:grpSpPr>
        <a:xfrm>
          <a:off x="0" y="0"/>
          <a:ext cx="0" cy="0"/>
          <a:chOff x="0" y="0"/>
          <a:chExt cx="0" cy="0"/>
        </a:xfrm>
      </p:grpSpPr>
      <p:pic>
        <p:nvPicPr>
          <p:cNvPr id="8" name="Picture 7" descr="सञ्चिका:IIT Kanpur Logo.png - विकिपीडिया">
            <a:extLst>
              <a:ext uri="{FF2B5EF4-FFF2-40B4-BE49-F238E27FC236}">
                <a16:creationId xmlns:a16="http://schemas.microsoft.com/office/drawing/2014/main" id="{599D6F56-5AE7-B83C-D645-8C0094AB6FFD}"/>
              </a:ext>
            </a:extLst>
          </p:cNvPr>
          <p:cNvPicPr>
            <a:picLocks noChangeAspect="1"/>
          </p:cNvPicPr>
          <p:nvPr/>
        </p:nvPicPr>
        <p:blipFill>
          <a:blip r:embed="rId3"/>
          <a:stretch>
            <a:fillRect/>
          </a:stretch>
        </p:blipFill>
        <p:spPr>
          <a:xfrm>
            <a:off x="11036009" y="149478"/>
            <a:ext cx="891815" cy="891815"/>
          </a:xfrm>
          <a:prstGeom prst="rect">
            <a:avLst/>
          </a:prstGeom>
        </p:spPr>
      </p:pic>
      <p:pic>
        <p:nvPicPr>
          <p:cNvPr id="2" name="Picture 1">
            <a:extLst>
              <a:ext uri="{FF2B5EF4-FFF2-40B4-BE49-F238E27FC236}">
                <a16:creationId xmlns:a16="http://schemas.microsoft.com/office/drawing/2014/main" id="{8F8D2800-0D1C-84FA-4532-CC00B3190761}"/>
              </a:ext>
            </a:extLst>
          </p:cNvPr>
          <p:cNvPicPr>
            <a:picLocks noChangeAspect="1"/>
          </p:cNvPicPr>
          <p:nvPr/>
        </p:nvPicPr>
        <p:blipFill>
          <a:blip r:embed="rId4"/>
          <a:stretch>
            <a:fillRect/>
          </a:stretch>
        </p:blipFill>
        <p:spPr>
          <a:xfrm>
            <a:off x="1109663" y="128588"/>
            <a:ext cx="9972675" cy="6600825"/>
          </a:xfrm>
          <a:prstGeom prst="rect">
            <a:avLst/>
          </a:prstGeom>
        </p:spPr>
      </p:pic>
    </p:spTree>
    <p:extLst>
      <p:ext uri="{BB962C8B-B14F-4D97-AF65-F5344CB8AC3E}">
        <p14:creationId xmlns:p14="http://schemas.microsoft.com/office/powerpoint/2010/main" val="22846401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667</TotalTime>
  <Words>1438</Words>
  <Application>Microsoft Office PowerPoint</Application>
  <PresentationFormat>Widescreen</PresentationFormat>
  <Paragraphs>212</Paragraphs>
  <Slides>49</Slides>
  <Notes>48</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Arial</vt:lpstr>
      <vt:lpstr>Arial,Sans-Serif</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Manish Bansal</dc:creator>
  <cp:lastModifiedBy>Mitul Das</cp:lastModifiedBy>
  <cp:revision>15</cp:revision>
  <cp:lastPrinted>2026-02-03T09:21:37Z</cp:lastPrinted>
  <dcterms:created xsi:type="dcterms:W3CDTF">2025-08-19T01:53:44Z</dcterms:created>
  <dcterms:modified xsi:type="dcterms:W3CDTF">2026-10-27T06:29:44Z</dcterms:modified>
</cp:coreProperties>
</file>