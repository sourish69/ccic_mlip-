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85" r:id="rId3"/>
    <p:sldId id="301" r:id="rId4"/>
    <p:sldId id="284" r:id="rId5"/>
    <p:sldId id="293" r:id="rId6"/>
    <p:sldId id="296" r:id="rId7"/>
    <p:sldId id="292" r:id="rId8"/>
    <p:sldId id="294" r:id="rId9"/>
    <p:sldId id="295" r:id="rId10"/>
    <p:sldId id="286" r:id="rId11"/>
    <p:sldId id="288" r:id="rId12"/>
    <p:sldId id="289" r:id="rId13"/>
    <p:sldId id="290" r:id="rId14"/>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9090"/>
    <a:srgbClr val="A67573"/>
    <a:srgbClr val="C78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AC1311-744B-4BA1-A9BC-B71B2CA3A4CC}" v="50" dt="2026-07-13T19:20:18.463"/>
    <p1510:client id="{C72019D9-48BF-B674-B1B7-B4F80AB0468E}" v="30" dt="2026-07-15T17:18:24.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p:cViewPr varScale="1">
        <p:scale>
          <a:sx n="78" d="100"/>
          <a:sy n="78" d="100"/>
        </p:scale>
        <p:origin x="81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714FBA35-7C0E-4958-BDC7-7977C85E830C}" type="datetimeFigureOut">
              <a:rPr lang="en-IN" smtClean="0"/>
              <a:t>15-07-2026</a:t>
            </a:fld>
            <a:endParaRPr lang="en-IN"/>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C0C4EC02-08A1-4BB7-9482-3DE55B71A9E9}" type="slidenum">
              <a:rPr lang="en-IN" smtClean="0"/>
              <a:t>‹#›</a:t>
            </a:fld>
            <a:endParaRPr lang="en-IN"/>
          </a:p>
        </p:txBody>
      </p:sp>
    </p:spTree>
    <p:extLst>
      <p:ext uri="{BB962C8B-B14F-4D97-AF65-F5344CB8AC3E}">
        <p14:creationId xmlns:p14="http://schemas.microsoft.com/office/powerpoint/2010/main" val="223930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7A8C-F1CF-0EC6-A2F4-2B2BCCB8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FC339-FB8B-6922-5EE8-80DC25D9F9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FCF4B-2500-4153-AFB3-1C11427B51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02E2A1B-9F47-3AAB-19D1-E36184F113D3}"/>
              </a:ext>
            </a:extLst>
          </p:cNvPr>
          <p:cNvSpPr>
            <a:spLocks noGrp="1"/>
          </p:cNvSpPr>
          <p:nvPr>
            <p:ph type="sldNum" sz="quarter" idx="5"/>
          </p:nvPr>
        </p:nvSpPr>
        <p:spPr/>
        <p:txBody>
          <a:bodyPr/>
          <a:lstStyle/>
          <a:p>
            <a:fld id="{C0C4EC02-08A1-4BB7-9482-3DE55B71A9E9}" type="slidenum">
              <a:rPr lang="en-IN" smtClean="0"/>
              <a:t>2</a:t>
            </a:fld>
            <a:endParaRPr lang="en-IN"/>
          </a:p>
        </p:txBody>
      </p:sp>
    </p:spTree>
    <p:extLst>
      <p:ext uri="{BB962C8B-B14F-4D97-AF65-F5344CB8AC3E}">
        <p14:creationId xmlns:p14="http://schemas.microsoft.com/office/powerpoint/2010/main" val="3724704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990D-570D-671F-2F96-F0AC8F994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03F586-85E2-97B2-1B99-EAE5099FA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DAB681-05F3-EA3C-4BCE-F88E23CC92A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4A6354D-6110-91B0-F781-CAEA8CA67A27}"/>
              </a:ext>
            </a:extLst>
          </p:cNvPr>
          <p:cNvSpPr>
            <a:spLocks noGrp="1"/>
          </p:cNvSpPr>
          <p:nvPr>
            <p:ph type="sldNum" sz="quarter" idx="5"/>
          </p:nvPr>
        </p:nvSpPr>
        <p:spPr/>
        <p:txBody>
          <a:bodyPr/>
          <a:lstStyle/>
          <a:p>
            <a:fld id="{C0C4EC02-08A1-4BB7-9482-3DE55B71A9E9}" type="slidenum">
              <a:rPr lang="en-IN" smtClean="0"/>
              <a:t>3</a:t>
            </a:fld>
            <a:endParaRPr lang="en-IN"/>
          </a:p>
        </p:txBody>
      </p:sp>
    </p:spTree>
    <p:extLst>
      <p:ext uri="{BB962C8B-B14F-4D97-AF65-F5344CB8AC3E}">
        <p14:creationId xmlns:p14="http://schemas.microsoft.com/office/powerpoint/2010/main" val="2122438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C4EC02-08A1-4BB7-9482-3DE55B71A9E9}" type="slidenum">
              <a:rPr lang="en-IN" smtClean="0"/>
              <a:t>4</a:t>
            </a:fld>
            <a:endParaRPr lang="en-IN"/>
          </a:p>
        </p:txBody>
      </p:sp>
    </p:spTree>
    <p:extLst>
      <p:ext uri="{BB962C8B-B14F-4D97-AF65-F5344CB8AC3E}">
        <p14:creationId xmlns:p14="http://schemas.microsoft.com/office/powerpoint/2010/main" val="3690605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8181E-55F9-F1F6-75A1-AC7FFD72B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CDB3D-632D-35C2-F3DD-C41A9CDAE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69EE5-0CAD-C7D0-B068-C6B9EB65C36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43D6DF-4774-CEF2-1969-41A6CF6BAA0F}"/>
              </a:ext>
            </a:extLst>
          </p:cNvPr>
          <p:cNvSpPr>
            <a:spLocks noGrp="1"/>
          </p:cNvSpPr>
          <p:nvPr>
            <p:ph type="sldNum" sz="quarter" idx="5"/>
          </p:nvPr>
        </p:nvSpPr>
        <p:spPr/>
        <p:txBody>
          <a:bodyPr/>
          <a:lstStyle/>
          <a:p>
            <a:fld id="{C0C4EC02-08A1-4BB7-9482-3DE55B71A9E9}" type="slidenum">
              <a:rPr lang="en-IN" smtClean="0"/>
              <a:t>5</a:t>
            </a:fld>
            <a:endParaRPr lang="en-IN"/>
          </a:p>
        </p:txBody>
      </p:sp>
    </p:spTree>
    <p:extLst>
      <p:ext uri="{BB962C8B-B14F-4D97-AF65-F5344CB8AC3E}">
        <p14:creationId xmlns:p14="http://schemas.microsoft.com/office/powerpoint/2010/main" val="688901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9B7E8-4B17-5662-43BF-90AC8B306A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C6EB5-D8C8-BC7B-1D8B-9E5FA0BF03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636D7-A0D2-EED7-B05D-F6D1B452D2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B796ECB-1DC9-63C3-3FE7-105F29CDCD26}"/>
              </a:ext>
            </a:extLst>
          </p:cNvPr>
          <p:cNvSpPr>
            <a:spLocks noGrp="1"/>
          </p:cNvSpPr>
          <p:nvPr>
            <p:ph type="sldNum" sz="quarter" idx="5"/>
          </p:nvPr>
        </p:nvSpPr>
        <p:spPr/>
        <p:txBody>
          <a:bodyPr/>
          <a:lstStyle/>
          <a:p>
            <a:fld id="{C0C4EC02-08A1-4BB7-9482-3DE55B71A9E9}" type="slidenum">
              <a:rPr lang="en-IN" smtClean="0"/>
              <a:t>6</a:t>
            </a:fld>
            <a:endParaRPr lang="en-IN"/>
          </a:p>
        </p:txBody>
      </p:sp>
    </p:spTree>
    <p:extLst>
      <p:ext uri="{BB962C8B-B14F-4D97-AF65-F5344CB8AC3E}">
        <p14:creationId xmlns:p14="http://schemas.microsoft.com/office/powerpoint/2010/main" val="3361228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4CC0A-C5AE-5460-983A-D01F35860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F0A10-AF64-2BA5-694B-4C003EC30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62564-17C9-9E32-B821-A03B6179B49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126AA9-81B6-B7EF-4DB2-147459E990D9}"/>
              </a:ext>
            </a:extLst>
          </p:cNvPr>
          <p:cNvSpPr>
            <a:spLocks noGrp="1"/>
          </p:cNvSpPr>
          <p:nvPr>
            <p:ph type="sldNum" sz="quarter" idx="5"/>
          </p:nvPr>
        </p:nvSpPr>
        <p:spPr/>
        <p:txBody>
          <a:bodyPr/>
          <a:lstStyle/>
          <a:p>
            <a:fld id="{C0C4EC02-08A1-4BB7-9482-3DE55B71A9E9}" type="slidenum">
              <a:rPr lang="en-IN" smtClean="0"/>
              <a:t>7</a:t>
            </a:fld>
            <a:endParaRPr lang="en-IN"/>
          </a:p>
        </p:txBody>
      </p:sp>
    </p:spTree>
    <p:extLst>
      <p:ext uri="{BB962C8B-B14F-4D97-AF65-F5344CB8AC3E}">
        <p14:creationId xmlns:p14="http://schemas.microsoft.com/office/powerpoint/2010/main" val="2598031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31D5F-FAF8-62CE-49E6-5060B4744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2C1B80-1C9E-2842-67BF-605AEE917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D4789-0819-070B-6177-D85673ED0E6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446F5D-57F9-4904-474B-C453EC874106}"/>
              </a:ext>
            </a:extLst>
          </p:cNvPr>
          <p:cNvSpPr>
            <a:spLocks noGrp="1"/>
          </p:cNvSpPr>
          <p:nvPr>
            <p:ph type="sldNum" sz="quarter" idx="5"/>
          </p:nvPr>
        </p:nvSpPr>
        <p:spPr/>
        <p:txBody>
          <a:bodyPr/>
          <a:lstStyle/>
          <a:p>
            <a:fld id="{C0C4EC02-08A1-4BB7-9482-3DE55B71A9E9}" type="slidenum">
              <a:rPr lang="en-IN" smtClean="0"/>
              <a:t>8</a:t>
            </a:fld>
            <a:endParaRPr lang="en-IN"/>
          </a:p>
        </p:txBody>
      </p:sp>
    </p:spTree>
    <p:extLst>
      <p:ext uri="{BB962C8B-B14F-4D97-AF65-F5344CB8AC3E}">
        <p14:creationId xmlns:p14="http://schemas.microsoft.com/office/powerpoint/2010/main" val="2700600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A3DF4-555C-8991-7A87-12F79499A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4898A-0C0E-7214-4022-AB39A71493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61AF7E-6683-0247-5B51-66E63A67746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0B510F9-2CA5-4D93-7D54-72232A67CF1B}"/>
              </a:ext>
            </a:extLst>
          </p:cNvPr>
          <p:cNvSpPr>
            <a:spLocks noGrp="1"/>
          </p:cNvSpPr>
          <p:nvPr>
            <p:ph type="sldNum" sz="quarter" idx="5"/>
          </p:nvPr>
        </p:nvSpPr>
        <p:spPr/>
        <p:txBody>
          <a:bodyPr/>
          <a:lstStyle/>
          <a:p>
            <a:fld id="{C0C4EC02-08A1-4BB7-9482-3DE55B71A9E9}" type="slidenum">
              <a:rPr lang="en-IN" smtClean="0"/>
              <a:t>9</a:t>
            </a:fld>
            <a:endParaRPr lang="en-IN"/>
          </a:p>
        </p:txBody>
      </p:sp>
    </p:spTree>
    <p:extLst>
      <p:ext uri="{BB962C8B-B14F-4D97-AF65-F5344CB8AC3E}">
        <p14:creationId xmlns:p14="http://schemas.microsoft.com/office/powerpoint/2010/main" val="1046116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3633C-2116-1DAA-F54D-126B934AA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7E690-27A9-20DE-D92A-0D00E29C9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2F468-E8DC-DCBE-72E5-85654DCD149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27EA047-EC28-77F8-CE3A-279AB88754EF}"/>
              </a:ext>
            </a:extLst>
          </p:cNvPr>
          <p:cNvSpPr>
            <a:spLocks noGrp="1"/>
          </p:cNvSpPr>
          <p:nvPr>
            <p:ph type="sldNum" sz="quarter" idx="5"/>
          </p:nvPr>
        </p:nvSpPr>
        <p:spPr/>
        <p:txBody>
          <a:bodyPr/>
          <a:lstStyle/>
          <a:p>
            <a:fld id="{C0C4EC02-08A1-4BB7-9482-3DE55B71A9E9}" type="slidenum">
              <a:rPr lang="en-IN" smtClean="0"/>
              <a:t>10</a:t>
            </a:fld>
            <a:endParaRPr lang="en-IN"/>
          </a:p>
        </p:txBody>
      </p:sp>
    </p:spTree>
    <p:extLst>
      <p:ext uri="{BB962C8B-B14F-4D97-AF65-F5344CB8AC3E}">
        <p14:creationId xmlns:p14="http://schemas.microsoft.com/office/powerpoint/2010/main" val="4064712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2E81D-A5E0-CABB-723E-7A3656ECE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4C488-7A71-F956-AEE3-CA3562B687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BA1CB8-D032-9363-6ED4-6383D3A8456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D357B9-A905-0125-A9B6-EC38D79DF81B}"/>
              </a:ext>
            </a:extLst>
          </p:cNvPr>
          <p:cNvSpPr>
            <a:spLocks noGrp="1"/>
          </p:cNvSpPr>
          <p:nvPr>
            <p:ph type="sldNum" sz="quarter" idx="5"/>
          </p:nvPr>
        </p:nvSpPr>
        <p:spPr/>
        <p:txBody>
          <a:bodyPr/>
          <a:lstStyle/>
          <a:p>
            <a:fld id="{C0C4EC02-08A1-4BB7-9482-3DE55B71A9E9}" type="slidenum">
              <a:rPr lang="en-IN" smtClean="0"/>
              <a:t>11</a:t>
            </a:fld>
            <a:endParaRPr lang="en-IN"/>
          </a:p>
        </p:txBody>
      </p:sp>
    </p:spTree>
    <p:extLst>
      <p:ext uri="{BB962C8B-B14F-4D97-AF65-F5344CB8AC3E}">
        <p14:creationId xmlns:p14="http://schemas.microsoft.com/office/powerpoint/2010/main" val="1865569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DCC70-A6AB-1243-F2E5-7018349C1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B8DD3-AFAD-2005-7B23-FE08D9835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7A152-F90A-0774-6874-4294EF54F84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5AF3941-50C3-1CE2-4211-DEEF9866D855}"/>
              </a:ext>
            </a:extLst>
          </p:cNvPr>
          <p:cNvSpPr>
            <a:spLocks noGrp="1"/>
          </p:cNvSpPr>
          <p:nvPr>
            <p:ph type="sldNum" sz="quarter" idx="5"/>
          </p:nvPr>
        </p:nvSpPr>
        <p:spPr/>
        <p:txBody>
          <a:bodyPr/>
          <a:lstStyle/>
          <a:p>
            <a:fld id="{C0C4EC02-08A1-4BB7-9482-3DE55B71A9E9}" type="slidenum">
              <a:rPr lang="en-IN" smtClean="0"/>
              <a:t>12</a:t>
            </a:fld>
            <a:endParaRPr lang="en-IN"/>
          </a:p>
        </p:txBody>
      </p:sp>
    </p:spTree>
    <p:extLst>
      <p:ext uri="{BB962C8B-B14F-4D97-AF65-F5344CB8AC3E}">
        <p14:creationId xmlns:p14="http://schemas.microsoft.com/office/powerpoint/2010/main" val="4001914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9C33C-9238-6211-A901-E81986DEE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D4B7D-FDFF-A797-100C-A613E0C6C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0F7B9A-BEA4-B1E2-B030-B1F89688591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709E656-DA07-7774-2AEE-637356AC788F}"/>
              </a:ext>
            </a:extLst>
          </p:cNvPr>
          <p:cNvSpPr>
            <a:spLocks noGrp="1"/>
          </p:cNvSpPr>
          <p:nvPr>
            <p:ph type="sldNum" sz="quarter" idx="5"/>
          </p:nvPr>
        </p:nvSpPr>
        <p:spPr/>
        <p:txBody>
          <a:bodyPr/>
          <a:lstStyle/>
          <a:p>
            <a:fld id="{C0C4EC02-08A1-4BB7-9482-3DE55B71A9E9}" type="slidenum">
              <a:rPr lang="en-IN" smtClean="0"/>
              <a:t>13</a:t>
            </a:fld>
            <a:endParaRPr lang="en-IN"/>
          </a:p>
        </p:txBody>
      </p:sp>
    </p:spTree>
    <p:extLst>
      <p:ext uri="{BB962C8B-B14F-4D97-AF65-F5344CB8AC3E}">
        <p14:creationId xmlns:p14="http://schemas.microsoft.com/office/powerpoint/2010/main" val="964940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B3078-1230-40AA-9154-51D66D94E4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9FB80B-1150-7CC3-4F4E-56D2A8F553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309F3F-7FF6-58AA-E247-DEAC8D3B81C4}"/>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5" name="Footer Placeholder 4">
            <a:extLst>
              <a:ext uri="{FF2B5EF4-FFF2-40B4-BE49-F238E27FC236}">
                <a16:creationId xmlns:a16="http://schemas.microsoft.com/office/drawing/2014/main" id="{14983D8E-5255-9986-8F46-4115478DF2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D2BD01-4B04-71DD-B358-660372E37648}"/>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508374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82202-8B14-16DB-F225-177DD14B96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C644B2-3205-4627-AB00-B7DFF5ECE2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65873A-0084-DAEE-0328-C92A3F5652CC}"/>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5" name="Footer Placeholder 4">
            <a:extLst>
              <a:ext uri="{FF2B5EF4-FFF2-40B4-BE49-F238E27FC236}">
                <a16:creationId xmlns:a16="http://schemas.microsoft.com/office/drawing/2014/main" id="{2535E1CB-9F05-8F1A-1D0D-8026E3744F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EBFA9C-E5DE-51EB-D8BC-83A35CE3964C}"/>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964229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99037-5F7E-D40C-EEAA-0056FF40EC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F1AEA9-A41B-C7F0-24FF-F55C9E0DD0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FF7DC-459D-BAC9-BC3F-754048BA265D}"/>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5" name="Footer Placeholder 4">
            <a:extLst>
              <a:ext uri="{FF2B5EF4-FFF2-40B4-BE49-F238E27FC236}">
                <a16:creationId xmlns:a16="http://schemas.microsoft.com/office/drawing/2014/main" id="{A26A97DE-7156-7B9A-EC56-552A61CC84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2ABBD4-AE79-F186-C1CE-4FDCD47919B0}"/>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1245338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76D1-12EF-EEC7-1DCF-6B4B2E539A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632162-BF22-7A0A-1792-6528BC93A9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F30F3C-6922-6B20-82C6-0D19982694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318B54-CB11-9E70-D590-26BE7E51EC97}"/>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6" name="Footer Placeholder 5">
            <a:extLst>
              <a:ext uri="{FF2B5EF4-FFF2-40B4-BE49-F238E27FC236}">
                <a16:creationId xmlns:a16="http://schemas.microsoft.com/office/drawing/2014/main" id="{E831B8D6-2CFC-536F-2E34-E950C87C63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8E10AE-32E3-B57A-75B2-D7D4F67C173D}"/>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881615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4C348-A752-92FA-F583-6057EEF8887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5A314A-F119-432E-23CC-A76196A405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FFBE62-EBD4-236A-8210-276554F26E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A5908F-0C87-0D69-B821-C5D43D642A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52BBBD-9E1F-ADC9-2ADB-0A3083F1E5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6362DD1-B0E5-66FC-3D82-470361DBDDB1}"/>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8" name="Footer Placeholder 7">
            <a:extLst>
              <a:ext uri="{FF2B5EF4-FFF2-40B4-BE49-F238E27FC236}">
                <a16:creationId xmlns:a16="http://schemas.microsoft.com/office/drawing/2014/main" id="{D380B0DA-1BB7-9AAB-DEBA-1DC999DDC70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AB40CE-BE35-287A-F36C-C19D03882CD5}"/>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327769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49B21-3466-54E0-59EC-B4AD436AA8B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98375B-D5EC-9CB2-65D2-96D2D114A273}"/>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4" name="Footer Placeholder 3">
            <a:extLst>
              <a:ext uri="{FF2B5EF4-FFF2-40B4-BE49-F238E27FC236}">
                <a16:creationId xmlns:a16="http://schemas.microsoft.com/office/drawing/2014/main" id="{98F15CE6-BCE8-A891-222D-FAEBCDDC97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CBBE4E-52BD-5CB3-9CEF-187CF355F1F1}"/>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731020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1B8B6D-D70A-BAAF-8E6C-E5BEE674CE77}"/>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3" name="Footer Placeholder 2">
            <a:extLst>
              <a:ext uri="{FF2B5EF4-FFF2-40B4-BE49-F238E27FC236}">
                <a16:creationId xmlns:a16="http://schemas.microsoft.com/office/drawing/2014/main" id="{295FD6F6-42F1-D3D8-185E-063126E9B0F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93CBA0-ED4E-5DD4-7D78-9BD0156357F9}"/>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1878107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93E6B-2C90-86F2-CA7B-715CA2CEA6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66E1AC-6A7F-1188-A701-F1ECDF2AD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6D49EB-BD11-D2F4-A754-B266F181E8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8C64D9-862B-31C4-14F4-3FC72B3EF722}"/>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6" name="Footer Placeholder 5">
            <a:extLst>
              <a:ext uri="{FF2B5EF4-FFF2-40B4-BE49-F238E27FC236}">
                <a16:creationId xmlns:a16="http://schemas.microsoft.com/office/drawing/2014/main" id="{FD28426B-26B9-D495-AB3C-FA3D50C0FB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986EB6-9956-CDA2-66A3-E6FA5D608BD1}"/>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57230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608A3-2970-2D3A-A96E-0DF3D59710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888D44-A330-5C2A-5236-A348609694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C5EA94-CABC-9FD9-E713-F94371D000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4497DD-B45D-03EF-36CA-41F943521A1F}"/>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6" name="Footer Placeholder 5">
            <a:extLst>
              <a:ext uri="{FF2B5EF4-FFF2-40B4-BE49-F238E27FC236}">
                <a16:creationId xmlns:a16="http://schemas.microsoft.com/office/drawing/2014/main" id="{CAD94941-878A-EF6B-D4E8-2F91C5D3E4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985FB4-1998-3E9F-B784-9A773DC0E0E8}"/>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763080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C905A-1DB0-5CD8-67F8-6216EBC5801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6E195A-7197-FA1F-2382-E497C27EDA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CC26E7-5221-CF69-AAF3-3CDD7FB06D7C}"/>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5" name="Footer Placeholder 4">
            <a:extLst>
              <a:ext uri="{FF2B5EF4-FFF2-40B4-BE49-F238E27FC236}">
                <a16:creationId xmlns:a16="http://schemas.microsoft.com/office/drawing/2014/main" id="{59769010-0FDD-5B0F-E7EB-974E9EE85B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4A59EB-C21A-17F5-678B-999283E8EF74}"/>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43260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E1DEBE-64FA-589C-D36E-E80607571C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46FC43-EAA7-0EDF-DAC3-2A04740C1D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AE799-024C-93E2-0A75-497BD8EB3E09}"/>
              </a:ext>
            </a:extLst>
          </p:cNvPr>
          <p:cNvSpPr>
            <a:spLocks noGrp="1"/>
          </p:cNvSpPr>
          <p:nvPr>
            <p:ph type="dt" sz="half" idx="10"/>
          </p:nvPr>
        </p:nvSpPr>
        <p:spPr/>
        <p:txBody>
          <a:bodyPr/>
          <a:lstStyle/>
          <a:p>
            <a:fld id="{2916D268-04BE-4CF1-B7E9-F76124CCF66B}" type="datetimeFigureOut">
              <a:rPr lang="en-IN" smtClean="0"/>
              <a:t>15-07-2026</a:t>
            </a:fld>
            <a:endParaRPr lang="en-IN"/>
          </a:p>
        </p:txBody>
      </p:sp>
      <p:sp>
        <p:nvSpPr>
          <p:cNvPr id="5" name="Footer Placeholder 4">
            <a:extLst>
              <a:ext uri="{FF2B5EF4-FFF2-40B4-BE49-F238E27FC236}">
                <a16:creationId xmlns:a16="http://schemas.microsoft.com/office/drawing/2014/main" id="{97653C97-867C-3B75-13DF-D32C313C1A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E424AB-693A-27C0-44C8-72784BFB5491}"/>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433187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B662AE-A283-4210-A4F0-06E50ECBD8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11C0C3-9764-A13F-258A-A021C18243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438176-4575-E941-1BF1-9159C15162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16D268-04BE-4CF1-B7E9-F76124CCF66B}" type="datetimeFigureOut">
              <a:rPr lang="en-IN" smtClean="0"/>
              <a:t>15-07-2026</a:t>
            </a:fld>
            <a:endParaRPr lang="en-IN"/>
          </a:p>
        </p:txBody>
      </p:sp>
      <p:sp>
        <p:nvSpPr>
          <p:cNvPr id="5" name="Footer Placeholder 4">
            <a:extLst>
              <a:ext uri="{FF2B5EF4-FFF2-40B4-BE49-F238E27FC236}">
                <a16:creationId xmlns:a16="http://schemas.microsoft.com/office/drawing/2014/main" id="{55C9EF3C-15E4-57A5-DE8A-1C715267C9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16A8035-B40F-1AFD-9B15-722EB92BC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10666C-CCA1-46B1-89B7-E3387790A567}" type="slidenum">
              <a:rPr lang="en-IN" smtClean="0"/>
              <a:t>‹#›</a:t>
            </a:fld>
            <a:endParaRPr lang="en-IN"/>
          </a:p>
        </p:txBody>
      </p:sp>
    </p:spTree>
    <p:extLst>
      <p:ext uri="{BB962C8B-B14F-4D97-AF65-F5344CB8AC3E}">
        <p14:creationId xmlns:p14="http://schemas.microsoft.com/office/powerpoint/2010/main" val="323436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93D608-D37F-AFD1-3811-B3622210216F}"/>
              </a:ext>
            </a:extLst>
          </p:cNvPr>
          <p:cNvSpPr txBox="1"/>
          <p:nvPr/>
        </p:nvSpPr>
        <p:spPr>
          <a:xfrm>
            <a:off x="-3" y="919715"/>
            <a:ext cx="12192000" cy="1815882"/>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Workflow and Progress:</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Implementing MLFFs/MLIPs on</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Molten Cu-In Nanoparticle Systems to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Model Growth of Carbon Nanotubes</a:t>
            </a:r>
          </a:p>
        </p:txBody>
      </p:sp>
      <p:pic>
        <p:nvPicPr>
          <p:cNvPr id="3" name="Picture 2" descr="सञ्चिका:IIT Kanpur Logo.png - विकिपीडिया">
            <a:extLst>
              <a:ext uri="{FF2B5EF4-FFF2-40B4-BE49-F238E27FC236}">
                <a16:creationId xmlns:a16="http://schemas.microsoft.com/office/drawing/2014/main" id="{AB7AD2C9-3954-C0C5-D01F-7C3A5D551A2E}"/>
              </a:ext>
            </a:extLst>
          </p:cNvPr>
          <p:cNvPicPr>
            <a:picLocks noChangeAspect="1"/>
          </p:cNvPicPr>
          <p:nvPr/>
        </p:nvPicPr>
        <p:blipFill>
          <a:blip r:embed="rId2"/>
          <a:stretch>
            <a:fillRect/>
          </a:stretch>
        </p:blipFill>
        <p:spPr>
          <a:xfrm>
            <a:off x="5650089" y="2983074"/>
            <a:ext cx="891815" cy="891815"/>
          </a:xfrm>
          <a:prstGeom prst="rect">
            <a:avLst/>
          </a:prstGeom>
        </p:spPr>
      </p:pic>
      <p:sp>
        <p:nvSpPr>
          <p:cNvPr id="5" name="TextBox 4">
            <a:extLst>
              <a:ext uri="{FF2B5EF4-FFF2-40B4-BE49-F238E27FC236}">
                <a16:creationId xmlns:a16="http://schemas.microsoft.com/office/drawing/2014/main" id="{47876B8C-E86E-FC9F-991C-EBFB9391933C}"/>
              </a:ext>
            </a:extLst>
          </p:cNvPr>
          <p:cNvSpPr txBox="1"/>
          <p:nvPr/>
        </p:nvSpPr>
        <p:spPr>
          <a:xfrm>
            <a:off x="10199331" y="5922129"/>
            <a:ext cx="2543175"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Anmol Bansal</a:t>
            </a:r>
          </a:p>
          <a:p>
            <a:r>
              <a:rPr lang="en-IN" dirty="0">
                <a:latin typeface="Times New Roman" panose="02020603050405020304" pitchFamily="18" charset="0"/>
                <a:cs typeface="Times New Roman" panose="02020603050405020304" pitchFamily="18" charset="0"/>
              </a:rPr>
              <a:t>Sourish Das</a:t>
            </a:r>
          </a:p>
        </p:txBody>
      </p:sp>
      <p:sp>
        <p:nvSpPr>
          <p:cNvPr id="4" name="TextBox 3">
            <a:extLst>
              <a:ext uri="{FF2B5EF4-FFF2-40B4-BE49-F238E27FC236}">
                <a16:creationId xmlns:a16="http://schemas.microsoft.com/office/drawing/2014/main" id="{B912F274-1FCE-2DE5-F3C0-32A2C64DAFAE}"/>
              </a:ext>
            </a:extLst>
          </p:cNvPr>
          <p:cNvSpPr txBox="1"/>
          <p:nvPr/>
        </p:nvSpPr>
        <p:spPr>
          <a:xfrm>
            <a:off x="-4" y="4122366"/>
            <a:ext cx="12192000" cy="1200329"/>
          </a:xfrm>
          <a:prstGeom prst="rect">
            <a:avLst/>
          </a:prstGeom>
          <a:noFill/>
        </p:spPr>
        <p:txBody>
          <a:bodyPr wrap="square" rtlCol="0">
            <a:spAutoFit/>
          </a:bodyPr>
          <a:lstStyle/>
          <a:p>
            <a:pPr algn="ctr"/>
            <a:r>
              <a:rPr lang="en-IN" u="sng" dirty="0">
                <a:latin typeface="Times New Roman" panose="02020603050405020304" pitchFamily="18" charset="0"/>
                <a:cs typeface="Times New Roman" panose="02020603050405020304" pitchFamily="18" charset="0"/>
              </a:rPr>
              <a:t>Supervised by:</a:t>
            </a:r>
            <a:br>
              <a:rPr lang="en-IN" u="sng"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Dr. Vishal Agarwal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Department of Chemical Engineering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IIT Kanpur</a:t>
            </a:r>
          </a:p>
        </p:txBody>
      </p:sp>
    </p:spTree>
    <p:extLst>
      <p:ext uri="{BB962C8B-B14F-4D97-AF65-F5344CB8AC3E}">
        <p14:creationId xmlns:p14="http://schemas.microsoft.com/office/powerpoint/2010/main" val="3086451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2AA25-15A8-D8F7-7853-171EB78D51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27F9346-BFAB-82A0-F17E-0B403FD7ECF4}"/>
              </a:ext>
            </a:extLst>
          </p:cNvPr>
          <p:cNvSpPr txBox="1"/>
          <p:nvPr/>
        </p:nvSpPr>
        <p:spPr>
          <a:xfrm>
            <a:off x="97225" y="149478"/>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State Space Visualisation of the Training Dataset: DeepCNT-22</a:t>
            </a:r>
          </a:p>
        </p:txBody>
      </p:sp>
      <p:pic>
        <p:nvPicPr>
          <p:cNvPr id="8" name="Picture 7" descr="सञ्चिका:IIT Kanpur Logo.png - विकिपीडिया">
            <a:extLst>
              <a:ext uri="{FF2B5EF4-FFF2-40B4-BE49-F238E27FC236}">
                <a16:creationId xmlns:a16="http://schemas.microsoft.com/office/drawing/2014/main" id="{68BE3480-6ABA-6073-C8A6-E9A3FADDAFBA}"/>
              </a:ext>
            </a:extLst>
          </p:cNvPr>
          <p:cNvPicPr>
            <a:picLocks noChangeAspect="1"/>
          </p:cNvPicPr>
          <p:nvPr/>
        </p:nvPicPr>
        <p:blipFill>
          <a:blip r:embed="rId3"/>
          <a:stretch>
            <a:fillRect/>
          </a:stretch>
        </p:blipFill>
        <p:spPr>
          <a:xfrm>
            <a:off x="11036009" y="149478"/>
            <a:ext cx="891815" cy="891815"/>
          </a:xfrm>
          <a:prstGeom prst="rect">
            <a:avLst/>
          </a:prstGeom>
        </p:spPr>
      </p:pic>
      <p:pic>
        <p:nvPicPr>
          <p:cNvPr id="4" name="Picture 3" descr="Sketch-map visualization of the DeepCNT-22 dataset&#10;A sketch-map consisting of 22,975 structures where each colored dot represents an individual atomic configuration (structure). The position of each dot is determined by principal component analysis of the learned descriptors of the structures and its color indicates the corresponding energy of the structure. Examples of atomic configurations from different regions of the sketch map are shown to provide insight into the diversity of the data set. Here orange and grey spheres represent Fe and C atoms, respectively. Source data for this figure is provided in the Source Data file.">
            <a:extLst>
              <a:ext uri="{FF2B5EF4-FFF2-40B4-BE49-F238E27FC236}">
                <a16:creationId xmlns:a16="http://schemas.microsoft.com/office/drawing/2014/main" id="{C5B4D69D-91CE-D838-8150-303436B702A4}"/>
              </a:ext>
            </a:extLst>
          </p:cNvPr>
          <p:cNvPicPr>
            <a:picLocks noChangeAspect="1"/>
          </p:cNvPicPr>
          <p:nvPr/>
        </p:nvPicPr>
        <p:blipFill>
          <a:blip r:embed="rId4"/>
          <a:stretch>
            <a:fillRect/>
          </a:stretch>
        </p:blipFill>
        <p:spPr>
          <a:xfrm>
            <a:off x="2791969" y="1017400"/>
            <a:ext cx="5888450" cy="5652911"/>
          </a:xfrm>
          <a:prstGeom prst="rect">
            <a:avLst/>
          </a:prstGeom>
        </p:spPr>
      </p:pic>
      <p:cxnSp>
        <p:nvCxnSpPr>
          <p:cNvPr id="3" name="Straight Connector 2">
            <a:extLst>
              <a:ext uri="{FF2B5EF4-FFF2-40B4-BE49-F238E27FC236}">
                <a16:creationId xmlns:a16="http://schemas.microsoft.com/office/drawing/2014/main" id="{7C748CB4-39D6-FA8B-087B-163C53D7AAC5}"/>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952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2FA1F-6FF5-7456-074F-39BC67857B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EF283C-626D-98D1-116C-4E884C47FC55}"/>
              </a:ext>
            </a:extLst>
          </p:cNvPr>
          <p:cNvSpPr txBox="1"/>
          <p:nvPr/>
        </p:nvSpPr>
        <p:spPr>
          <a:xfrm>
            <a:off x="97225" y="149478"/>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MLIP Versions planned for our system: Molten Cu-In + CNT</a:t>
            </a:r>
          </a:p>
        </p:txBody>
      </p:sp>
      <p:pic>
        <p:nvPicPr>
          <p:cNvPr id="8" name="Picture 7" descr="सञ्चिका:IIT Kanpur Logo.png - विकिपीडिया">
            <a:extLst>
              <a:ext uri="{FF2B5EF4-FFF2-40B4-BE49-F238E27FC236}">
                <a16:creationId xmlns:a16="http://schemas.microsoft.com/office/drawing/2014/main" id="{BCB6FDC7-F0BB-BA8A-4B99-B54B7F6C55FA}"/>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B688AA16-6373-76A6-31DB-F39C45E7ECAE}"/>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667A4BA-E9B5-32D2-F722-B7CA2599182C}"/>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sharpenSoften amount="5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600200" y="1409770"/>
            <a:ext cx="8520112" cy="4899589"/>
          </a:xfrm>
          <a:prstGeom prst="rect">
            <a:avLst/>
          </a:prstGeom>
        </p:spPr>
      </p:pic>
    </p:spTree>
    <p:extLst>
      <p:ext uri="{BB962C8B-B14F-4D97-AF65-F5344CB8AC3E}">
        <p14:creationId xmlns:p14="http://schemas.microsoft.com/office/powerpoint/2010/main" val="329157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C1DF7-61E5-247A-D5E1-8A30B4A8CC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2BB54D-96D7-4F71-5768-4C0ED00F92D4}"/>
              </a:ext>
            </a:extLst>
          </p:cNvPr>
          <p:cNvSpPr txBox="1"/>
          <p:nvPr/>
        </p:nvSpPr>
        <p:spPr>
          <a:xfrm>
            <a:off x="0" y="100157"/>
            <a:ext cx="12192000"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Index</a:t>
            </a:r>
          </a:p>
        </p:txBody>
      </p:sp>
      <p:pic>
        <p:nvPicPr>
          <p:cNvPr id="8" name="Picture 7" descr="सञ्चिका:IIT Kanpur Logo.png - विकिपीडिया">
            <a:extLst>
              <a:ext uri="{FF2B5EF4-FFF2-40B4-BE49-F238E27FC236}">
                <a16:creationId xmlns:a16="http://schemas.microsoft.com/office/drawing/2014/main" id="{839588BF-8D98-29E5-C923-4B0C471FD909}"/>
              </a:ext>
            </a:extLst>
          </p:cNvPr>
          <p:cNvPicPr>
            <a:picLocks noChangeAspect="1"/>
          </p:cNvPicPr>
          <p:nvPr/>
        </p:nvPicPr>
        <p:blipFill>
          <a:blip r:embed="rId3"/>
          <a:stretch>
            <a:fillRect/>
          </a:stretch>
        </p:blipFill>
        <p:spPr>
          <a:xfrm>
            <a:off x="11036009" y="149478"/>
            <a:ext cx="891815" cy="891815"/>
          </a:xfrm>
          <a:prstGeom prst="rect">
            <a:avLst/>
          </a:prstGeom>
        </p:spPr>
      </p:pic>
      <p:sp>
        <p:nvSpPr>
          <p:cNvPr id="3" name="TextBox 2">
            <a:extLst>
              <a:ext uri="{FF2B5EF4-FFF2-40B4-BE49-F238E27FC236}">
                <a16:creationId xmlns:a16="http://schemas.microsoft.com/office/drawing/2014/main" id="{A6229A63-B2B6-BE86-10BA-ACCAEA0C5C2A}"/>
              </a:ext>
            </a:extLst>
          </p:cNvPr>
          <p:cNvSpPr txBox="1"/>
          <p:nvPr/>
        </p:nvSpPr>
        <p:spPr>
          <a:xfrm>
            <a:off x="264176" y="361767"/>
            <a:ext cx="11457432" cy="6740307"/>
          </a:xfrm>
          <a:prstGeom prst="rect">
            <a:avLst/>
          </a:prstGeom>
          <a:noFill/>
        </p:spPr>
        <p:txBody>
          <a:bodyPr wrap="square" rtlCol="0">
            <a:spAutoFit/>
          </a:bodyPr>
          <a:lstStyle/>
          <a:p>
            <a:pPr marL="285750" indent="-285750">
              <a:buFont typeface="Arial" panose="020B0604020202020204" pitchFamily="34" charset="0"/>
              <a:buChar char="•"/>
            </a:pPr>
            <a:r>
              <a:rPr lang="en-IN" sz="1600" dirty="0">
                <a:solidFill>
                  <a:srgbClr val="FF0000"/>
                </a:solidFill>
                <a:latin typeface="Times New Roman" panose="02020603050405020304" pitchFamily="18" charset="0"/>
                <a:cs typeface="Times New Roman" panose="02020603050405020304" pitchFamily="18" charset="0"/>
              </a:rPr>
              <a:t>What are MLFFs/MLIPs?</a:t>
            </a:r>
          </a:p>
          <a:p>
            <a:pPr marL="285750" indent="-285750">
              <a:buFont typeface="Arial" panose="020B0604020202020204" pitchFamily="34" charset="0"/>
              <a:buChar char="•"/>
            </a:pPr>
            <a:r>
              <a:rPr lang="en-IN" sz="1600" dirty="0">
                <a:highlight>
                  <a:srgbClr val="00FFFF"/>
                </a:highlight>
                <a:latin typeface="Times New Roman" panose="02020603050405020304" pitchFamily="18" charset="0"/>
                <a:cs typeface="Times New Roman" panose="02020603050405020304" pitchFamily="18" charset="0"/>
              </a:rPr>
              <a:t>Review of Literature on MLFF implementations on similar systems – Hedman, Parinello</a:t>
            </a:r>
          </a:p>
          <a:p>
            <a:pPr marL="285750" indent="-285750">
              <a:buFont typeface="Arial" panose="020B0604020202020204" pitchFamily="34" charset="0"/>
              <a:buChar char="•"/>
            </a:pPr>
            <a:r>
              <a:rPr lang="en-IN" sz="1600" dirty="0">
                <a:solidFill>
                  <a:schemeClr val="accent1"/>
                </a:solidFill>
                <a:latin typeface="Times New Roman" panose="02020603050405020304" pitchFamily="18" charset="0"/>
                <a:cs typeface="Times New Roman" panose="02020603050405020304" pitchFamily="18" charset="0"/>
              </a:rPr>
              <a:t>State Space Visualisation of the DeepCNT-22 Dataset configurations</a:t>
            </a:r>
          </a:p>
          <a:p>
            <a:pPr marL="285750" indent="-285750">
              <a:buFont typeface="Arial" panose="020B0604020202020204" pitchFamily="34" charset="0"/>
              <a:buChar char="•"/>
            </a:pPr>
            <a:r>
              <a:rPr lang="en-IN" sz="1600" dirty="0">
                <a:solidFill>
                  <a:schemeClr val="accent1"/>
                </a:solidFill>
                <a:latin typeface="Times New Roman" panose="02020603050405020304" pitchFamily="18" charset="0"/>
                <a:cs typeface="Times New Roman" panose="02020603050405020304" pitchFamily="18" charset="0"/>
              </a:rPr>
              <a:t>State Space Coverage Scheme for Molten Cu-In Catalyst System</a:t>
            </a:r>
          </a:p>
          <a:p>
            <a:pPr marL="285750" indent="-285750">
              <a:buFont typeface="Arial" panose="020B0604020202020204" pitchFamily="34" charset="0"/>
              <a:buChar char="•"/>
            </a:pPr>
            <a:r>
              <a:rPr lang="en-IN" sz="1600" dirty="0">
                <a:solidFill>
                  <a:srgbClr val="FF0000"/>
                </a:solidFill>
                <a:latin typeface="Times New Roman" panose="02020603050405020304" pitchFamily="18" charset="0"/>
                <a:cs typeface="Times New Roman" panose="02020603050405020304" pitchFamily="18" charset="0"/>
              </a:rPr>
              <a:t>MLFF Versions Planned</a:t>
            </a:r>
          </a:p>
          <a:p>
            <a:pPr marL="285750"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Representative Schematic Flow Diagram of the MLIP Development</a:t>
            </a:r>
          </a:p>
          <a:p>
            <a:pPr marL="742950" lvl="1"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Preliminary Training Run</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Phase 1: Initial Dataset Generation (AIMD Short Burst)</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Phase 2: Transition Manifold Coverage (AL-NEB, PLUMED + OPES)</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Phase 3: MLIP setup and training (</a:t>
            </a:r>
            <a:r>
              <a:rPr lang="en-IN" sz="1600" dirty="0" err="1">
                <a:solidFill>
                  <a:schemeClr val="accent1"/>
                </a:solidFill>
                <a:highlight>
                  <a:srgbClr val="FFFF00"/>
                </a:highlight>
                <a:latin typeface="Times New Roman" panose="02020603050405020304" pitchFamily="18" charset="0"/>
                <a:cs typeface="Times New Roman" panose="02020603050405020304" pitchFamily="18" charset="0"/>
              </a:rPr>
              <a:t>DeePMD</a:t>
            </a: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 Kit)</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Phase 4: Initial Validation and Testing</a:t>
            </a:r>
          </a:p>
          <a:p>
            <a:pPr marL="742950" lvl="1"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Active Learning Training Loop</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Uncertainty Criteria</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Phase 1: High Uncertainty Set Formation</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Phase 2: Exploration around High Uncertainty Set (LAMMPS, AL-NEB, PLUMED + OPES)</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Phase 3: Single Point DFT Relabelling (VASP)</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Phase 4: Recursive Training Loop (DP GEN, </a:t>
            </a:r>
            <a:r>
              <a:rPr lang="en-IN" sz="1600" dirty="0" err="1">
                <a:solidFill>
                  <a:schemeClr val="accent1"/>
                </a:solidFill>
                <a:highlight>
                  <a:srgbClr val="FFFF00"/>
                </a:highlight>
                <a:latin typeface="Times New Roman" panose="02020603050405020304" pitchFamily="18" charset="0"/>
                <a:cs typeface="Times New Roman" panose="02020603050405020304" pitchFamily="18" charset="0"/>
              </a:rPr>
              <a:t>DeePMD</a:t>
            </a: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 Kit)</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Phase 5: Intermittent Validation and Testing</a:t>
            </a:r>
          </a:p>
          <a:p>
            <a:pPr marL="1200150" lvl="2"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Termination Criteria</a:t>
            </a:r>
          </a:p>
          <a:p>
            <a:pPr marL="742950" lvl="1" indent="-285750">
              <a:buFont typeface="Arial" panose="020B0604020202020204" pitchFamily="34" charset="0"/>
              <a:buChar char="•"/>
            </a:pPr>
            <a:r>
              <a:rPr lang="en-IN" sz="1600" dirty="0">
                <a:solidFill>
                  <a:schemeClr val="accent1"/>
                </a:solidFill>
                <a:highlight>
                  <a:srgbClr val="FFFF00"/>
                </a:highlight>
                <a:latin typeface="Times New Roman" panose="02020603050405020304" pitchFamily="18" charset="0"/>
                <a:cs typeface="Times New Roman" panose="02020603050405020304" pitchFamily="18" charset="0"/>
              </a:rPr>
              <a:t>Final Model Benchmarking and Applications</a:t>
            </a:r>
          </a:p>
          <a:p>
            <a:pPr marL="285750" indent="-285750">
              <a:buFont typeface="Arial" panose="020B0604020202020204" pitchFamily="34" charset="0"/>
              <a:buChar char="•"/>
            </a:pPr>
            <a:r>
              <a:rPr lang="en-IN" sz="1600" dirty="0">
                <a:highlight>
                  <a:srgbClr val="00FFFF"/>
                </a:highlight>
                <a:latin typeface="Times New Roman" panose="02020603050405020304" pitchFamily="18" charset="0"/>
                <a:cs typeface="Times New Roman" panose="02020603050405020304" pitchFamily="18" charset="0"/>
              </a:rPr>
              <a:t>Differences in development methods across the literature</a:t>
            </a:r>
          </a:p>
          <a:p>
            <a:pPr marL="285750" indent="-285750">
              <a:buFont typeface="Arial" panose="020B0604020202020204" pitchFamily="34" charset="0"/>
              <a:buChar char="•"/>
            </a:pPr>
            <a:r>
              <a:rPr lang="en-IN" sz="1600" dirty="0">
                <a:highlight>
                  <a:srgbClr val="00FFFF"/>
                </a:highlight>
                <a:latin typeface="Times New Roman" panose="02020603050405020304" pitchFamily="18" charset="0"/>
                <a:cs typeface="Times New Roman" panose="02020603050405020304" pitchFamily="18" charset="0"/>
              </a:rPr>
              <a:t>Rare Event Sampling</a:t>
            </a:r>
          </a:p>
          <a:p>
            <a:pPr marL="285750" indent="-285750">
              <a:buFont typeface="Arial" panose="020B0604020202020204" pitchFamily="34" charset="0"/>
              <a:buChar char="•"/>
            </a:pPr>
            <a:r>
              <a:rPr lang="en-IN" sz="1600" dirty="0">
                <a:highlight>
                  <a:srgbClr val="00FFFF"/>
                </a:highlight>
                <a:latin typeface="Times New Roman" panose="02020603050405020304" pitchFamily="18" charset="0"/>
                <a:cs typeface="Times New Roman" panose="02020603050405020304" pitchFamily="18" charset="0"/>
              </a:rPr>
              <a:t>Role of Delta Learning</a:t>
            </a:r>
          </a:p>
          <a:p>
            <a:pPr marL="285750" indent="-285750">
              <a:buFont typeface="Arial" panose="020B0604020202020204" pitchFamily="34" charset="0"/>
              <a:buChar char="•"/>
            </a:pPr>
            <a:r>
              <a:rPr lang="en-IN" sz="1600" dirty="0">
                <a:highlight>
                  <a:srgbClr val="00FFFF"/>
                </a:highlight>
                <a:latin typeface="Times New Roman" panose="02020603050405020304" pitchFamily="18" charset="0"/>
                <a:cs typeface="Times New Roman" panose="02020603050405020304" pitchFamily="18" charset="0"/>
              </a:rPr>
              <a:t>Role of Reduction and Farthest Point Sampling</a:t>
            </a:r>
          </a:p>
          <a:p>
            <a:pPr marL="285750" indent="-285750">
              <a:buFont typeface="Arial" panose="020B0604020202020204" pitchFamily="34" charset="0"/>
              <a:buChar char="•"/>
            </a:pPr>
            <a:r>
              <a:rPr lang="en-IN" sz="1600" dirty="0">
                <a:highlight>
                  <a:srgbClr val="00FFFF"/>
                </a:highlight>
                <a:latin typeface="Times New Roman" panose="02020603050405020304" pitchFamily="18" charset="0"/>
                <a:cs typeface="Times New Roman" panose="02020603050405020304" pitchFamily="18" charset="0"/>
              </a:rPr>
              <a:t>Important Questions and Nuances</a:t>
            </a:r>
          </a:p>
          <a:p>
            <a:pPr marL="285750" indent="-285750">
              <a:buFont typeface="Arial" panose="020B0604020202020204" pitchFamily="34" charset="0"/>
              <a:buChar char="•"/>
            </a:pPr>
            <a:r>
              <a:rPr lang="en-IN" sz="1600" dirty="0">
                <a:highlight>
                  <a:srgbClr val="00FF00"/>
                </a:highlight>
                <a:latin typeface="Times New Roman" panose="02020603050405020304" pitchFamily="18" charset="0"/>
                <a:cs typeface="Times New Roman" panose="02020603050405020304" pitchFamily="18" charset="0"/>
              </a:rPr>
              <a:t>Toy Problems on Methane and Water Systems</a:t>
            </a:r>
          </a:p>
        </p:txBody>
      </p:sp>
    </p:spTree>
    <p:extLst>
      <p:ext uri="{BB962C8B-B14F-4D97-AF65-F5344CB8AC3E}">
        <p14:creationId xmlns:p14="http://schemas.microsoft.com/office/powerpoint/2010/main" val="575247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80B88-233E-0B06-394F-6E5FB9788A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D17DCE-9EB3-231F-0B5A-84C29FA40531}"/>
              </a:ext>
            </a:extLst>
          </p:cNvPr>
          <p:cNvSpPr txBox="1"/>
          <p:nvPr/>
        </p:nvSpPr>
        <p:spPr>
          <a:xfrm>
            <a:off x="265176" y="321829"/>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State Space Coverage for Molten Cu-In Catalyst System</a:t>
            </a:r>
          </a:p>
        </p:txBody>
      </p:sp>
      <p:pic>
        <p:nvPicPr>
          <p:cNvPr id="8" name="Picture 7" descr="सञ्चिका:IIT Kanpur Logo.png - विकिपीडिया">
            <a:extLst>
              <a:ext uri="{FF2B5EF4-FFF2-40B4-BE49-F238E27FC236}">
                <a16:creationId xmlns:a16="http://schemas.microsoft.com/office/drawing/2014/main" id="{2EFA6C40-9832-7F9D-2B58-AFCAD39BE6B6}"/>
              </a:ext>
            </a:extLst>
          </p:cNvPr>
          <p:cNvPicPr>
            <a:picLocks noChangeAspect="1"/>
          </p:cNvPicPr>
          <p:nvPr/>
        </p:nvPicPr>
        <p:blipFill>
          <a:blip r:embed="rId3"/>
          <a:stretch>
            <a:fillRect/>
          </a:stretch>
        </p:blipFill>
        <p:spPr>
          <a:xfrm>
            <a:off x="11036009" y="149478"/>
            <a:ext cx="891815" cy="891815"/>
          </a:xfrm>
          <a:prstGeom prst="rect">
            <a:avLst/>
          </a:prstGeom>
        </p:spPr>
      </p:pic>
      <p:pic>
        <p:nvPicPr>
          <p:cNvPr id="9" name="Picture 8">
            <a:extLst>
              <a:ext uri="{FF2B5EF4-FFF2-40B4-BE49-F238E27FC236}">
                <a16:creationId xmlns:a16="http://schemas.microsoft.com/office/drawing/2014/main" id="{A9DE66A0-436F-09DD-196B-48D0A2E0822A}"/>
              </a:ext>
            </a:extLst>
          </p:cNvPr>
          <p:cNvPicPr>
            <a:picLocks noChangeAspect="1"/>
          </p:cNvPicPr>
          <p:nvPr/>
        </p:nvPicPr>
        <p:blipFill>
          <a:blip r:embed="rId4"/>
          <a:stretch>
            <a:fillRect/>
          </a:stretch>
        </p:blipFill>
        <p:spPr>
          <a:xfrm>
            <a:off x="265176" y="1127913"/>
            <a:ext cx="5367222" cy="1762371"/>
          </a:xfrm>
          <a:prstGeom prst="rect">
            <a:avLst/>
          </a:prstGeom>
          <a:ln>
            <a:solidFill>
              <a:schemeClr val="tx1"/>
            </a:solidFill>
          </a:ln>
        </p:spPr>
      </p:pic>
      <p:pic>
        <p:nvPicPr>
          <p:cNvPr id="11" name="Picture 10">
            <a:extLst>
              <a:ext uri="{FF2B5EF4-FFF2-40B4-BE49-F238E27FC236}">
                <a16:creationId xmlns:a16="http://schemas.microsoft.com/office/drawing/2014/main" id="{64064D1F-66F3-0CD8-F487-2E72B11524D1}"/>
              </a:ext>
            </a:extLst>
          </p:cNvPr>
          <p:cNvPicPr>
            <a:picLocks noChangeAspect="1"/>
          </p:cNvPicPr>
          <p:nvPr/>
        </p:nvPicPr>
        <p:blipFill>
          <a:blip r:embed="rId5"/>
          <a:stretch>
            <a:fillRect/>
          </a:stretch>
        </p:blipFill>
        <p:spPr>
          <a:xfrm>
            <a:off x="265176" y="3050671"/>
            <a:ext cx="5368560" cy="1593045"/>
          </a:xfrm>
          <a:prstGeom prst="rect">
            <a:avLst/>
          </a:prstGeom>
          <a:ln>
            <a:solidFill>
              <a:schemeClr val="tx1"/>
            </a:solidFill>
          </a:ln>
        </p:spPr>
      </p:pic>
      <p:pic>
        <p:nvPicPr>
          <p:cNvPr id="13" name="Picture 12">
            <a:extLst>
              <a:ext uri="{FF2B5EF4-FFF2-40B4-BE49-F238E27FC236}">
                <a16:creationId xmlns:a16="http://schemas.microsoft.com/office/drawing/2014/main" id="{22E68E0A-22FA-0FF7-1F6B-77E343FF6C49}"/>
              </a:ext>
            </a:extLst>
          </p:cNvPr>
          <p:cNvPicPr>
            <a:picLocks noChangeAspect="1"/>
          </p:cNvPicPr>
          <p:nvPr/>
        </p:nvPicPr>
        <p:blipFill>
          <a:blip r:embed="rId6"/>
          <a:stretch>
            <a:fillRect/>
          </a:stretch>
        </p:blipFill>
        <p:spPr>
          <a:xfrm>
            <a:off x="265176" y="4943505"/>
            <a:ext cx="5367222" cy="1484210"/>
          </a:xfrm>
          <a:prstGeom prst="rect">
            <a:avLst/>
          </a:prstGeom>
          <a:ln>
            <a:solidFill>
              <a:schemeClr val="tx1"/>
            </a:solidFill>
          </a:ln>
        </p:spPr>
      </p:pic>
    </p:spTree>
    <p:extLst>
      <p:ext uri="{BB962C8B-B14F-4D97-AF65-F5344CB8AC3E}">
        <p14:creationId xmlns:p14="http://schemas.microsoft.com/office/powerpoint/2010/main" val="573912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BD984-3B26-BBF9-B21A-7407F6C782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A2345B-EE43-4ABA-CD46-5C3A881844E8}"/>
              </a:ext>
            </a:extLst>
          </p:cNvPr>
          <p:cNvSpPr txBox="1"/>
          <p:nvPr/>
        </p:nvSpPr>
        <p:spPr>
          <a:xfrm>
            <a:off x="265176" y="321829"/>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State Space Coverage for Molten Cu-In Catalyst System</a:t>
            </a:r>
          </a:p>
        </p:txBody>
      </p:sp>
      <p:pic>
        <p:nvPicPr>
          <p:cNvPr id="8" name="Picture 7" descr="सञ्चिका:IIT Kanpur Logo.png - विकिपीडिया">
            <a:extLst>
              <a:ext uri="{FF2B5EF4-FFF2-40B4-BE49-F238E27FC236}">
                <a16:creationId xmlns:a16="http://schemas.microsoft.com/office/drawing/2014/main" id="{2527D93B-7239-37E5-5161-96370F8EDA07}"/>
              </a:ext>
            </a:extLst>
          </p:cNvPr>
          <p:cNvPicPr>
            <a:picLocks noChangeAspect="1"/>
          </p:cNvPicPr>
          <p:nvPr/>
        </p:nvPicPr>
        <p:blipFill>
          <a:blip r:embed="rId3"/>
          <a:stretch>
            <a:fillRect/>
          </a:stretch>
        </p:blipFill>
        <p:spPr>
          <a:xfrm>
            <a:off x="11036009" y="149478"/>
            <a:ext cx="891815" cy="891815"/>
          </a:xfrm>
          <a:prstGeom prst="rect">
            <a:avLst/>
          </a:prstGeom>
        </p:spPr>
      </p:pic>
      <p:pic>
        <p:nvPicPr>
          <p:cNvPr id="15" name="Picture 14">
            <a:extLst>
              <a:ext uri="{FF2B5EF4-FFF2-40B4-BE49-F238E27FC236}">
                <a16:creationId xmlns:a16="http://schemas.microsoft.com/office/drawing/2014/main" id="{0F0B2828-D6CB-D1D9-4562-655FB888747F}"/>
              </a:ext>
            </a:extLst>
          </p:cNvPr>
          <p:cNvPicPr>
            <a:picLocks noChangeAspect="1"/>
          </p:cNvPicPr>
          <p:nvPr/>
        </p:nvPicPr>
        <p:blipFill>
          <a:blip r:embed="rId4"/>
          <a:stretch>
            <a:fillRect/>
          </a:stretch>
        </p:blipFill>
        <p:spPr>
          <a:xfrm>
            <a:off x="264176" y="1017400"/>
            <a:ext cx="5068315" cy="2439458"/>
          </a:xfrm>
          <a:prstGeom prst="rect">
            <a:avLst/>
          </a:prstGeom>
          <a:ln>
            <a:solidFill>
              <a:schemeClr val="tx1"/>
            </a:solidFill>
          </a:ln>
        </p:spPr>
      </p:pic>
      <p:pic>
        <p:nvPicPr>
          <p:cNvPr id="17" name="Picture 16">
            <a:extLst>
              <a:ext uri="{FF2B5EF4-FFF2-40B4-BE49-F238E27FC236}">
                <a16:creationId xmlns:a16="http://schemas.microsoft.com/office/drawing/2014/main" id="{939454DB-60CC-F4CD-1485-E856A0517355}"/>
              </a:ext>
            </a:extLst>
          </p:cNvPr>
          <p:cNvPicPr>
            <a:picLocks noChangeAspect="1"/>
          </p:cNvPicPr>
          <p:nvPr/>
        </p:nvPicPr>
        <p:blipFill>
          <a:blip r:embed="rId5"/>
          <a:stretch>
            <a:fillRect/>
          </a:stretch>
        </p:blipFill>
        <p:spPr>
          <a:xfrm>
            <a:off x="276909" y="3629209"/>
            <a:ext cx="5055582" cy="2765834"/>
          </a:xfrm>
          <a:prstGeom prst="rect">
            <a:avLst/>
          </a:prstGeom>
          <a:ln>
            <a:solidFill>
              <a:schemeClr val="tx1"/>
            </a:solidFill>
          </a:ln>
        </p:spPr>
      </p:pic>
      <p:pic>
        <p:nvPicPr>
          <p:cNvPr id="4" name="Picture 3">
            <a:extLst>
              <a:ext uri="{FF2B5EF4-FFF2-40B4-BE49-F238E27FC236}">
                <a16:creationId xmlns:a16="http://schemas.microsoft.com/office/drawing/2014/main" id="{8BC2E453-2471-5908-66A1-1D814B875662}"/>
              </a:ext>
            </a:extLst>
          </p:cNvPr>
          <p:cNvPicPr>
            <a:picLocks noChangeAspect="1"/>
          </p:cNvPicPr>
          <p:nvPr/>
        </p:nvPicPr>
        <p:blipFill>
          <a:blip r:embed="rId6"/>
          <a:stretch>
            <a:fillRect/>
          </a:stretch>
        </p:blipFill>
        <p:spPr>
          <a:xfrm>
            <a:off x="5953845" y="4961299"/>
            <a:ext cx="6050583" cy="1433744"/>
          </a:xfrm>
          <a:prstGeom prst="rect">
            <a:avLst/>
          </a:prstGeom>
          <a:ln>
            <a:solidFill>
              <a:schemeClr val="tx1"/>
            </a:solidFill>
          </a:ln>
        </p:spPr>
      </p:pic>
    </p:spTree>
    <p:extLst>
      <p:ext uri="{BB962C8B-B14F-4D97-AF65-F5344CB8AC3E}">
        <p14:creationId xmlns:p14="http://schemas.microsoft.com/office/powerpoint/2010/main" val="2810227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12312-85C5-7546-09D8-3ECE35C13A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12E8E8-197C-F5BC-6571-1702386562C9}"/>
              </a:ext>
            </a:extLst>
          </p:cNvPr>
          <p:cNvSpPr txBox="1"/>
          <p:nvPr/>
        </p:nvSpPr>
        <p:spPr>
          <a:xfrm>
            <a:off x="265176" y="321829"/>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Representative Schematic Flow Diagram of the MLIP Development</a:t>
            </a:r>
          </a:p>
        </p:txBody>
      </p:sp>
      <p:pic>
        <p:nvPicPr>
          <p:cNvPr id="8" name="Picture 7" descr="सञ्चिका:IIT Kanpur Logo.png - विकिपीडिया">
            <a:extLst>
              <a:ext uri="{FF2B5EF4-FFF2-40B4-BE49-F238E27FC236}">
                <a16:creationId xmlns:a16="http://schemas.microsoft.com/office/drawing/2014/main" id="{32436856-2427-5DD3-AF59-0CECEC380D0B}"/>
              </a:ext>
            </a:extLst>
          </p:cNvPr>
          <p:cNvPicPr>
            <a:picLocks noChangeAspect="1"/>
          </p:cNvPicPr>
          <p:nvPr/>
        </p:nvPicPr>
        <p:blipFill>
          <a:blip r:embed="rId3"/>
          <a:stretch>
            <a:fillRect/>
          </a:stretch>
        </p:blipFill>
        <p:spPr>
          <a:xfrm>
            <a:off x="11036009" y="149478"/>
            <a:ext cx="891815" cy="891815"/>
          </a:xfrm>
          <a:prstGeom prst="rect">
            <a:avLst/>
          </a:prstGeom>
        </p:spPr>
      </p:pic>
      <p:sp>
        <p:nvSpPr>
          <p:cNvPr id="3" name="TextBox 2">
            <a:extLst>
              <a:ext uri="{FF2B5EF4-FFF2-40B4-BE49-F238E27FC236}">
                <a16:creationId xmlns:a16="http://schemas.microsoft.com/office/drawing/2014/main" id="{29FAE57E-933D-EEEF-1A11-848E5A55607D}"/>
              </a:ext>
            </a:extLst>
          </p:cNvPr>
          <p:cNvSpPr txBox="1"/>
          <p:nvPr/>
        </p:nvSpPr>
        <p:spPr>
          <a:xfrm>
            <a:off x="649224" y="1207008"/>
            <a:ext cx="11457432" cy="369332"/>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Preliminary MLFF Training Run</a:t>
            </a:r>
          </a:p>
        </p:txBody>
      </p:sp>
      <p:sp>
        <p:nvSpPr>
          <p:cNvPr id="4" name="Rectangle 3">
            <a:extLst>
              <a:ext uri="{FF2B5EF4-FFF2-40B4-BE49-F238E27FC236}">
                <a16:creationId xmlns:a16="http://schemas.microsoft.com/office/drawing/2014/main" id="{15179639-880E-0875-15BB-97168714C765}"/>
              </a:ext>
            </a:extLst>
          </p:cNvPr>
          <p:cNvSpPr/>
          <p:nvPr/>
        </p:nvSpPr>
        <p:spPr>
          <a:xfrm>
            <a:off x="296928" y="2270176"/>
            <a:ext cx="2223285" cy="1221990"/>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dirty="0">
                <a:latin typeface="Courier New" panose="02070309020205020404" pitchFamily="49" charset="0"/>
                <a:cs typeface="Courier New" panose="02070309020205020404" pitchFamily="49" charset="0"/>
              </a:rPr>
              <a:t>Configurations</a:t>
            </a:r>
            <a:br>
              <a:rPr lang="en-IN" sz="1600" dirty="0">
                <a:latin typeface="Courier New" panose="02070309020205020404" pitchFamily="49" charset="0"/>
                <a:cs typeface="Courier New" panose="02070309020205020404" pitchFamily="49" charset="0"/>
              </a:rPr>
            </a:br>
            <a:r>
              <a:rPr lang="en-IN" sz="1600" dirty="0">
                <a:latin typeface="Courier New" panose="02070309020205020404" pitchFamily="49" charset="0"/>
                <a:cs typeface="Courier New" panose="02070309020205020404" pitchFamily="49" charset="0"/>
              </a:rPr>
              <a:t>[POSCARs]</a:t>
            </a:r>
          </a:p>
        </p:txBody>
      </p:sp>
      <p:sp>
        <p:nvSpPr>
          <p:cNvPr id="5" name="Oval 4">
            <a:extLst>
              <a:ext uri="{FF2B5EF4-FFF2-40B4-BE49-F238E27FC236}">
                <a16:creationId xmlns:a16="http://schemas.microsoft.com/office/drawing/2014/main" id="{770FBF48-AF9A-E2CA-D8AB-3FFB5507D9E4}"/>
              </a:ext>
            </a:extLst>
          </p:cNvPr>
          <p:cNvSpPr/>
          <p:nvPr/>
        </p:nvSpPr>
        <p:spPr>
          <a:xfrm>
            <a:off x="3535244" y="1669468"/>
            <a:ext cx="2560756" cy="2423406"/>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1600" dirty="0">
                <a:latin typeface="Courier New" panose="02070309020205020404" pitchFamily="49" charset="0"/>
                <a:cs typeface="Courier New" panose="02070309020205020404" pitchFamily="49" charset="0"/>
              </a:rPr>
              <a:t>Exploration and Labelling </a:t>
            </a:r>
            <a:br>
              <a:rPr lang="en-IN" sz="1600" dirty="0">
                <a:latin typeface="Courier New" panose="02070309020205020404" pitchFamily="49" charset="0"/>
                <a:cs typeface="Courier New" panose="02070309020205020404" pitchFamily="49" charset="0"/>
              </a:rPr>
            </a:br>
            <a:r>
              <a:rPr lang="en-IN" sz="1600" dirty="0">
                <a:latin typeface="Courier New" panose="02070309020205020404" pitchFamily="49" charset="0"/>
                <a:cs typeface="Courier New" panose="02070309020205020404" pitchFamily="49" charset="0"/>
              </a:rPr>
              <a:t>using</a:t>
            </a:r>
            <a:br>
              <a:rPr lang="en-IN" sz="1600" dirty="0">
                <a:latin typeface="Courier New" panose="02070309020205020404" pitchFamily="49" charset="0"/>
                <a:cs typeface="Courier New" panose="02070309020205020404" pitchFamily="49" charset="0"/>
              </a:rPr>
            </a:br>
            <a:r>
              <a:rPr lang="en-IN" sz="1600" dirty="0">
                <a:latin typeface="Courier New" panose="02070309020205020404" pitchFamily="49" charset="0"/>
                <a:cs typeface="Courier New" panose="02070309020205020404" pitchFamily="49" charset="0"/>
              </a:rPr>
              <a:t>Short AIMD Trajectories</a:t>
            </a:r>
            <a:br>
              <a:rPr lang="en-IN" sz="1600" dirty="0">
                <a:latin typeface="Courier New" panose="02070309020205020404" pitchFamily="49" charset="0"/>
                <a:cs typeface="Courier New" panose="02070309020205020404" pitchFamily="49" charset="0"/>
              </a:rPr>
            </a:br>
            <a:r>
              <a:rPr lang="en-IN" sz="1600" dirty="0">
                <a:latin typeface="Courier New" panose="02070309020205020404" pitchFamily="49" charset="0"/>
                <a:cs typeface="Courier New" panose="02070309020205020404" pitchFamily="49" charset="0"/>
              </a:rPr>
              <a:t>[</a:t>
            </a:r>
            <a:r>
              <a:rPr lang="en-IN" sz="1600" dirty="0" err="1">
                <a:latin typeface="Courier New" panose="02070309020205020404" pitchFamily="49" charset="0"/>
                <a:cs typeface="Courier New" panose="02070309020205020404" pitchFamily="49" charset="0"/>
              </a:rPr>
              <a:t>x,y,z,E,F,V</a:t>
            </a:r>
            <a:r>
              <a:rPr lang="en-IN" sz="1600" dirty="0">
                <a:latin typeface="Courier New" panose="02070309020205020404" pitchFamily="49" charset="0"/>
                <a:cs typeface="Courier New" panose="02070309020205020404" pitchFamily="49" charset="0"/>
              </a:rPr>
              <a:t>]</a:t>
            </a:r>
          </a:p>
        </p:txBody>
      </p:sp>
      <p:sp>
        <p:nvSpPr>
          <p:cNvPr id="7" name="Oval 6">
            <a:extLst>
              <a:ext uri="{FF2B5EF4-FFF2-40B4-BE49-F238E27FC236}">
                <a16:creationId xmlns:a16="http://schemas.microsoft.com/office/drawing/2014/main" id="{298D7AAD-2101-AE11-B5E7-5FD860D9C508}"/>
              </a:ext>
            </a:extLst>
          </p:cNvPr>
          <p:cNvSpPr/>
          <p:nvPr/>
        </p:nvSpPr>
        <p:spPr>
          <a:xfrm>
            <a:off x="9319491" y="2188628"/>
            <a:ext cx="1817928" cy="1380776"/>
          </a:xfrm>
          <a:prstGeom prst="ellipse">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latin typeface="Courier New" panose="02070309020205020404" pitchFamily="49" charset="0"/>
                <a:cs typeface="Courier New" panose="02070309020205020404" pitchFamily="49" charset="0"/>
              </a:rPr>
              <a:t>MLFF Model Ensemble</a:t>
            </a:r>
          </a:p>
          <a:p>
            <a:pPr algn="ctr"/>
            <a:r>
              <a:rPr lang="en-IN" sz="1600" dirty="0">
                <a:latin typeface="Courier New" panose="02070309020205020404" pitchFamily="49" charset="0"/>
                <a:cs typeface="Courier New" panose="02070309020205020404" pitchFamily="49" charset="0"/>
              </a:rPr>
              <a:t>Training</a:t>
            </a:r>
          </a:p>
        </p:txBody>
      </p:sp>
      <p:cxnSp>
        <p:nvCxnSpPr>
          <p:cNvPr id="11" name="Straight Arrow Connector 10">
            <a:extLst>
              <a:ext uri="{FF2B5EF4-FFF2-40B4-BE49-F238E27FC236}">
                <a16:creationId xmlns:a16="http://schemas.microsoft.com/office/drawing/2014/main" id="{E07931C8-DE83-5A9D-78E9-062296D8F6F1}"/>
              </a:ext>
            </a:extLst>
          </p:cNvPr>
          <p:cNvCxnSpPr>
            <a:cxnSpLocks/>
            <a:stCxn id="4" idx="3"/>
            <a:endCxn id="5" idx="2"/>
          </p:cNvCxnSpPr>
          <p:nvPr/>
        </p:nvCxnSpPr>
        <p:spPr>
          <a:xfrm>
            <a:off x="2520213" y="2881171"/>
            <a:ext cx="1015031"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F7CE3AA-61ED-3B8A-83DD-F777FB0F8F94}"/>
              </a:ext>
            </a:extLst>
          </p:cNvPr>
          <p:cNvSpPr txBox="1"/>
          <p:nvPr/>
        </p:nvSpPr>
        <p:spPr>
          <a:xfrm>
            <a:off x="4309714" y="4186002"/>
            <a:ext cx="1011815" cy="369332"/>
          </a:xfrm>
          <a:prstGeom prst="rect">
            <a:avLst/>
          </a:prstGeom>
          <a:noFill/>
        </p:spPr>
        <p:txBody>
          <a:bodyPr wrap="none" rtlCol="0">
            <a:spAutoFit/>
          </a:bodyPr>
          <a:lstStyle/>
          <a:p>
            <a:r>
              <a:rPr lang="en-IN" b="1" dirty="0">
                <a:latin typeface="Courier New" panose="02070309020205020404" pitchFamily="49" charset="0"/>
                <a:cs typeface="Courier New" panose="02070309020205020404" pitchFamily="49" charset="0"/>
              </a:rPr>
              <a:t>[VASP]</a:t>
            </a:r>
          </a:p>
        </p:txBody>
      </p:sp>
      <p:cxnSp>
        <p:nvCxnSpPr>
          <p:cNvPr id="16" name="Straight Arrow Connector 15">
            <a:extLst>
              <a:ext uri="{FF2B5EF4-FFF2-40B4-BE49-F238E27FC236}">
                <a16:creationId xmlns:a16="http://schemas.microsoft.com/office/drawing/2014/main" id="{C1383B29-82AF-9842-341E-C19AC3D48C7D}"/>
              </a:ext>
            </a:extLst>
          </p:cNvPr>
          <p:cNvCxnSpPr>
            <a:cxnSpLocks/>
            <a:stCxn id="5" idx="6"/>
            <a:endCxn id="31" idx="2"/>
          </p:cNvCxnSpPr>
          <p:nvPr/>
        </p:nvCxnSpPr>
        <p:spPr>
          <a:xfrm flipV="1">
            <a:off x="6096000" y="2879016"/>
            <a:ext cx="496082" cy="215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C4161FC-1E3E-BA6E-D36E-1DA9C47EACD2}"/>
              </a:ext>
            </a:extLst>
          </p:cNvPr>
          <p:cNvSpPr txBox="1"/>
          <p:nvPr/>
        </p:nvSpPr>
        <p:spPr>
          <a:xfrm>
            <a:off x="9308972" y="3668500"/>
            <a:ext cx="1838965" cy="369332"/>
          </a:xfrm>
          <a:prstGeom prst="rect">
            <a:avLst/>
          </a:prstGeom>
          <a:noFill/>
        </p:spPr>
        <p:txBody>
          <a:bodyPr wrap="none" rtlCol="0">
            <a:spAutoFit/>
          </a:bodyPr>
          <a:lstStyle/>
          <a:p>
            <a:r>
              <a:rPr lang="en-IN" b="1" dirty="0">
                <a:latin typeface="Courier New" panose="02070309020205020404" pitchFamily="49" charset="0"/>
                <a:cs typeface="Courier New" panose="02070309020205020404" pitchFamily="49" charset="0"/>
              </a:rPr>
              <a:t>[</a:t>
            </a:r>
            <a:r>
              <a:rPr lang="en-IN" b="1" dirty="0" err="1">
                <a:latin typeface="Courier New" panose="02070309020205020404" pitchFamily="49" charset="0"/>
                <a:cs typeface="Courier New" panose="02070309020205020404" pitchFamily="49" charset="0"/>
              </a:rPr>
              <a:t>DeePMD</a:t>
            </a:r>
            <a:r>
              <a:rPr lang="en-IN" b="1" dirty="0">
                <a:latin typeface="Courier New" panose="02070309020205020404" pitchFamily="49" charset="0"/>
                <a:cs typeface="Courier New" panose="02070309020205020404" pitchFamily="49" charset="0"/>
              </a:rPr>
              <a:t>-kit]</a:t>
            </a:r>
          </a:p>
        </p:txBody>
      </p:sp>
      <p:sp>
        <p:nvSpPr>
          <p:cNvPr id="24" name="Rectangle 23">
            <a:extLst>
              <a:ext uri="{FF2B5EF4-FFF2-40B4-BE49-F238E27FC236}">
                <a16:creationId xmlns:a16="http://schemas.microsoft.com/office/drawing/2014/main" id="{3E151039-0B6F-6AA2-4A7A-9A474485D62C}"/>
              </a:ext>
            </a:extLst>
          </p:cNvPr>
          <p:cNvSpPr/>
          <p:nvPr/>
        </p:nvSpPr>
        <p:spPr>
          <a:xfrm>
            <a:off x="9230822" y="5070348"/>
            <a:ext cx="2414016" cy="941832"/>
          </a:xfrm>
          <a:prstGeom prst="rect">
            <a:avLst/>
          </a:prstGeom>
          <a:ln>
            <a:solidFill>
              <a:schemeClr val="tx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b="1" dirty="0">
                <a:solidFill>
                  <a:schemeClr val="tx1"/>
                </a:solidFill>
                <a:latin typeface="Courier New" panose="02070309020205020404" pitchFamily="49" charset="0"/>
                <a:cs typeface="Courier New" panose="02070309020205020404" pitchFamily="49" charset="0"/>
              </a:rPr>
              <a:t>Preliminary Trained MLFF</a:t>
            </a:r>
          </a:p>
        </p:txBody>
      </p:sp>
      <p:sp>
        <p:nvSpPr>
          <p:cNvPr id="31" name="Oval 30">
            <a:extLst>
              <a:ext uri="{FF2B5EF4-FFF2-40B4-BE49-F238E27FC236}">
                <a16:creationId xmlns:a16="http://schemas.microsoft.com/office/drawing/2014/main" id="{7B1B7E2D-F5DA-86EF-91CF-47A8CCDFC1F4}"/>
              </a:ext>
            </a:extLst>
          </p:cNvPr>
          <p:cNvSpPr/>
          <p:nvPr/>
        </p:nvSpPr>
        <p:spPr>
          <a:xfrm>
            <a:off x="6592082" y="1942159"/>
            <a:ext cx="2277504" cy="1873714"/>
          </a:xfrm>
          <a:prstGeom prst="ellipse">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600" dirty="0">
                <a:latin typeface="Courier New" panose="02070309020205020404" pitchFamily="49" charset="0"/>
                <a:cs typeface="Courier New" panose="02070309020205020404" pitchFamily="49" charset="0"/>
              </a:rPr>
              <a:t>Enhanced Sampling of Transition Manifolds</a:t>
            </a:r>
          </a:p>
        </p:txBody>
      </p:sp>
      <p:sp>
        <p:nvSpPr>
          <p:cNvPr id="41" name="TextBox 40">
            <a:extLst>
              <a:ext uri="{FF2B5EF4-FFF2-40B4-BE49-F238E27FC236}">
                <a16:creationId xmlns:a16="http://schemas.microsoft.com/office/drawing/2014/main" id="{04F3812C-4C41-E9C3-9CD6-1F18C8AE58C3}"/>
              </a:ext>
            </a:extLst>
          </p:cNvPr>
          <p:cNvSpPr txBox="1"/>
          <p:nvPr/>
        </p:nvSpPr>
        <p:spPr>
          <a:xfrm>
            <a:off x="6753409" y="3864550"/>
            <a:ext cx="2252540" cy="369332"/>
          </a:xfrm>
          <a:prstGeom prst="rect">
            <a:avLst/>
          </a:prstGeom>
          <a:noFill/>
        </p:spPr>
        <p:txBody>
          <a:bodyPr wrap="none" rtlCol="0">
            <a:spAutoFit/>
          </a:bodyPr>
          <a:lstStyle/>
          <a:p>
            <a:r>
              <a:rPr lang="en-IN" b="1" dirty="0">
                <a:latin typeface="Courier New" panose="02070309020205020404" pitchFamily="49" charset="0"/>
                <a:cs typeface="Courier New" panose="02070309020205020404" pitchFamily="49" charset="0"/>
              </a:rPr>
              <a:t>[OPES + PLUMED]</a:t>
            </a:r>
          </a:p>
        </p:txBody>
      </p:sp>
      <p:cxnSp>
        <p:nvCxnSpPr>
          <p:cNvPr id="44" name="Straight Arrow Connector 43">
            <a:extLst>
              <a:ext uri="{FF2B5EF4-FFF2-40B4-BE49-F238E27FC236}">
                <a16:creationId xmlns:a16="http://schemas.microsoft.com/office/drawing/2014/main" id="{A4BF68D6-0F50-3D1D-6B76-FB0462D2B301}"/>
              </a:ext>
            </a:extLst>
          </p:cNvPr>
          <p:cNvCxnSpPr>
            <a:cxnSpLocks/>
            <a:stCxn id="31" idx="6"/>
            <a:endCxn id="7" idx="2"/>
          </p:cNvCxnSpPr>
          <p:nvPr/>
        </p:nvCxnSpPr>
        <p:spPr>
          <a:xfrm>
            <a:off x="8869586" y="2879016"/>
            <a:ext cx="449905"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9C2AF150-2DC5-4806-8A20-C5A6B3867C6A}"/>
              </a:ext>
            </a:extLst>
          </p:cNvPr>
          <p:cNvCxnSpPr>
            <a:cxnSpLocks/>
            <a:stCxn id="7" idx="6"/>
            <a:endCxn id="24" idx="0"/>
          </p:cNvCxnSpPr>
          <p:nvPr/>
        </p:nvCxnSpPr>
        <p:spPr>
          <a:xfrm flipH="1">
            <a:off x="10437830" y="2879016"/>
            <a:ext cx="699589" cy="2191332"/>
          </a:xfrm>
          <a:prstGeom prst="bentConnector4">
            <a:avLst>
              <a:gd name="adj1" fmla="val -32676"/>
              <a:gd name="adj2" fmla="val 65753"/>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2700BA4E-5C8F-660D-F795-E5FF988388C1}"/>
              </a:ext>
            </a:extLst>
          </p:cNvPr>
          <p:cNvSpPr txBox="1"/>
          <p:nvPr/>
        </p:nvSpPr>
        <p:spPr>
          <a:xfrm>
            <a:off x="973252" y="3569404"/>
            <a:ext cx="873957" cy="369332"/>
          </a:xfrm>
          <a:prstGeom prst="rect">
            <a:avLst/>
          </a:prstGeom>
          <a:noFill/>
        </p:spPr>
        <p:txBody>
          <a:bodyPr wrap="none" rtlCol="0">
            <a:spAutoFit/>
          </a:bodyPr>
          <a:lstStyle/>
          <a:p>
            <a:r>
              <a:rPr lang="en-IN" b="1" dirty="0">
                <a:latin typeface="Courier New" panose="02070309020205020404" pitchFamily="49" charset="0"/>
                <a:cs typeface="Courier New" panose="02070309020205020404" pitchFamily="49" charset="0"/>
              </a:rPr>
              <a:t>[ASE]</a:t>
            </a:r>
          </a:p>
        </p:txBody>
      </p:sp>
    </p:spTree>
    <p:extLst>
      <p:ext uri="{BB962C8B-B14F-4D97-AF65-F5344CB8AC3E}">
        <p14:creationId xmlns:p14="http://schemas.microsoft.com/office/powerpoint/2010/main" val="2537573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FDD2F-D474-C754-23DD-000F1C4227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1E70F0-F794-F4E0-E870-1EB91C1E4720}"/>
              </a:ext>
            </a:extLst>
          </p:cNvPr>
          <p:cNvSpPr txBox="1"/>
          <p:nvPr/>
        </p:nvSpPr>
        <p:spPr>
          <a:xfrm>
            <a:off x="265176" y="321829"/>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Representative Schematic Flow Diagram of the MLIP Development</a:t>
            </a:r>
          </a:p>
        </p:txBody>
      </p:sp>
      <p:pic>
        <p:nvPicPr>
          <p:cNvPr id="8" name="Picture 7" descr="सञ्चिका:IIT Kanpur Logo.png - विकिपीडिया">
            <a:extLst>
              <a:ext uri="{FF2B5EF4-FFF2-40B4-BE49-F238E27FC236}">
                <a16:creationId xmlns:a16="http://schemas.microsoft.com/office/drawing/2014/main" id="{BDBA10D7-66C7-1221-5697-EEB82001974F}"/>
              </a:ext>
            </a:extLst>
          </p:cNvPr>
          <p:cNvPicPr>
            <a:picLocks noChangeAspect="1"/>
          </p:cNvPicPr>
          <p:nvPr/>
        </p:nvPicPr>
        <p:blipFill>
          <a:blip r:embed="rId3"/>
          <a:stretch>
            <a:fillRect/>
          </a:stretch>
        </p:blipFill>
        <p:spPr>
          <a:xfrm>
            <a:off x="11036009" y="149478"/>
            <a:ext cx="891815" cy="891815"/>
          </a:xfrm>
          <a:prstGeom prst="rect">
            <a:avLst/>
          </a:prstGeom>
        </p:spPr>
      </p:pic>
      <p:sp>
        <p:nvSpPr>
          <p:cNvPr id="3" name="TextBox 2">
            <a:extLst>
              <a:ext uri="{FF2B5EF4-FFF2-40B4-BE49-F238E27FC236}">
                <a16:creationId xmlns:a16="http://schemas.microsoft.com/office/drawing/2014/main" id="{A3589070-7057-3A07-A28C-34BEF6605DEB}"/>
              </a:ext>
            </a:extLst>
          </p:cNvPr>
          <p:cNvSpPr txBox="1"/>
          <p:nvPr/>
        </p:nvSpPr>
        <p:spPr>
          <a:xfrm>
            <a:off x="649224" y="1207008"/>
            <a:ext cx="11457432" cy="369332"/>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Recursive MLFF Training Run</a:t>
            </a:r>
          </a:p>
        </p:txBody>
      </p:sp>
      <p:sp>
        <p:nvSpPr>
          <p:cNvPr id="7" name="Rectangle 6">
            <a:extLst>
              <a:ext uri="{FF2B5EF4-FFF2-40B4-BE49-F238E27FC236}">
                <a16:creationId xmlns:a16="http://schemas.microsoft.com/office/drawing/2014/main" id="{F6462144-0E5B-AB12-4CEA-9A3A2DD2D255}"/>
              </a:ext>
            </a:extLst>
          </p:cNvPr>
          <p:cNvSpPr/>
          <p:nvPr/>
        </p:nvSpPr>
        <p:spPr>
          <a:xfrm>
            <a:off x="1692930" y="2203147"/>
            <a:ext cx="2414016" cy="941832"/>
          </a:xfrm>
          <a:prstGeom prst="rect">
            <a:avLst/>
          </a:prstGeom>
          <a:ln>
            <a:solidFill>
              <a:schemeClr val="tx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b="1" dirty="0">
                <a:solidFill>
                  <a:sysClr val="windowText" lastClr="000000"/>
                </a:solidFill>
                <a:latin typeface="Courier New" panose="02070309020205020404" pitchFamily="49" charset="0"/>
                <a:cs typeface="Courier New" panose="02070309020205020404" pitchFamily="49" charset="0"/>
              </a:rPr>
              <a:t>Partially Trained MLFF</a:t>
            </a:r>
          </a:p>
          <a:p>
            <a:pPr algn="ctr"/>
            <a:r>
              <a:rPr lang="en-IN" b="1" dirty="0">
                <a:solidFill>
                  <a:sysClr val="windowText" lastClr="000000"/>
                </a:solidFill>
                <a:latin typeface="Courier New" panose="02070309020205020404" pitchFamily="49" charset="0"/>
                <a:cs typeface="Courier New" panose="02070309020205020404" pitchFamily="49" charset="0"/>
              </a:rPr>
              <a:t>Ensemble</a:t>
            </a:r>
          </a:p>
        </p:txBody>
      </p:sp>
      <p:sp>
        <p:nvSpPr>
          <p:cNvPr id="9" name="Rectangle 8">
            <a:extLst>
              <a:ext uri="{FF2B5EF4-FFF2-40B4-BE49-F238E27FC236}">
                <a16:creationId xmlns:a16="http://schemas.microsoft.com/office/drawing/2014/main" id="{9DB68A6C-E374-754C-C9FD-727634C7E842}"/>
              </a:ext>
            </a:extLst>
          </p:cNvPr>
          <p:cNvSpPr/>
          <p:nvPr/>
        </p:nvSpPr>
        <p:spPr>
          <a:xfrm>
            <a:off x="4639700" y="1918083"/>
            <a:ext cx="2414016" cy="15147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solidFill>
                  <a:sysClr val="windowText" lastClr="000000"/>
                </a:solidFill>
                <a:latin typeface="Courier New" panose="02070309020205020404" pitchFamily="49" charset="0"/>
                <a:cs typeface="Courier New" panose="02070309020205020404" pitchFamily="49" charset="0"/>
              </a:rPr>
              <a:t>High Deviation</a:t>
            </a:r>
            <a:br>
              <a:rPr lang="en-IN" dirty="0">
                <a:solidFill>
                  <a:sysClr val="windowText" lastClr="000000"/>
                </a:solidFill>
                <a:latin typeface="Courier New" panose="02070309020205020404" pitchFamily="49" charset="0"/>
                <a:cs typeface="Courier New" panose="02070309020205020404" pitchFamily="49" charset="0"/>
              </a:rPr>
            </a:br>
            <a:r>
              <a:rPr lang="en-IN" dirty="0">
                <a:solidFill>
                  <a:sysClr val="windowText" lastClr="000000"/>
                </a:solidFill>
                <a:latin typeface="Courier New" panose="02070309020205020404" pitchFamily="49" charset="0"/>
                <a:cs typeface="Courier New" panose="02070309020205020404" pitchFamily="49" charset="0"/>
              </a:rPr>
              <a:t>Configurations</a:t>
            </a:r>
          </a:p>
        </p:txBody>
      </p:sp>
      <p:cxnSp>
        <p:nvCxnSpPr>
          <p:cNvPr id="12" name="Straight Arrow Connector 11">
            <a:extLst>
              <a:ext uri="{FF2B5EF4-FFF2-40B4-BE49-F238E27FC236}">
                <a16:creationId xmlns:a16="http://schemas.microsoft.com/office/drawing/2014/main" id="{BD43B793-E282-9E7A-D68E-FCEA3558968D}"/>
              </a:ext>
            </a:extLst>
          </p:cNvPr>
          <p:cNvCxnSpPr>
            <a:cxnSpLocks/>
            <a:stCxn id="7" idx="3"/>
            <a:endCxn id="9" idx="1"/>
          </p:cNvCxnSpPr>
          <p:nvPr/>
        </p:nvCxnSpPr>
        <p:spPr>
          <a:xfrm>
            <a:off x="4106946" y="2674063"/>
            <a:ext cx="532754" cy="140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5A16AB4B-0874-D529-28B5-1F48C384BBA0}"/>
              </a:ext>
            </a:extLst>
          </p:cNvPr>
          <p:cNvSpPr/>
          <p:nvPr/>
        </p:nvSpPr>
        <p:spPr>
          <a:xfrm>
            <a:off x="3885182" y="4285534"/>
            <a:ext cx="2414015" cy="1344223"/>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latin typeface="Courier New" panose="02070309020205020404" pitchFamily="49" charset="0"/>
                <a:cs typeface="Courier New" panose="02070309020205020404" pitchFamily="49" charset="0"/>
              </a:rPr>
              <a:t>Classical MD</a:t>
            </a:r>
            <a:br>
              <a:rPr lang="en-IN" dirty="0">
                <a:latin typeface="Courier New" panose="02070309020205020404" pitchFamily="49" charset="0"/>
                <a:cs typeface="Courier New" panose="02070309020205020404" pitchFamily="49" charset="0"/>
              </a:rPr>
            </a:br>
            <a:r>
              <a:rPr lang="en-IN" dirty="0">
                <a:latin typeface="Courier New" panose="02070309020205020404" pitchFamily="49" charset="0"/>
                <a:cs typeface="Courier New" panose="02070309020205020404" pitchFamily="49" charset="0"/>
              </a:rPr>
              <a:t>Exploration</a:t>
            </a:r>
          </a:p>
        </p:txBody>
      </p:sp>
      <p:cxnSp>
        <p:nvCxnSpPr>
          <p:cNvPr id="19" name="Connector: Elbow 18">
            <a:extLst>
              <a:ext uri="{FF2B5EF4-FFF2-40B4-BE49-F238E27FC236}">
                <a16:creationId xmlns:a16="http://schemas.microsoft.com/office/drawing/2014/main" id="{82F1D9E8-58D0-162E-96AC-461387195D15}"/>
              </a:ext>
            </a:extLst>
          </p:cNvPr>
          <p:cNvCxnSpPr>
            <a:cxnSpLocks/>
            <a:endCxn id="16" idx="2"/>
          </p:cNvCxnSpPr>
          <p:nvPr/>
        </p:nvCxnSpPr>
        <p:spPr>
          <a:xfrm rot="16200000" flipH="1">
            <a:off x="2633889" y="3706353"/>
            <a:ext cx="1812668" cy="689918"/>
          </a:xfrm>
          <a:prstGeom prst="bentConnector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3510FAEA-4B8E-26B5-D339-AB62872AC065}"/>
              </a:ext>
            </a:extLst>
          </p:cNvPr>
          <p:cNvCxnSpPr>
            <a:cxnSpLocks/>
            <a:stCxn id="9" idx="2"/>
            <a:endCxn id="16" idx="0"/>
          </p:cNvCxnSpPr>
          <p:nvPr/>
        </p:nvCxnSpPr>
        <p:spPr>
          <a:xfrm rot="5400000">
            <a:off x="5043105" y="3481931"/>
            <a:ext cx="852688" cy="754518"/>
          </a:xfrm>
          <a:prstGeom prst="bentConnector3">
            <a:avLst>
              <a:gd name="adj1" fmla="val 50000"/>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0221426-020B-0455-69CF-1D7B6B18AFAC}"/>
              </a:ext>
            </a:extLst>
          </p:cNvPr>
          <p:cNvSpPr txBox="1"/>
          <p:nvPr/>
        </p:nvSpPr>
        <p:spPr>
          <a:xfrm>
            <a:off x="1368453" y="3254473"/>
            <a:ext cx="1838965" cy="369332"/>
          </a:xfrm>
          <a:prstGeom prst="rect">
            <a:avLst/>
          </a:prstGeom>
          <a:noFill/>
        </p:spPr>
        <p:txBody>
          <a:bodyPr wrap="none" rtlCol="0">
            <a:spAutoFit/>
          </a:bodyPr>
          <a:lstStyle/>
          <a:p>
            <a:r>
              <a:rPr lang="en-IN" b="1" dirty="0">
                <a:latin typeface="Courier New" panose="02070309020205020404" pitchFamily="49" charset="0"/>
                <a:cs typeface="Courier New" panose="02070309020205020404" pitchFamily="49" charset="0"/>
              </a:rPr>
              <a:t>[</a:t>
            </a:r>
            <a:r>
              <a:rPr lang="en-IN" b="1" dirty="0" err="1">
                <a:latin typeface="Courier New" panose="02070309020205020404" pitchFamily="49" charset="0"/>
                <a:cs typeface="Courier New" panose="02070309020205020404" pitchFamily="49" charset="0"/>
              </a:rPr>
              <a:t>DeePMD</a:t>
            </a:r>
            <a:r>
              <a:rPr lang="en-IN" b="1" dirty="0">
                <a:latin typeface="Courier New" panose="02070309020205020404" pitchFamily="49" charset="0"/>
                <a:cs typeface="Courier New" panose="02070309020205020404" pitchFamily="49" charset="0"/>
              </a:rPr>
              <a:t>-kit]</a:t>
            </a:r>
          </a:p>
        </p:txBody>
      </p:sp>
      <p:sp>
        <p:nvSpPr>
          <p:cNvPr id="32" name="TextBox 31">
            <a:extLst>
              <a:ext uri="{FF2B5EF4-FFF2-40B4-BE49-F238E27FC236}">
                <a16:creationId xmlns:a16="http://schemas.microsoft.com/office/drawing/2014/main" id="{6FA4F76A-A486-6B89-FFD4-1D8D9731226B}"/>
              </a:ext>
            </a:extLst>
          </p:cNvPr>
          <p:cNvSpPr txBox="1"/>
          <p:nvPr/>
        </p:nvSpPr>
        <p:spPr>
          <a:xfrm>
            <a:off x="6032691" y="5169281"/>
            <a:ext cx="1287532" cy="369332"/>
          </a:xfrm>
          <a:prstGeom prst="rect">
            <a:avLst/>
          </a:prstGeom>
          <a:noFill/>
        </p:spPr>
        <p:txBody>
          <a:bodyPr wrap="none" rtlCol="0">
            <a:spAutoFit/>
          </a:bodyPr>
          <a:lstStyle/>
          <a:p>
            <a:r>
              <a:rPr lang="en-IN" b="1" dirty="0">
                <a:latin typeface="Courier New" panose="02070309020205020404" pitchFamily="49" charset="0"/>
                <a:cs typeface="Courier New" panose="02070309020205020404" pitchFamily="49" charset="0"/>
              </a:rPr>
              <a:t>[LAMMPS]</a:t>
            </a:r>
          </a:p>
        </p:txBody>
      </p:sp>
      <p:cxnSp>
        <p:nvCxnSpPr>
          <p:cNvPr id="35" name="Connector: Elbow 34">
            <a:extLst>
              <a:ext uri="{FF2B5EF4-FFF2-40B4-BE49-F238E27FC236}">
                <a16:creationId xmlns:a16="http://schemas.microsoft.com/office/drawing/2014/main" id="{B2EF7917-2BC6-9C4F-B0CF-D7088651A514}"/>
              </a:ext>
            </a:extLst>
          </p:cNvPr>
          <p:cNvCxnSpPr>
            <a:cxnSpLocks/>
            <a:stCxn id="16" idx="6"/>
            <a:endCxn id="9" idx="3"/>
          </p:cNvCxnSpPr>
          <p:nvPr/>
        </p:nvCxnSpPr>
        <p:spPr>
          <a:xfrm flipV="1">
            <a:off x="6299197" y="2675465"/>
            <a:ext cx="754519" cy="2282181"/>
          </a:xfrm>
          <a:prstGeom prst="bentConnector3">
            <a:avLst>
              <a:gd name="adj1" fmla="val 130297"/>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DF93E3A2-9AC1-CE82-722B-DD02EEE45ECE}"/>
              </a:ext>
            </a:extLst>
          </p:cNvPr>
          <p:cNvCxnSpPr>
            <a:cxnSpLocks/>
            <a:stCxn id="9" idx="0"/>
            <a:endCxn id="49" idx="0"/>
          </p:cNvCxnSpPr>
          <p:nvPr/>
        </p:nvCxnSpPr>
        <p:spPr>
          <a:xfrm rot="5400000" flipH="1" flipV="1">
            <a:off x="7616208" y="51875"/>
            <a:ext cx="96708" cy="3635708"/>
          </a:xfrm>
          <a:prstGeom prst="bentConnector3">
            <a:avLst>
              <a:gd name="adj1" fmla="val 33638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C4A121C-DB28-854E-07C6-25BB3FC1C920}"/>
              </a:ext>
            </a:extLst>
          </p:cNvPr>
          <p:cNvSpPr/>
          <p:nvPr/>
        </p:nvSpPr>
        <p:spPr>
          <a:xfrm>
            <a:off x="7930059" y="1821375"/>
            <a:ext cx="3104714" cy="1323603"/>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1600" dirty="0">
                <a:latin typeface="Courier New" panose="02070309020205020404" pitchFamily="49" charset="0"/>
                <a:cs typeface="Courier New" panose="02070309020205020404" pitchFamily="49" charset="0"/>
              </a:rPr>
              <a:t>Single Point DFT Re-labelling</a:t>
            </a:r>
            <a:br>
              <a:rPr lang="en-IN" sz="1600" dirty="0">
                <a:latin typeface="Courier New" panose="02070309020205020404" pitchFamily="49" charset="0"/>
                <a:cs typeface="Courier New" panose="02070309020205020404" pitchFamily="49" charset="0"/>
              </a:rPr>
            </a:br>
            <a:r>
              <a:rPr lang="en-IN" sz="1600" dirty="0">
                <a:latin typeface="Courier New" panose="02070309020205020404" pitchFamily="49" charset="0"/>
                <a:cs typeface="Courier New" panose="02070309020205020404" pitchFamily="49" charset="0"/>
              </a:rPr>
              <a:t>[</a:t>
            </a:r>
            <a:r>
              <a:rPr lang="en-IN" sz="1600" dirty="0" err="1">
                <a:latin typeface="Courier New" panose="02070309020205020404" pitchFamily="49" charset="0"/>
                <a:cs typeface="Courier New" panose="02070309020205020404" pitchFamily="49" charset="0"/>
              </a:rPr>
              <a:t>x,y,z,E,F,V</a:t>
            </a:r>
            <a:r>
              <a:rPr lang="en-IN" sz="1600" dirty="0">
                <a:latin typeface="Courier New" panose="02070309020205020404" pitchFamily="49" charset="0"/>
                <a:cs typeface="Courier New" panose="02070309020205020404" pitchFamily="49" charset="0"/>
              </a:rPr>
              <a:t>]</a:t>
            </a:r>
          </a:p>
        </p:txBody>
      </p:sp>
      <p:sp>
        <p:nvSpPr>
          <p:cNvPr id="50" name="TextBox 49">
            <a:extLst>
              <a:ext uri="{FF2B5EF4-FFF2-40B4-BE49-F238E27FC236}">
                <a16:creationId xmlns:a16="http://schemas.microsoft.com/office/drawing/2014/main" id="{23972DE2-A9AC-AF24-EAEE-0D6C49E3E353}"/>
              </a:ext>
            </a:extLst>
          </p:cNvPr>
          <p:cNvSpPr txBox="1"/>
          <p:nvPr/>
        </p:nvSpPr>
        <p:spPr>
          <a:xfrm>
            <a:off x="10356029" y="1636709"/>
            <a:ext cx="1011815" cy="369332"/>
          </a:xfrm>
          <a:prstGeom prst="rect">
            <a:avLst/>
          </a:prstGeom>
          <a:noFill/>
        </p:spPr>
        <p:txBody>
          <a:bodyPr wrap="none" rtlCol="0">
            <a:spAutoFit/>
          </a:bodyPr>
          <a:lstStyle/>
          <a:p>
            <a:r>
              <a:rPr lang="en-IN" b="1" dirty="0">
                <a:latin typeface="Courier New" panose="02070309020205020404" pitchFamily="49" charset="0"/>
                <a:cs typeface="Courier New" panose="02070309020205020404" pitchFamily="49" charset="0"/>
              </a:rPr>
              <a:t>[VASP]</a:t>
            </a:r>
          </a:p>
        </p:txBody>
      </p:sp>
      <p:sp>
        <p:nvSpPr>
          <p:cNvPr id="52" name="Oval 51">
            <a:extLst>
              <a:ext uri="{FF2B5EF4-FFF2-40B4-BE49-F238E27FC236}">
                <a16:creationId xmlns:a16="http://schemas.microsoft.com/office/drawing/2014/main" id="{58D719B2-CBA4-435A-3DA6-CF97986FD67D}"/>
              </a:ext>
            </a:extLst>
          </p:cNvPr>
          <p:cNvSpPr/>
          <p:nvPr/>
        </p:nvSpPr>
        <p:spPr>
          <a:xfrm>
            <a:off x="8343664" y="3564402"/>
            <a:ext cx="2277504" cy="1873714"/>
          </a:xfrm>
          <a:prstGeom prst="ellipse">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600" dirty="0">
                <a:latin typeface="Courier New" panose="02070309020205020404" pitchFamily="49" charset="0"/>
                <a:cs typeface="Courier New" panose="02070309020205020404" pitchFamily="49" charset="0"/>
              </a:rPr>
              <a:t>Enhanced Sampling of Transition Manifolds</a:t>
            </a:r>
          </a:p>
        </p:txBody>
      </p:sp>
      <p:cxnSp>
        <p:nvCxnSpPr>
          <p:cNvPr id="58" name="Straight Arrow Connector 57">
            <a:extLst>
              <a:ext uri="{FF2B5EF4-FFF2-40B4-BE49-F238E27FC236}">
                <a16:creationId xmlns:a16="http://schemas.microsoft.com/office/drawing/2014/main" id="{E896C66D-8995-77CE-43CB-5AF1E8AAB045}"/>
              </a:ext>
            </a:extLst>
          </p:cNvPr>
          <p:cNvCxnSpPr>
            <a:cxnSpLocks/>
            <a:stCxn id="49" idx="4"/>
            <a:endCxn id="52" idx="0"/>
          </p:cNvCxnSpPr>
          <p:nvPr/>
        </p:nvCxnSpPr>
        <p:spPr>
          <a:xfrm>
            <a:off x="9482416" y="3144978"/>
            <a:ext cx="0" cy="41942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87146259-6C48-5134-FC77-D891A0418181}"/>
              </a:ext>
            </a:extLst>
          </p:cNvPr>
          <p:cNvCxnSpPr>
            <a:cxnSpLocks/>
            <a:stCxn id="52" idx="6"/>
            <a:endCxn id="75" idx="4"/>
          </p:cNvCxnSpPr>
          <p:nvPr/>
        </p:nvCxnSpPr>
        <p:spPr>
          <a:xfrm flipH="1">
            <a:off x="1169562" y="4501259"/>
            <a:ext cx="9451606" cy="668022"/>
          </a:xfrm>
          <a:prstGeom prst="bentConnector4">
            <a:avLst>
              <a:gd name="adj1" fmla="val -2419"/>
              <a:gd name="adj2" fmla="val 22562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1E076E76-6D46-E461-A4F9-8DF993242F96}"/>
              </a:ext>
            </a:extLst>
          </p:cNvPr>
          <p:cNvSpPr/>
          <p:nvPr/>
        </p:nvSpPr>
        <p:spPr>
          <a:xfrm>
            <a:off x="260598" y="3788505"/>
            <a:ext cx="1817928" cy="1380776"/>
          </a:xfrm>
          <a:prstGeom prst="ellipse">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latin typeface="Courier New" panose="02070309020205020404" pitchFamily="49" charset="0"/>
                <a:cs typeface="Courier New" panose="02070309020205020404" pitchFamily="49" charset="0"/>
              </a:rPr>
              <a:t>MLFF Model Ensemble</a:t>
            </a:r>
          </a:p>
          <a:p>
            <a:pPr algn="ctr"/>
            <a:r>
              <a:rPr lang="en-IN" sz="1600" dirty="0">
                <a:latin typeface="Courier New" panose="02070309020205020404" pitchFamily="49" charset="0"/>
                <a:cs typeface="Courier New" panose="02070309020205020404" pitchFamily="49" charset="0"/>
              </a:rPr>
              <a:t>Training</a:t>
            </a:r>
          </a:p>
        </p:txBody>
      </p:sp>
      <p:cxnSp>
        <p:nvCxnSpPr>
          <p:cNvPr id="78" name="Connector: Elbow 77">
            <a:extLst>
              <a:ext uri="{FF2B5EF4-FFF2-40B4-BE49-F238E27FC236}">
                <a16:creationId xmlns:a16="http://schemas.microsoft.com/office/drawing/2014/main" id="{0B34CE70-76CC-7BF1-16C8-686D584695B1}"/>
              </a:ext>
            </a:extLst>
          </p:cNvPr>
          <p:cNvCxnSpPr>
            <a:cxnSpLocks/>
            <a:stCxn id="75" idx="0"/>
            <a:endCxn id="7" idx="1"/>
          </p:cNvCxnSpPr>
          <p:nvPr/>
        </p:nvCxnSpPr>
        <p:spPr>
          <a:xfrm rot="5400000" flipH="1" flipV="1">
            <a:off x="874025" y="2969600"/>
            <a:ext cx="1114442" cy="523368"/>
          </a:xfrm>
          <a:prstGeom prst="bentConnector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Diamond 89">
            <a:extLst>
              <a:ext uri="{FF2B5EF4-FFF2-40B4-BE49-F238E27FC236}">
                <a16:creationId xmlns:a16="http://schemas.microsoft.com/office/drawing/2014/main" id="{8945EA3E-6899-63DE-2559-4535B192B1D8}"/>
              </a:ext>
            </a:extLst>
          </p:cNvPr>
          <p:cNvSpPr/>
          <p:nvPr/>
        </p:nvSpPr>
        <p:spPr>
          <a:xfrm>
            <a:off x="4248150" y="2105025"/>
            <a:ext cx="295275" cy="318395"/>
          </a:xfrm>
          <a:prstGeom prst="diamond">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2" name="Diamond 91">
            <a:extLst>
              <a:ext uri="{FF2B5EF4-FFF2-40B4-BE49-F238E27FC236}">
                <a16:creationId xmlns:a16="http://schemas.microsoft.com/office/drawing/2014/main" id="{6B020D70-FBC8-0C04-501C-B92AE9F41DB3}"/>
              </a:ext>
            </a:extLst>
          </p:cNvPr>
          <p:cNvSpPr/>
          <p:nvPr/>
        </p:nvSpPr>
        <p:spPr>
          <a:xfrm>
            <a:off x="3368474" y="4505328"/>
            <a:ext cx="295275" cy="318395"/>
          </a:xfrm>
          <a:prstGeom prst="diamond">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3" name="Diamond 92">
            <a:extLst>
              <a:ext uri="{FF2B5EF4-FFF2-40B4-BE49-F238E27FC236}">
                <a16:creationId xmlns:a16="http://schemas.microsoft.com/office/drawing/2014/main" id="{A057E427-3505-6C96-AE5B-26578944388A}"/>
              </a:ext>
            </a:extLst>
          </p:cNvPr>
          <p:cNvSpPr/>
          <p:nvPr/>
        </p:nvSpPr>
        <p:spPr>
          <a:xfrm>
            <a:off x="5885053" y="3870891"/>
            <a:ext cx="295275" cy="318395"/>
          </a:xfrm>
          <a:prstGeom prst="diamond">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1313464-AB4F-A76F-9DDD-D90C15B5C262}"/>
              </a:ext>
            </a:extLst>
          </p:cNvPr>
          <p:cNvSpPr txBox="1"/>
          <p:nvPr/>
        </p:nvSpPr>
        <p:spPr>
          <a:xfrm>
            <a:off x="10488706" y="3586093"/>
            <a:ext cx="1219798" cy="646331"/>
          </a:xfrm>
          <a:prstGeom prst="rect">
            <a:avLst/>
          </a:prstGeom>
          <a:noFill/>
        </p:spPr>
        <p:txBody>
          <a:bodyPr wrap="square" rtlCol="0">
            <a:spAutoFit/>
          </a:bodyPr>
          <a:lstStyle/>
          <a:p>
            <a:r>
              <a:rPr lang="en-IN" b="1" dirty="0">
                <a:latin typeface="Courier New" panose="02070309020205020404" pitchFamily="49" charset="0"/>
                <a:cs typeface="Courier New" panose="02070309020205020404" pitchFamily="49" charset="0"/>
              </a:rPr>
              <a:t>[OPES + PLUMED]</a:t>
            </a:r>
          </a:p>
        </p:txBody>
      </p:sp>
    </p:spTree>
    <p:extLst>
      <p:ext uri="{BB962C8B-B14F-4D97-AF65-F5344CB8AC3E}">
        <p14:creationId xmlns:p14="http://schemas.microsoft.com/office/powerpoint/2010/main" val="2135240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89AAE-38DD-86B0-A000-27290857F1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A31266-D1DC-33B8-7BA2-B6A02F706ABA}"/>
              </a:ext>
            </a:extLst>
          </p:cNvPr>
          <p:cNvSpPr txBox="1"/>
          <p:nvPr/>
        </p:nvSpPr>
        <p:spPr>
          <a:xfrm>
            <a:off x="265176" y="321829"/>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Representative Schematic Flow Diagram of the MLIP Development</a:t>
            </a:r>
          </a:p>
        </p:txBody>
      </p:sp>
      <p:pic>
        <p:nvPicPr>
          <p:cNvPr id="8" name="Picture 7" descr="सञ्चिका:IIT Kanpur Logo.png - विकिपीडिया">
            <a:extLst>
              <a:ext uri="{FF2B5EF4-FFF2-40B4-BE49-F238E27FC236}">
                <a16:creationId xmlns:a16="http://schemas.microsoft.com/office/drawing/2014/main" id="{0ED28CEA-5F28-76DA-8F20-458B9D89C411}"/>
              </a:ext>
            </a:extLst>
          </p:cNvPr>
          <p:cNvPicPr>
            <a:picLocks noChangeAspect="1"/>
          </p:cNvPicPr>
          <p:nvPr/>
        </p:nvPicPr>
        <p:blipFill>
          <a:blip r:embed="rId3"/>
          <a:stretch>
            <a:fillRect/>
          </a:stretch>
        </p:blipFill>
        <p:spPr>
          <a:xfrm>
            <a:off x="11036009" y="149478"/>
            <a:ext cx="891815" cy="891815"/>
          </a:xfrm>
          <a:prstGeom prst="rect">
            <a:avLst/>
          </a:prstGeom>
        </p:spPr>
      </p:pic>
      <p:sp>
        <p:nvSpPr>
          <p:cNvPr id="3" name="TextBox 2">
            <a:extLst>
              <a:ext uri="{FF2B5EF4-FFF2-40B4-BE49-F238E27FC236}">
                <a16:creationId xmlns:a16="http://schemas.microsoft.com/office/drawing/2014/main" id="{512041E3-644D-9DD1-480C-868840367BCF}"/>
              </a:ext>
            </a:extLst>
          </p:cNvPr>
          <p:cNvSpPr txBox="1"/>
          <p:nvPr/>
        </p:nvSpPr>
        <p:spPr>
          <a:xfrm>
            <a:off x="649224" y="1207008"/>
            <a:ext cx="11457432" cy="369332"/>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Validation, Testing, and Benchmarking Runs</a:t>
            </a:r>
          </a:p>
        </p:txBody>
      </p:sp>
      <p:sp>
        <p:nvSpPr>
          <p:cNvPr id="7" name="Rectangle 6">
            <a:extLst>
              <a:ext uri="{FF2B5EF4-FFF2-40B4-BE49-F238E27FC236}">
                <a16:creationId xmlns:a16="http://schemas.microsoft.com/office/drawing/2014/main" id="{83AC6BB6-43BB-7B5B-415E-5B13AFFBA08D}"/>
              </a:ext>
            </a:extLst>
          </p:cNvPr>
          <p:cNvSpPr/>
          <p:nvPr/>
        </p:nvSpPr>
        <p:spPr>
          <a:xfrm>
            <a:off x="1976367" y="2212382"/>
            <a:ext cx="2414016" cy="941832"/>
          </a:xfrm>
          <a:prstGeom prst="rect">
            <a:avLst/>
          </a:prstGeom>
          <a:ln>
            <a:solidFill>
              <a:schemeClr val="tx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b="1" dirty="0">
                <a:solidFill>
                  <a:sysClr val="windowText" lastClr="000000"/>
                </a:solidFill>
                <a:latin typeface="Courier New" panose="02070309020205020404" pitchFamily="49" charset="0"/>
                <a:cs typeface="Courier New" panose="02070309020205020404" pitchFamily="49" charset="0"/>
              </a:rPr>
              <a:t>Fully Trained</a:t>
            </a:r>
            <a:br>
              <a:rPr lang="en-IN" b="1" dirty="0">
                <a:solidFill>
                  <a:sysClr val="windowText" lastClr="000000"/>
                </a:solidFill>
                <a:latin typeface="Courier New" panose="02070309020205020404" pitchFamily="49" charset="0"/>
                <a:cs typeface="Courier New" panose="02070309020205020404" pitchFamily="49" charset="0"/>
              </a:rPr>
            </a:br>
            <a:r>
              <a:rPr lang="en-IN" b="1" dirty="0">
                <a:solidFill>
                  <a:sysClr val="windowText" lastClr="000000"/>
                </a:solidFill>
                <a:latin typeface="Courier New" panose="02070309020205020404" pitchFamily="49" charset="0"/>
                <a:cs typeface="Courier New" panose="02070309020205020404" pitchFamily="49" charset="0"/>
              </a:rPr>
              <a:t>MLFF Model</a:t>
            </a:r>
          </a:p>
        </p:txBody>
      </p:sp>
      <p:sp>
        <p:nvSpPr>
          <p:cNvPr id="10" name="Oval 9">
            <a:extLst>
              <a:ext uri="{FF2B5EF4-FFF2-40B4-BE49-F238E27FC236}">
                <a16:creationId xmlns:a16="http://schemas.microsoft.com/office/drawing/2014/main" id="{3FE574E6-9B43-1C86-B90A-98CAC7C78322}"/>
              </a:ext>
            </a:extLst>
          </p:cNvPr>
          <p:cNvSpPr/>
          <p:nvPr/>
        </p:nvSpPr>
        <p:spPr>
          <a:xfrm>
            <a:off x="4990655" y="2020121"/>
            <a:ext cx="2414015" cy="1344223"/>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latin typeface="Courier New" panose="02070309020205020404" pitchFamily="49" charset="0"/>
                <a:cs typeface="Courier New" panose="02070309020205020404" pitchFamily="49" charset="0"/>
              </a:rPr>
              <a:t>Classical MD</a:t>
            </a:r>
          </a:p>
        </p:txBody>
      </p:sp>
      <p:cxnSp>
        <p:nvCxnSpPr>
          <p:cNvPr id="11" name="Straight Arrow Connector 10">
            <a:extLst>
              <a:ext uri="{FF2B5EF4-FFF2-40B4-BE49-F238E27FC236}">
                <a16:creationId xmlns:a16="http://schemas.microsoft.com/office/drawing/2014/main" id="{5F4FFE86-00C9-7B6C-E833-BBEED61B686F}"/>
              </a:ext>
            </a:extLst>
          </p:cNvPr>
          <p:cNvCxnSpPr>
            <a:cxnSpLocks/>
            <a:stCxn id="7" idx="3"/>
            <a:endCxn id="10" idx="2"/>
          </p:cNvCxnSpPr>
          <p:nvPr/>
        </p:nvCxnSpPr>
        <p:spPr>
          <a:xfrm>
            <a:off x="4390383" y="2683298"/>
            <a:ext cx="600272" cy="893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3E3B463-A2D0-8E5B-D019-994ABFC01418}"/>
              </a:ext>
            </a:extLst>
          </p:cNvPr>
          <p:cNvSpPr/>
          <p:nvPr/>
        </p:nvSpPr>
        <p:spPr>
          <a:xfrm>
            <a:off x="1770491" y="1801089"/>
            <a:ext cx="5809673" cy="192116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7664D591-229A-0BD6-CD31-908EF7BF1D6D}"/>
              </a:ext>
            </a:extLst>
          </p:cNvPr>
          <p:cNvSpPr txBox="1"/>
          <p:nvPr/>
        </p:nvSpPr>
        <p:spPr>
          <a:xfrm>
            <a:off x="4533509" y="3284417"/>
            <a:ext cx="1287532" cy="369332"/>
          </a:xfrm>
          <a:prstGeom prst="rect">
            <a:avLst/>
          </a:prstGeom>
          <a:noFill/>
        </p:spPr>
        <p:txBody>
          <a:bodyPr wrap="none" rtlCol="0">
            <a:spAutoFit/>
          </a:bodyPr>
          <a:lstStyle/>
          <a:p>
            <a:r>
              <a:rPr lang="en-IN" b="1" dirty="0">
                <a:latin typeface="Courier New" panose="02070309020205020404" pitchFamily="49" charset="0"/>
                <a:cs typeface="Courier New" panose="02070309020205020404" pitchFamily="49" charset="0"/>
              </a:rPr>
              <a:t>[LAMMPS]</a:t>
            </a:r>
          </a:p>
        </p:txBody>
      </p:sp>
      <p:sp>
        <p:nvSpPr>
          <p:cNvPr id="20" name="Rectangle 19">
            <a:extLst>
              <a:ext uri="{FF2B5EF4-FFF2-40B4-BE49-F238E27FC236}">
                <a16:creationId xmlns:a16="http://schemas.microsoft.com/office/drawing/2014/main" id="{4AC89B10-A072-3DF9-CC90-F5CEFE439015}"/>
              </a:ext>
            </a:extLst>
          </p:cNvPr>
          <p:cNvSpPr/>
          <p:nvPr/>
        </p:nvSpPr>
        <p:spPr>
          <a:xfrm>
            <a:off x="486641" y="4655957"/>
            <a:ext cx="1782618" cy="91440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Courier New" panose="02070309020205020404" pitchFamily="49" charset="0"/>
                <a:cs typeface="Courier New" panose="02070309020205020404" pitchFamily="49" charset="0"/>
              </a:rPr>
              <a:t>Validation Dataset</a:t>
            </a:r>
          </a:p>
        </p:txBody>
      </p:sp>
      <p:sp>
        <p:nvSpPr>
          <p:cNvPr id="23" name="Rectangle 22">
            <a:extLst>
              <a:ext uri="{FF2B5EF4-FFF2-40B4-BE49-F238E27FC236}">
                <a16:creationId xmlns:a16="http://schemas.microsoft.com/office/drawing/2014/main" id="{01711B73-2A5C-5320-ACB3-4E86B561908E}"/>
              </a:ext>
            </a:extLst>
          </p:cNvPr>
          <p:cNvSpPr/>
          <p:nvPr/>
        </p:nvSpPr>
        <p:spPr>
          <a:xfrm>
            <a:off x="6953791" y="4655957"/>
            <a:ext cx="1782618" cy="91440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Courier New" panose="02070309020205020404" pitchFamily="49" charset="0"/>
                <a:cs typeface="Courier New" panose="02070309020205020404" pitchFamily="49" charset="0"/>
              </a:rPr>
              <a:t>Test Dataset</a:t>
            </a:r>
          </a:p>
        </p:txBody>
      </p:sp>
      <p:cxnSp>
        <p:nvCxnSpPr>
          <p:cNvPr id="35" name="Connector: Elbow 34">
            <a:extLst>
              <a:ext uri="{FF2B5EF4-FFF2-40B4-BE49-F238E27FC236}">
                <a16:creationId xmlns:a16="http://schemas.microsoft.com/office/drawing/2014/main" id="{C908D047-1CD4-77D6-6FC7-82C0D6363616}"/>
              </a:ext>
            </a:extLst>
          </p:cNvPr>
          <p:cNvCxnSpPr>
            <a:cxnSpLocks/>
            <a:stCxn id="20" idx="0"/>
            <a:endCxn id="14" idx="2"/>
          </p:cNvCxnSpPr>
          <p:nvPr/>
        </p:nvCxnSpPr>
        <p:spPr>
          <a:xfrm rot="5400000" flipH="1" flipV="1">
            <a:off x="2559787" y="2540416"/>
            <a:ext cx="933704" cy="3297378"/>
          </a:xfrm>
          <a:prstGeom prst="bentConnector3">
            <a:avLst>
              <a:gd name="adj1" fmla="val 50000"/>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EE640626-0A63-35AF-F124-B950D39F8988}"/>
              </a:ext>
            </a:extLst>
          </p:cNvPr>
          <p:cNvCxnSpPr>
            <a:cxnSpLocks/>
            <a:stCxn id="23" idx="0"/>
            <a:endCxn id="14" idx="2"/>
          </p:cNvCxnSpPr>
          <p:nvPr/>
        </p:nvCxnSpPr>
        <p:spPr>
          <a:xfrm rot="16200000" flipV="1">
            <a:off x="5793362" y="2604219"/>
            <a:ext cx="933704" cy="3169772"/>
          </a:xfrm>
          <a:prstGeom prst="bentConnector3">
            <a:avLst>
              <a:gd name="adj1" fmla="val 50000"/>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8C5C946-5167-C16C-2913-AC13984DB8CF}"/>
              </a:ext>
            </a:extLst>
          </p:cNvPr>
          <p:cNvSpPr txBox="1"/>
          <p:nvPr/>
        </p:nvSpPr>
        <p:spPr>
          <a:xfrm>
            <a:off x="181836" y="5685131"/>
            <a:ext cx="3177309"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Validate results from theory and physical sense</a:t>
            </a:r>
          </a:p>
        </p:txBody>
      </p:sp>
      <p:sp>
        <p:nvSpPr>
          <p:cNvPr id="41" name="TextBox 40">
            <a:extLst>
              <a:ext uri="{FF2B5EF4-FFF2-40B4-BE49-F238E27FC236}">
                <a16:creationId xmlns:a16="http://schemas.microsoft.com/office/drawing/2014/main" id="{52923F0C-CDBD-E6FD-BBCD-E021AB5A289C}"/>
              </a:ext>
            </a:extLst>
          </p:cNvPr>
          <p:cNvSpPr txBox="1"/>
          <p:nvPr/>
        </p:nvSpPr>
        <p:spPr>
          <a:xfrm>
            <a:off x="6758130" y="5685130"/>
            <a:ext cx="3713019"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Test results by benchmarking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against DFT</a:t>
            </a:r>
          </a:p>
        </p:txBody>
      </p:sp>
    </p:spTree>
    <p:extLst>
      <p:ext uri="{BB962C8B-B14F-4D97-AF65-F5344CB8AC3E}">
        <p14:creationId xmlns:p14="http://schemas.microsoft.com/office/powerpoint/2010/main" val="3504860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0ED11-1EA4-6283-6B42-746F8A5B73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C0515B-3536-959D-FA0F-266E03AC2BC7}"/>
              </a:ext>
            </a:extLst>
          </p:cNvPr>
          <p:cNvSpPr txBox="1"/>
          <p:nvPr/>
        </p:nvSpPr>
        <p:spPr>
          <a:xfrm>
            <a:off x="265176" y="321829"/>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Stage 1: Configuration Geometry Generation</a:t>
            </a:r>
          </a:p>
        </p:txBody>
      </p:sp>
      <p:pic>
        <p:nvPicPr>
          <p:cNvPr id="8" name="Picture 7" descr="सञ्चिका:IIT Kanpur Logo.png - विकिपीडिया">
            <a:extLst>
              <a:ext uri="{FF2B5EF4-FFF2-40B4-BE49-F238E27FC236}">
                <a16:creationId xmlns:a16="http://schemas.microsoft.com/office/drawing/2014/main" id="{FCA39170-11E2-5934-2791-506CAB4B754A}"/>
              </a:ext>
            </a:extLst>
          </p:cNvPr>
          <p:cNvPicPr>
            <a:picLocks noChangeAspect="1"/>
          </p:cNvPicPr>
          <p:nvPr/>
        </p:nvPicPr>
        <p:blipFill>
          <a:blip r:embed="rId3"/>
          <a:stretch>
            <a:fillRect/>
          </a:stretch>
        </p:blipFill>
        <p:spPr>
          <a:xfrm>
            <a:off x="11036009" y="149478"/>
            <a:ext cx="891815" cy="891815"/>
          </a:xfrm>
          <a:prstGeom prst="rect">
            <a:avLst/>
          </a:prstGeom>
        </p:spPr>
      </p:pic>
      <p:sp>
        <p:nvSpPr>
          <p:cNvPr id="3" name="TextBox 2">
            <a:extLst>
              <a:ext uri="{FF2B5EF4-FFF2-40B4-BE49-F238E27FC236}">
                <a16:creationId xmlns:a16="http://schemas.microsoft.com/office/drawing/2014/main" id="{682E7D42-3591-7210-3C91-316C5A46996F}"/>
              </a:ext>
            </a:extLst>
          </p:cNvPr>
          <p:cNvSpPr txBox="1"/>
          <p:nvPr/>
        </p:nvSpPr>
        <p:spPr>
          <a:xfrm>
            <a:off x="649224" y="1207008"/>
            <a:ext cx="11457432" cy="369332"/>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of ASE and database CIF files.</a:t>
            </a:r>
          </a:p>
        </p:txBody>
      </p:sp>
      <p:sp>
        <p:nvSpPr>
          <p:cNvPr id="5" name="TextBox 4">
            <a:extLst>
              <a:ext uri="{FF2B5EF4-FFF2-40B4-BE49-F238E27FC236}">
                <a16:creationId xmlns:a16="http://schemas.microsoft.com/office/drawing/2014/main" id="{E236A983-2B1E-2701-262D-F68D34288F8C}"/>
              </a:ext>
            </a:extLst>
          </p:cNvPr>
          <p:cNvSpPr txBox="1"/>
          <p:nvPr/>
        </p:nvSpPr>
        <p:spPr>
          <a:xfrm>
            <a:off x="265176" y="1855069"/>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Stage 2: First Principles Chemistry Sampling</a:t>
            </a:r>
          </a:p>
        </p:txBody>
      </p:sp>
      <p:sp>
        <p:nvSpPr>
          <p:cNvPr id="7" name="TextBox 6">
            <a:extLst>
              <a:ext uri="{FF2B5EF4-FFF2-40B4-BE49-F238E27FC236}">
                <a16:creationId xmlns:a16="http://schemas.microsoft.com/office/drawing/2014/main" id="{832C7F6C-EEEC-5B2B-470B-9EFFA041BB03}"/>
              </a:ext>
            </a:extLst>
          </p:cNvPr>
          <p:cNvSpPr txBox="1"/>
          <p:nvPr/>
        </p:nvSpPr>
        <p:spPr>
          <a:xfrm>
            <a:off x="649224" y="2740248"/>
            <a:ext cx="11457432" cy="2585323"/>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of VASP for running short burst AIMD trajectories for all configurations from Stage 1</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Identifying rare events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NVT Ensemble AIMD conditions?</a:t>
            </a:r>
          </a:p>
          <a:p>
            <a:pPr marL="285750" indent="-28575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Barostat</a:t>
            </a:r>
            <a:r>
              <a:rPr lang="en-IN" dirty="0">
                <a:latin typeface="Times New Roman" panose="02020603050405020304" pitchFamily="18" charset="0"/>
                <a:cs typeface="Times New Roman" panose="02020603050405020304" pitchFamily="18" charset="0"/>
              </a:rPr>
              <a:t> configuration =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Thermostat configuration =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Equilibriation</a:t>
            </a:r>
            <a:r>
              <a:rPr lang="en-IN" dirty="0">
                <a:latin typeface="Times New Roman" panose="02020603050405020304" pitchFamily="18" charset="0"/>
                <a:cs typeface="Times New Roman" panose="02020603050405020304" pitchFamily="18" charset="0"/>
              </a:rPr>
              <a:t> Duration of AIMD short burst =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Timesteps =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Plane Wave Cutoff energy = ?</a:t>
            </a:r>
          </a:p>
        </p:txBody>
      </p:sp>
    </p:spTree>
    <p:extLst>
      <p:ext uri="{BB962C8B-B14F-4D97-AF65-F5344CB8AC3E}">
        <p14:creationId xmlns:p14="http://schemas.microsoft.com/office/powerpoint/2010/main" val="244984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4004A-7035-3995-3F39-CC3ADD2636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44F3B9-F1B6-C466-AB74-28A313EC35B8}"/>
              </a:ext>
            </a:extLst>
          </p:cNvPr>
          <p:cNvSpPr txBox="1"/>
          <p:nvPr/>
        </p:nvSpPr>
        <p:spPr>
          <a:xfrm>
            <a:off x="265176" y="321829"/>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Stage 3: Enhanced Reactive Chemistry Sampling</a:t>
            </a:r>
          </a:p>
        </p:txBody>
      </p:sp>
      <p:pic>
        <p:nvPicPr>
          <p:cNvPr id="8" name="Picture 7" descr="सञ्चिका:IIT Kanpur Logo.png - विकिपीडिया">
            <a:extLst>
              <a:ext uri="{FF2B5EF4-FFF2-40B4-BE49-F238E27FC236}">
                <a16:creationId xmlns:a16="http://schemas.microsoft.com/office/drawing/2014/main" id="{0C062AB9-4783-44EE-E3DB-F1F5F7618893}"/>
              </a:ext>
            </a:extLst>
          </p:cNvPr>
          <p:cNvPicPr>
            <a:picLocks noChangeAspect="1"/>
          </p:cNvPicPr>
          <p:nvPr/>
        </p:nvPicPr>
        <p:blipFill>
          <a:blip r:embed="rId3"/>
          <a:stretch>
            <a:fillRect/>
          </a:stretch>
        </p:blipFill>
        <p:spPr>
          <a:xfrm>
            <a:off x="11036009" y="149478"/>
            <a:ext cx="891815" cy="891815"/>
          </a:xfrm>
          <a:prstGeom prst="rect">
            <a:avLst/>
          </a:prstGeom>
        </p:spPr>
      </p:pic>
      <p:sp>
        <p:nvSpPr>
          <p:cNvPr id="3" name="TextBox 2">
            <a:extLst>
              <a:ext uri="{FF2B5EF4-FFF2-40B4-BE49-F238E27FC236}">
                <a16:creationId xmlns:a16="http://schemas.microsoft.com/office/drawing/2014/main" id="{244F42EF-0DE6-2EC7-1FD7-CF3FC414DC57}"/>
              </a:ext>
            </a:extLst>
          </p:cNvPr>
          <p:cNvSpPr txBox="1"/>
          <p:nvPr/>
        </p:nvSpPr>
        <p:spPr>
          <a:xfrm>
            <a:off x="649224" y="1207008"/>
            <a:ext cx="11457432" cy="2308324"/>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of OPES and PLUMED for enhanced sampling of the reactive states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Anchoring of the reaction pathway in the training dataset</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PLUMED for the collective variable calculations. Explain?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OPES for bias potentials. Explain?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What might be the suitable collective variables for our system?</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How is this enhanced sampling step implemented?</a:t>
            </a:r>
          </a:p>
        </p:txBody>
      </p:sp>
    </p:spTree>
    <p:extLst>
      <p:ext uri="{BB962C8B-B14F-4D97-AF65-F5344CB8AC3E}">
        <p14:creationId xmlns:p14="http://schemas.microsoft.com/office/powerpoint/2010/main" val="2812120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1FD72-BB5D-DBDC-723E-B7B9522B0F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8E1B76-B924-1F34-D467-C570EB02A199}"/>
              </a:ext>
            </a:extLst>
          </p:cNvPr>
          <p:cNvSpPr txBox="1"/>
          <p:nvPr/>
        </p:nvSpPr>
        <p:spPr>
          <a:xfrm>
            <a:off x="265176" y="321829"/>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Stage 4: Model IP Training and Exploration</a:t>
            </a:r>
          </a:p>
        </p:txBody>
      </p:sp>
      <p:pic>
        <p:nvPicPr>
          <p:cNvPr id="8" name="Picture 7" descr="सञ्चिका:IIT Kanpur Logo.png - विकिपीडिया">
            <a:extLst>
              <a:ext uri="{FF2B5EF4-FFF2-40B4-BE49-F238E27FC236}">
                <a16:creationId xmlns:a16="http://schemas.microsoft.com/office/drawing/2014/main" id="{B858526F-3A43-99DC-16C3-6903576C1305}"/>
              </a:ext>
            </a:extLst>
          </p:cNvPr>
          <p:cNvPicPr>
            <a:picLocks noChangeAspect="1"/>
          </p:cNvPicPr>
          <p:nvPr/>
        </p:nvPicPr>
        <p:blipFill>
          <a:blip r:embed="rId3"/>
          <a:stretch>
            <a:fillRect/>
          </a:stretch>
        </p:blipFill>
        <p:spPr>
          <a:xfrm>
            <a:off x="11036009" y="149478"/>
            <a:ext cx="891815" cy="891815"/>
          </a:xfrm>
          <a:prstGeom prst="rect">
            <a:avLst/>
          </a:prstGeom>
        </p:spPr>
      </p:pic>
      <p:sp>
        <p:nvSpPr>
          <p:cNvPr id="3" name="TextBox 2">
            <a:extLst>
              <a:ext uri="{FF2B5EF4-FFF2-40B4-BE49-F238E27FC236}">
                <a16:creationId xmlns:a16="http://schemas.microsoft.com/office/drawing/2014/main" id="{C3A93FB0-374E-B4C2-8B18-38F243AE64C3}"/>
              </a:ext>
            </a:extLst>
          </p:cNvPr>
          <p:cNvSpPr txBox="1"/>
          <p:nvPr/>
        </p:nvSpPr>
        <p:spPr>
          <a:xfrm>
            <a:off x="649224" y="1207008"/>
            <a:ext cx="11457432" cy="3970318"/>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of </a:t>
            </a:r>
            <a:r>
              <a:rPr lang="en-IN" dirty="0" err="1">
                <a:latin typeface="Times New Roman" panose="02020603050405020304" pitchFamily="18" charset="0"/>
                <a:cs typeface="Times New Roman" panose="02020603050405020304" pitchFamily="18" charset="0"/>
              </a:rPr>
              <a:t>DeePMD</a:t>
            </a:r>
            <a:r>
              <a:rPr lang="en-IN" dirty="0">
                <a:latin typeface="Times New Roman" panose="02020603050405020304" pitchFamily="18" charset="0"/>
                <a:cs typeface="Times New Roman" panose="02020603050405020304" pitchFamily="18" charset="0"/>
              </a:rPr>
              <a:t>-kit for MLIP development</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Formatting by </a:t>
            </a:r>
            <a:r>
              <a:rPr lang="en-IN" dirty="0" err="1">
                <a:latin typeface="Times New Roman" panose="02020603050405020304" pitchFamily="18" charset="0"/>
                <a:cs typeface="Times New Roman" panose="02020603050405020304" pitchFamily="18" charset="0"/>
              </a:rPr>
              <a:t>dpdata</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Potential Model = Deep Potential Molecular Dynamics Smooth Edition Scheme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Ensemble of four MLIPs for calculation of deviation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Embedding Network?</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Descriptor = se_e2_a</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Fitting Network = </a:t>
            </a:r>
            <a:r>
              <a:rPr lang="en-IN" dirty="0" err="1">
                <a:latin typeface="Times New Roman" panose="02020603050405020304" pitchFamily="18" charset="0"/>
                <a:cs typeface="Times New Roman" panose="02020603050405020304" pitchFamily="18" charset="0"/>
              </a:rPr>
              <a:t>ener</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Ensemble Standard Deviation of Forces </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Criteria for selecting high deviation configurations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Relabelling done similar as Stage 2 and Stage 3</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of LAMMPS for exploration around the high deviation configurations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of DP-GEN for the active learning loop? How is this implemented?</a:t>
            </a:r>
          </a:p>
        </p:txBody>
      </p:sp>
      <p:pic>
        <p:nvPicPr>
          <p:cNvPr id="5" name="Picture 4">
            <a:extLst>
              <a:ext uri="{FF2B5EF4-FFF2-40B4-BE49-F238E27FC236}">
                <a16:creationId xmlns:a16="http://schemas.microsoft.com/office/drawing/2014/main" id="{01753064-81E6-DB07-6D82-05F7C2D8C283}"/>
              </a:ext>
            </a:extLst>
          </p:cNvPr>
          <p:cNvPicPr>
            <a:picLocks noChangeAspect="1"/>
          </p:cNvPicPr>
          <p:nvPr/>
        </p:nvPicPr>
        <p:blipFill>
          <a:blip r:embed="rId4"/>
          <a:stretch>
            <a:fillRect/>
          </a:stretch>
        </p:blipFill>
        <p:spPr>
          <a:xfrm>
            <a:off x="4697506" y="3149323"/>
            <a:ext cx="2664522" cy="833348"/>
          </a:xfrm>
          <a:prstGeom prst="rect">
            <a:avLst/>
          </a:prstGeom>
        </p:spPr>
      </p:pic>
    </p:spTree>
    <p:extLst>
      <p:ext uri="{BB962C8B-B14F-4D97-AF65-F5344CB8AC3E}">
        <p14:creationId xmlns:p14="http://schemas.microsoft.com/office/powerpoint/2010/main" val="1930162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6D294-8DB3-A5B8-2F48-2BB9B75398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B533ACC-5B8B-15EC-E2D0-380B15E97ADA}"/>
              </a:ext>
            </a:extLst>
          </p:cNvPr>
          <p:cNvSpPr txBox="1"/>
          <p:nvPr/>
        </p:nvSpPr>
        <p:spPr>
          <a:xfrm>
            <a:off x="265176" y="321829"/>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Stage 5: MLIP Validation, Testing, and Benchmarking</a:t>
            </a:r>
          </a:p>
        </p:txBody>
      </p:sp>
      <p:pic>
        <p:nvPicPr>
          <p:cNvPr id="8" name="Picture 7" descr="सञ्चिका:IIT Kanpur Logo.png - विकिपीडिया">
            <a:extLst>
              <a:ext uri="{FF2B5EF4-FFF2-40B4-BE49-F238E27FC236}">
                <a16:creationId xmlns:a16="http://schemas.microsoft.com/office/drawing/2014/main" id="{A4DFB49F-DD5F-5AE8-8F6A-99129EA16B55}"/>
              </a:ext>
            </a:extLst>
          </p:cNvPr>
          <p:cNvPicPr>
            <a:picLocks noChangeAspect="1"/>
          </p:cNvPicPr>
          <p:nvPr/>
        </p:nvPicPr>
        <p:blipFill>
          <a:blip r:embed="rId3"/>
          <a:stretch>
            <a:fillRect/>
          </a:stretch>
        </p:blipFill>
        <p:spPr>
          <a:xfrm>
            <a:off x="11036009" y="149478"/>
            <a:ext cx="891815" cy="891815"/>
          </a:xfrm>
          <a:prstGeom prst="rect">
            <a:avLst/>
          </a:prstGeom>
        </p:spPr>
      </p:pic>
      <p:sp>
        <p:nvSpPr>
          <p:cNvPr id="3" name="TextBox 2">
            <a:extLst>
              <a:ext uri="{FF2B5EF4-FFF2-40B4-BE49-F238E27FC236}">
                <a16:creationId xmlns:a16="http://schemas.microsoft.com/office/drawing/2014/main" id="{61B1E148-A7CA-74E3-944F-3D3FFDB2F82A}"/>
              </a:ext>
            </a:extLst>
          </p:cNvPr>
          <p:cNvSpPr txBox="1"/>
          <p:nvPr/>
        </p:nvSpPr>
        <p:spPr>
          <a:xfrm>
            <a:off x="649224" y="1207008"/>
            <a:ext cx="11457432" cy="1477328"/>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Validation using the validation dataset against theory and physical sense</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Testing using the test dataset by benchmarking against AIMD and PLUMED for crucial calculations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Tuning of the model if needed?</a:t>
            </a:r>
          </a:p>
        </p:txBody>
      </p:sp>
      <p:pic>
        <p:nvPicPr>
          <p:cNvPr id="5" name="Picture 4">
            <a:extLst>
              <a:ext uri="{FF2B5EF4-FFF2-40B4-BE49-F238E27FC236}">
                <a16:creationId xmlns:a16="http://schemas.microsoft.com/office/drawing/2014/main" id="{D1C1D18A-0712-9C67-1A12-EBDA043DAFC4}"/>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339787" y="2874952"/>
            <a:ext cx="7643309" cy="3661219"/>
          </a:xfrm>
          <a:prstGeom prst="rect">
            <a:avLst/>
          </a:prstGeom>
        </p:spPr>
      </p:pic>
    </p:spTree>
    <p:extLst>
      <p:ext uri="{BB962C8B-B14F-4D97-AF65-F5344CB8AC3E}">
        <p14:creationId xmlns:p14="http://schemas.microsoft.com/office/powerpoint/2010/main" val="3934958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20779</TotalTime>
  <Words>723</Words>
  <Application>Microsoft Office PowerPoint</Application>
  <PresentationFormat>Widescreen</PresentationFormat>
  <Paragraphs>124</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Manish Bansal</dc:creator>
  <cp:lastModifiedBy>Mitul Das</cp:lastModifiedBy>
  <cp:revision>40</cp:revision>
  <cp:lastPrinted>2026-02-03T09:21:37Z</cp:lastPrinted>
  <dcterms:created xsi:type="dcterms:W3CDTF">2025-08-19T01:53:44Z</dcterms:created>
  <dcterms:modified xsi:type="dcterms:W3CDTF">2026-07-15T17:21:31Z</dcterms:modified>
</cp:coreProperties>
</file>